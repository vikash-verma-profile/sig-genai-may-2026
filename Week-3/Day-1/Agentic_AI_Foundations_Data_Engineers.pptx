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80" r:id="rId5"/>
    <p:sldId id="259" r:id="rId6"/>
    <p:sldId id="281" r:id="rId7"/>
    <p:sldId id="260" r:id="rId8"/>
    <p:sldId id="261" r:id="rId9"/>
    <p:sldId id="282" r:id="rId10"/>
    <p:sldId id="283" r:id="rId11"/>
    <p:sldId id="284" r:id="rId12"/>
    <p:sldId id="285" r:id="rId13"/>
    <p:sldId id="286" r:id="rId14"/>
    <p:sldId id="262" r:id="rId15"/>
    <p:sldId id="287" r:id="rId16"/>
    <p:sldId id="263" r:id="rId17"/>
    <p:sldId id="264" r:id="rId18"/>
    <p:sldId id="288" r:id="rId19"/>
    <p:sldId id="289" r:id="rId20"/>
    <p:sldId id="265" r:id="rId21"/>
    <p:sldId id="290" r:id="rId22"/>
    <p:sldId id="266" r:id="rId23"/>
    <p:sldId id="267" r:id="rId24"/>
    <p:sldId id="268" r:id="rId25"/>
    <p:sldId id="291" r:id="rId26"/>
    <p:sldId id="269" r:id="rId27"/>
    <p:sldId id="270" r:id="rId28"/>
    <p:sldId id="271" r:id="rId29"/>
    <p:sldId id="292" r:id="rId30"/>
    <p:sldId id="272" r:id="rId31"/>
    <p:sldId id="273" r:id="rId32"/>
    <p:sldId id="274" r:id="rId33"/>
    <p:sldId id="275" r:id="rId34"/>
    <p:sldId id="276" r:id="rId35"/>
    <p:sldId id="277" r:id="rId36"/>
    <p:sldId id="278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3545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96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1940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966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28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041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415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22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53968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825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2862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1237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Agentic AI Foundations for Data Engineers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Vikash Verma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Agentic AI Foundations for Data Engineers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Reasoning, planning, memory, tool-use and autonomous actions</a:t>
            </a:r>
          </a:p>
          <a:p>
            <a:r>
              <a:t>Multi-agent orchestration for modern data engineering</a:t>
            </a:r>
          </a:p>
          <a:p>
            <a:r>
              <a:t>Hands-on LangGraph SQL review workflow</a:t>
            </a:r>
          </a:p>
          <a:p>
            <a:r>
              <a:t>Enterprise frameworks and automation patterns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Agentic AI?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2286000"/>
            <a:ext cx="7290055" cy="4419600"/>
          </a:xfrm>
        </p:spPr>
        <p:txBody>
          <a:bodyPr>
            <a:normAutofit/>
          </a:bodyPr>
          <a:lstStyle/>
          <a:p>
            <a:r>
              <a:rPr lang="en-US" dirty="0"/>
              <a:t>Agentic AI refers to autonomous AI systems capable of:</a:t>
            </a:r>
          </a:p>
          <a:p>
            <a:pPr lvl="1"/>
            <a:r>
              <a:rPr lang="en-US" dirty="0"/>
              <a:t>Understanding goals </a:t>
            </a:r>
          </a:p>
          <a:p>
            <a:pPr lvl="1"/>
            <a:r>
              <a:rPr lang="en-US" dirty="0"/>
              <a:t>Planning actions </a:t>
            </a:r>
          </a:p>
          <a:p>
            <a:pPr lvl="1"/>
            <a:r>
              <a:rPr lang="en-US" dirty="0"/>
              <a:t>Using tools </a:t>
            </a:r>
          </a:p>
          <a:p>
            <a:pPr lvl="1"/>
            <a:r>
              <a:rPr lang="en-US" dirty="0"/>
              <a:t>Making decisions </a:t>
            </a:r>
          </a:p>
          <a:p>
            <a:pPr lvl="1"/>
            <a:r>
              <a:rPr lang="en-US" dirty="0"/>
              <a:t>Learning from feedback </a:t>
            </a:r>
          </a:p>
          <a:p>
            <a:r>
              <a:rPr lang="en-US" b="1" dirty="0"/>
              <a:t>Key Characteristics</a:t>
            </a:r>
          </a:p>
          <a:p>
            <a:pPr lvl="1"/>
            <a:r>
              <a:rPr lang="en-US" dirty="0"/>
              <a:t>Goal-oriented execution </a:t>
            </a:r>
          </a:p>
          <a:p>
            <a:pPr lvl="1"/>
            <a:r>
              <a:rPr lang="en-US" dirty="0"/>
              <a:t>Autonomous reasoning </a:t>
            </a:r>
          </a:p>
          <a:p>
            <a:pPr lvl="1"/>
            <a:r>
              <a:rPr lang="en-US" dirty="0"/>
              <a:t>Memory-aware workflows </a:t>
            </a:r>
          </a:p>
          <a:p>
            <a:pPr lvl="1"/>
            <a:r>
              <a:rPr lang="en-US" dirty="0"/>
              <a:t>Multi-step planning </a:t>
            </a:r>
          </a:p>
          <a:p>
            <a:pPr lvl="1"/>
            <a:r>
              <a:rPr lang="en-US" dirty="0"/>
              <a:t>Tool invocation capability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1E6F3-04EA-AFC8-C19B-F681BC062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Agentic AI for Data Engineering?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6937E-8F6D-DA3E-9234-F55EA7F22C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2285999"/>
            <a:ext cx="7290055" cy="4505325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Traditional Data Engineering Challenges</a:t>
            </a:r>
          </a:p>
          <a:p>
            <a:r>
              <a:rPr lang="en-IN" dirty="0"/>
              <a:t>Manual SQL development </a:t>
            </a:r>
          </a:p>
          <a:p>
            <a:r>
              <a:rPr lang="en-IN" dirty="0"/>
              <a:t>Repetitive troubleshooting </a:t>
            </a:r>
          </a:p>
          <a:p>
            <a:r>
              <a:rPr lang="en-IN" dirty="0"/>
              <a:t>Slow debugging cycles </a:t>
            </a:r>
          </a:p>
          <a:p>
            <a:r>
              <a:rPr lang="en-IN" dirty="0"/>
              <a:t>Complex orchestration </a:t>
            </a:r>
          </a:p>
          <a:p>
            <a:r>
              <a:rPr lang="en-IN" dirty="0"/>
              <a:t>Monitoring overhead </a:t>
            </a:r>
          </a:p>
          <a:p>
            <a:r>
              <a:rPr lang="en-IN" b="1" dirty="0"/>
              <a:t>Agentic AI Benefits</a:t>
            </a:r>
          </a:p>
          <a:p>
            <a:r>
              <a:rPr lang="en-IN" dirty="0"/>
              <a:t>Automated SQL generation </a:t>
            </a:r>
          </a:p>
          <a:p>
            <a:r>
              <a:rPr lang="en-IN" dirty="0"/>
              <a:t>Intelligent pipeline remediation </a:t>
            </a:r>
          </a:p>
          <a:p>
            <a:r>
              <a:rPr lang="en-IN" dirty="0"/>
              <a:t>Data quality validation </a:t>
            </a:r>
          </a:p>
          <a:p>
            <a:r>
              <a:rPr lang="en-IN" dirty="0"/>
              <a:t>Metadata enrichment </a:t>
            </a:r>
          </a:p>
          <a:p>
            <a:r>
              <a:rPr lang="en-IN" dirty="0"/>
              <a:t>Autonomous monitoring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93643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Agent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Core Components</a:t>
            </a:r>
            <a:endParaRPr lang="en-US" b="1" dirty="0"/>
          </a:p>
          <a:p>
            <a:r>
              <a:rPr dirty="0"/>
              <a:t>Reasoning: infer next best action</a:t>
            </a:r>
          </a:p>
          <a:p>
            <a:r>
              <a:rPr dirty="0"/>
              <a:t>Planning: break tasks into executable steps</a:t>
            </a:r>
          </a:p>
          <a:p>
            <a:r>
              <a:rPr dirty="0"/>
              <a:t>Memory: maintain context and historical learning</a:t>
            </a:r>
          </a:p>
          <a:p>
            <a:r>
              <a:rPr dirty="0"/>
              <a:t>Tool Use: invoke APIs, databases, search, scripts</a:t>
            </a:r>
          </a:p>
          <a:p>
            <a:r>
              <a:rPr dirty="0"/>
              <a:t>Action: execute operations and monitor outcomes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2C699-E560-A5BF-06BF-895A9EBFE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F3DD6-B2E8-31F1-024F-D46239025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Observe Input</a:t>
            </a:r>
          </a:p>
          <a:p>
            <a:r>
              <a:rPr lang="en-US" dirty="0"/>
              <a:t>Interpret Intent</a:t>
            </a:r>
          </a:p>
          <a:p>
            <a:r>
              <a:rPr lang="en-US" dirty="0"/>
              <a:t>Plan Execution</a:t>
            </a:r>
          </a:p>
          <a:p>
            <a:r>
              <a:rPr lang="en-US" dirty="0"/>
              <a:t>Use Tools</a:t>
            </a:r>
          </a:p>
          <a:p>
            <a:r>
              <a:rPr lang="en-US" dirty="0"/>
              <a:t>Generate Output</a:t>
            </a:r>
          </a:p>
          <a:p>
            <a:r>
              <a:rPr lang="en-US" dirty="0"/>
              <a:t>Evaluate Results</a:t>
            </a:r>
          </a:p>
          <a:p>
            <a:r>
              <a:rPr lang="en-US" dirty="0"/>
              <a:t>Iterate if Needed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9838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Reasoning Patterns in Agentic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ReAct (Reason + Act): iterative thought-action loop</a:t>
            </a:r>
          </a:p>
          <a:p>
            <a:r>
              <a:t>Chain of Thought (CoT): explicit reasoning traces</a:t>
            </a:r>
          </a:p>
          <a:p>
            <a:r>
              <a:t>Reflection: re-evaluate previous outputs</a:t>
            </a:r>
          </a:p>
          <a:p>
            <a:r>
              <a:t>Self-Critique: validate and improve generated results</a:t>
            </a:r>
          </a:p>
          <a:p>
            <a:r>
              <a:t>Useful in SQL generation, debugging, and pipeline optimisation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ReAct Pattern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Step 1: Observe user request</a:t>
            </a:r>
          </a:p>
          <a:p>
            <a:r>
              <a:rPr dirty="0"/>
              <a:t>Step 2: Generate reasoning trace</a:t>
            </a:r>
          </a:p>
          <a:p>
            <a:r>
              <a:rPr dirty="0"/>
              <a:t>Step 3: Invoke tool or database</a:t>
            </a:r>
          </a:p>
          <a:p>
            <a:r>
              <a:rPr dirty="0"/>
              <a:t>Step 4: Evaluate output</a:t>
            </a:r>
          </a:p>
          <a:p>
            <a:r>
              <a:rPr dirty="0"/>
              <a:t>Step 5: Continue until goal is achieved</a:t>
            </a:r>
            <a:endParaRPr lang="en-US" dirty="0"/>
          </a:p>
          <a:p>
            <a:endParaRPr lang="en-IN" dirty="0"/>
          </a:p>
          <a:p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D0F36-1F38-2AA7-474F-9E377BA5E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15229-86AA-99BE-C1F5-AB159A40D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Question:</a:t>
            </a:r>
            <a:br>
              <a:rPr lang="en-US" dirty="0"/>
            </a:br>
            <a:r>
              <a:rPr lang="en-US" dirty="0"/>
              <a:t>“Show top 10 customers by revenue”</a:t>
            </a:r>
          </a:p>
          <a:p>
            <a:r>
              <a:rPr lang="en-US" dirty="0"/>
              <a:t>Agent:</a:t>
            </a:r>
          </a:p>
          <a:p>
            <a:r>
              <a:rPr lang="en-US" dirty="0"/>
              <a:t>Thinks about schema </a:t>
            </a:r>
          </a:p>
          <a:p>
            <a:r>
              <a:rPr lang="en-US" dirty="0"/>
              <a:t>Queries database </a:t>
            </a:r>
          </a:p>
          <a:p>
            <a:r>
              <a:rPr lang="en-US" dirty="0"/>
              <a:t>Evaluates output </a:t>
            </a:r>
          </a:p>
          <a:p>
            <a:r>
              <a:rPr lang="en-US" dirty="0"/>
              <a:t>Refines SQL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55450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984F3-7A75-2058-CE0A-A35F04B88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Chain of Thought (</a:t>
            </a:r>
            <a:r>
              <a:rPr lang="en-IN" dirty="0" err="1"/>
              <a:t>CoT</a:t>
            </a:r>
            <a:r>
              <a:rPr lang="en-IN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D071-F3AA-2FC5-B165-74D219599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1819275"/>
            <a:ext cx="7290055" cy="4490085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Purpose</a:t>
            </a:r>
          </a:p>
          <a:p>
            <a:r>
              <a:rPr lang="en-US" dirty="0"/>
              <a:t>Encourages step-by-step reasoning before final output.</a:t>
            </a:r>
          </a:p>
          <a:p>
            <a:r>
              <a:rPr lang="en-US" b="1" dirty="0"/>
              <a:t>Benefits</a:t>
            </a:r>
          </a:p>
          <a:p>
            <a:r>
              <a:rPr lang="en-US" dirty="0"/>
              <a:t>Better logical consistency </a:t>
            </a:r>
          </a:p>
          <a:p>
            <a:r>
              <a:rPr lang="en-US" dirty="0"/>
              <a:t>Reduced hallucinations </a:t>
            </a:r>
          </a:p>
          <a:p>
            <a:r>
              <a:rPr lang="en-US" dirty="0"/>
              <a:t>Improved debugging </a:t>
            </a:r>
          </a:p>
          <a:p>
            <a:r>
              <a:rPr lang="en-US" b="1" dirty="0"/>
              <a:t>Example</a:t>
            </a:r>
          </a:p>
          <a:p>
            <a:r>
              <a:rPr lang="en-US" dirty="0"/>
              <a:t>Instead of:</a:t>
            </a:r>
            <a:br>
              <a:rPr lang="en-US" dirty="0"/>
            </a:br>
            <a:r>
              <a:rPr lang="en-US" dirty="0"/>
              <a:t>“SELECT * FROM sales”</a:t>
            </a:r>
          </a:p>
          <a:p>
            <a:r>
              <a:rPr lang="en-US" dirty="0"/>
              <a:t>Agent reasons:</a:t>
            </a:r>
          </a:p>
          <a:p>
            <a:r>
              <a:rPr lang="en-US" dirty="0"/>
              <a:t>Need revenue column </a:t>
            </a:r>
          </a:p>
          <a:p>
            <a:r>
              <a:rPr lang="en-US" dirty="0"/>
              <a:t>Need aggregation </a:t>
            </a:r>
          </a:p>
          <a:p>
            <a:r>
              <a:rPr lang="en-US" dirty="0"/>
              <a:t>Need sorting </a:t>
            </a:r>
          </a:p>
          <a:p>
            <a:r>
              <a:rPr lang="en-US" dirty="0"/>
              <a:t>Need LIMIT clause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3597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4B1B3-18C0-07E4-3267-7A007B123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Reflection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3B9BB-77D1-AB27-8844-68E36E4BF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Reflection</a:t>
            </a:r>
          </a:p>
          <a:p>
            <a:r>
              <a:rPr lang="en-US" dirty="0"/>
              <a:t>Agent evaluates its own generated result.</a:t>
            </a:r>
          </a:p>
          <a:p>
            <a:r>
              <a:rPr lang="en-US" b="1" dirty="0"/>
              <a:t>Example</a:t>
            </a:r>
          </a:p>
          <a:p>
            <a:r>
              <a:rPr lang="en-US" dirty="0"/>
              <a:t>Generated SQL:</a:t>
            </a:r>
          </a:p>
          <a:p>
            <a:r>
              <a:rPr lang="en-US" dirty="0"/>
              <a:t>SELECT * FROM orders</a:t>
            </a:r>
          </a:p>
          <a:p>
            <a:r>
              <a:rPr lang="en-US" dirty="0"/>
              <a:t>Reflection:</a:t>
            </a:r>
          </a:p>
          <a:p>
            <a:r>
              <a:rPr lang="en-US" dirty="0"/>
              <a:t>Missing filters </a:t>
            </a:r>
          </a:p>
          <a:p>
            <a:r>
              <a:rPr lang="en-US" dirty="0"/>
              <a:t>No aggregation </a:t>
            </a:r>
          </a:p>
          <a:p>
            <a:r>
              <a:rPr lang="en-US" dirty="0"/>
              <a:t>Inefficient query </a:t>
            </a:r>
          </a:p>
          <a:p>
            <a:r>
              <a:rPr lang="en-US" dirty="0"/>
              <a:t>Corrected SQL generated afterward.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225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B9BA2-888D-76B0-9E61-140F43271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Self-Critique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912289-C05B-6C30-E06F-C181EFBB5B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 </a:t>
            </a:r>
            <a:r>
              <a:rPr lang="en-US" dirty="0"/>
              <a:t>Agent critiques and improves outputs independently.</a:t>
            </a:r>
          </a:p>
          <a:p>
            <a:r>
              <a:rPr lang="en-US" b="1" dirty="0"/>
              <a:t>Benefits</a:t>
            </a:r>
          </a:p>
          <a:p>
            <a:r>
              <a:rPr lang="en-US" dirty="0"/>
              <a:t>Safer SQL </a:t>
            </a:r>
          </a:p>
          <a:p>
            <a:r>
              <a:rPr lang="en-US" dirty="0"/>
              <a:t>Optimized execution </a:t>
            </a:r>
          </a:p>
          <a:p>
            <a:r>
              <a:rPr lang="en-US" dirty="0"/>
              <a:t>Reduced hallucinations </a:t>
            </a:r>
          </a:p>
          <a:p>
            <a:r>
              <a:rPr lang="en-US" dirty="0"/>
              <a:t>Improved reliability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09020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5DA91-D415-B9E2-1C9F-AE6DA4CD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Memory in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2827A-87B1-5758-12CB-4B066BB53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Types of Memory</a:t>
            </a:r>
          </a:p>
          <a:p>
            <a:r>
              <a:rPr lang="en-US" b="1" dirty="0"/>
              <a:t>Short-Term Memory</a:t>
            </a:r>
          </a:p>
          <a:p>
            <a:r>
              <a:rPr lang="en-US" dirty="0"/>
              <a:t>Current conversation context </a:t>
            </a:r>
          </a:p>
          <a:p>
            <a:r>
              <a:rPr lang="en-US" dirty="0"/>
              <a:t>Stored in prompts </a:t>
            </a:r>
          </a:p>
          <a:p>
            <a:r>
              <a:rPr lang="en-US" b="1" dirty="0"/>
              <a:t>Long-Term Memory</a:t>
            </a:r>
          </a:p>
          <a:p>
            <a:r>
              <a:rPr lang="en-US" dirty="0"/>
              <a:t>Database-backed storage </a:t>
            </a:r>
          </a:p>
          <a:p>
            <a:r>
              <a:rPr lang="en-US" dirty="0"/>
              <a:t>Persistent across sessions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86166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Short-Term vs Long-Term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Short-term memory: in-context prompt history</a:t>
            </a:r>
          </a:p>
          <a:p>
            <a:r>
              <a:t>Long-term memory: vector DB or relational DB backed</a:t>
            </a:r>
          </a:p>
          <a:p>
            <a:r>
              <a:t>Session-aware agents improve continuity</a:t>
            </a:r>
          </a:p>
          <a:p>
            <a:r>
              <a:t>Examples: Redis, PostgreSQL, Pinecone, ChromaDB</a:t>
            </a:r>
          </a:p>
          <a:p>
            <a:r>
              <a:t>Critical for enterprise data workflows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8AFCF-A569-55E1-962B-99796175A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Multi-Agent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C6559-40C5-818A-266B-C731A3FE6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What are Multi-Agent Systems?</a:t>
            </a:r>
          </a:p>
          <a:p>
            <a:r>
              <a:rPr lang="en-US" dirty="0"/>
              <a:t>Multiple AI agents collaborating together to solve complex tasks.</a:t>
            </a:r>
          </a:p>
          <a:p>
            <a:r>
              <a:rPr lang="en-US" b="1" dirty="0"/>
              <a:t>Benefits</a:t>
            </a:r>
          </a:p>
          <a:p>
            <a:r>
              <a:rPr lang="en-US" dirty="0"/>
              <a:t>Separation of responsibilities </a:t>
            </a:r>
          </a:p>
          <a:p>
            <a:r>
              <a:rPr lang="en-US" dirty="0"/>
              <a:t>Better scalability </a:t>
            </a:r>
          </a:p>
          <a:p>
            <a:r>
              <a:rPr lang="en-US" dirty="0"/>
              <a:t>Specialized intelligence </a:t>
            </a:r>
          </a:p>
          <a:p>
            <a:r>
              <a:rPr lang="en-US" dirty="0"/>
              <a:t>Parallel execution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53750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Multi-Agent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Supervisor Model: coordinator manages worker agents</a:t>
            </a:r>
          </a:p>
          <a:p>
            <a:r>
              <a:t>Swarm Model: agents collaborate dynamically</a:t>
            </a:r>
          </a:p>
          <a:p>
            <a:r>
              <a:t>Sequential Pipeline: output of one agent feeds another</a:t>
            </a:r>
          </a:p>
          <a:p>
            <a:r>
              <a:t>Hierarchical patterns improve scalability</a:t>
            </a:r>
          </a:p>
          <a:p>
            <a:r>
              <a:t>Useful for ingestion, validation, optimisation, governance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LangGraph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Stateful orchestration framework built on </a:t>
            </a:r>
            <a:r>
              <a:rPr lang="en-US" dirty="0" err="1"/>
              <a:t>LangChain</a:t>
            </a:r>
            <a:r>
              <a:rPr lang="en-US" dirty="0"/>
              <a:t>.</a:t>
            </a:r>
          </a:p>
          <a:p>
            <a:r>
              <a:rPr lang="en-US" b="1" dirty="0"/>
              <a:t>Features</a:t>
            </a:r>
          </a:p>
          <a:p>
            <a:r>
              <a:rPr lang="en-US" dirty="0"/>
              <a:t>Directed graphs </a:t>
            </a:r>
          </a:p>
          <a:p>
            <a:r>
              <a:rPr lang="en-US" dirty="0"/>
              <a:t>Stateful workflows </a:t>
            </a:r>
          </a:p>
          <a:p>
            <a:r>
              <a:rPr lang="en-US" dirty="0"/>
              <a:t>Loops &amp; branches </a:t>
            </a:r>
          </a:p>
          <a:p>
            <a:r>
              <a:rPr lang="en-US" dirty="0"/>
              <a:t>Persistent memory </a:t>
            </a:r>
          </a:p>
          <a:p>
            <a:r>
              <a:rPr lang="en-US" dirty="0"/>
              <a:t>Human-in-loop support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82517-9610-8244-F54E-1EF7816F6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LangGraph</a:t>
            </a:r>
            <a:r>
              <a:rPr lang="en-US" dirty="0"/>
              <a:t> for Data Engineering?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275153-76E7-7787-5AA5-60212563F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Advantages</a:t>
            </a:r>
          </a:p>
          <a:p>
            <a:r>
              <a:rPr lang="en-US" dirty="0"/>
              <a:t>Deterministic workflows </a:t>
            </a:r>
          </a:p>
          <a:p>
            <a:r>
              <a:rPr lang="en-US" dirty="0"/>
              <a:t>Agent state management </a:t>
            </a:r>
          </a:p>
          <a:p>
            <a:r>
              <a:rPr lang="en-US" dirty="0"/>
              <a:t>Long-running execution </a:t>
            </a:r>
          </a:p>
          <a:p>
            <a:r>
              <a:rPr lang="en-US" dirty="0"/>
              <a:t>Retry handling </a:t>
            </a:r>
          </a:p>
          <a:p>
            <a:r>
              <a:rPr lang="en-US" dirty="0"/>
              <a:t>Error recovery </a:t>
            </a:r>
          </a:p>
          <a:p>
            <a:r>
              <a:rPr lang="en-US" b="1" dirty="0"/>
              <a:t>Ideal For</a:t>
            </a:r>
          </a:p>
          <a:p>
            <a:r>
              <a:rPr lang="en-US" dirty="0"/>
              <a:t>ETL orchestration </a:t>
            </a:r>
          </a:p>
          <a:p>
            <a:r>
              <a:rPr lang="en-US" dirty="0"/>
              <a:t>Autonomous monitoring </a:t>
            </a:r>
          </a:p>
          <a:p>
            <a:r>
              <a:rPr lang="en-US" dirty="0"/>
              <a:t>SQL review systems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35042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E8416-7C74-5F45-7405-CB065CA40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LangGraph</a:t>
            </a:r>
            <a:r>
              <a:rPr lang="en-IN" dirty="0"/>
              <a:t>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25B9D-B198-BCF3-FA60-954ADDD3C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Core Concepts</a:t>
            </a:r>
          </a:p>
          <a:p>
            <a:r>
              <a:rPr lang="en-US" b="1" dirty="0"/>
              <a:t>Nodes</a:t>
            </a:r>
          </a:p>
          <a:p>
            <a:r>
              <a:rPr lang="en-US" dirty="0"/>
              <a:t>Execution steps</a:t>
            </a:r>
          </a:p>
          <a:p>
            <a:r>
              <a:rPr lang="en-US" b="1" dirty="0"/>
              <a:t>Edges</a:t>
            </a:r>
          </a:p>
          <a:p>
            <a:r>
              <a:rPr lang="en-US" dirty="0"/>
              <a:t>Transitions between nodes</a:t>
            </a:r>
          </a:p>
          <a:p>
            <a:r>
              <a:rPr lang="en-US" b="1" dirty="0"/>
              <a:t>State</a:t>
            </a:r>
          </a:p>
          <a:p>
            <a:r>
              <a:rPr lang="en-US" dirty="0"/>
              <a:t>Shared workflow memory</a:t>
            </a:r>
          </a:p>
          <a:p>
            <a:r>
              <a:rPr lang="en-US" b="1" dirty="0"/>
              <a:t>Checkpoints</a:t>
            </a:r>
          </a:p>
          <a:p>
            <a:r>
              <a:rPr lang="en-US" dirty="0"/>
              <a:t>Persist execution progress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785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CrewAI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role-based multi-agent collaboration.</a:t>
            </a:r>
          </a:p>
          <a:p>
            <a:r>
              <a:rPr lang="en-US" b="1" dirty="0"/>
              <a:t>Key Concepts</a:t>
            </a:r>
          </a:p>
          <a:p>
            <a:r>
              <a:rPr lang="en-US" dirty="0"/>
              <a:t>Agents </a:t>
            </a:r>
          </a:p>
          <a:p>
            <a:r>
              <a:rPr lang="en-US" dirty="0"/>
              <a:t>Tasks </a:t>
            </a:r>
          </a:p>
          <a:p>
            <a:r>
              <a:rPr lang="en-US" dirty="0"/>
              <a:t>Crews </a:t>
            </a:r>
          </a:p>
          <a:p>
            <a:r>
              <a:rPr lang="en-US" dirty="0"/>
              <a:t>Delegation </a:t>
            </a:r>
          </a:p>
          <a:p>
            <a:r>
              <a:rPr lang="en-US" dirty="0"/>
              <a:t>Collaboration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59771-40DE-D6A5-FB96-F3E3B4976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CrewAI</a:t>
            </a:r>
            <a:r>
              <a:rPr lang="en-IN" dirty="0"/>
              <a:t> Use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90097-40EC-F734-0057-56061F709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Data Engineering Scenarios</a:t>
            </a:r>
          </a:p>
          <a:p>
            <a:r>
              <a:rPr lang="en-IN" dirty="0"/>
              <a:t>Data quality agents </a:t>
            </a:r>
          </a:p>
          <a:p>
            <a:r>
              <a:rPr lang="en-IN" dirty="0"/>
              <a:t>Metadata extraction </a:t>
            </a:r>
          </a:p>
          <a:p>
            <a:r>
              <a:rPr lang="en-IN" dirty="0"/>
              <a:t>Documentation generation </a:t>
            </a:r>
          </a:p>
          <a:p>
            <a:r>
              <a:rPr lang="en-IN" dirty="0"/>
              <a:t>Incident investigation </a:t>
            </a:r>
          </a:p>
          <a:p>
            <a:r>
              <a:rPr lang="en-IN" dirty="0"/>
              <a:t>Pipeline monitoring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5707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AutoGen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Microsoft framework for multi-agent conversations</a:t>
            </a:r>
          </a:p>
          <a:p>
            <a:r>
              <a:t>Agents communicate autonomously</a:t>
            </a:r>
          </a:p>
          <a:p>
            <a:r>
              <a:t>Supports humans-in-the-loop</a:t>
            </a:r>
          </a:p>
          <a:p>
            <a:r>
              <a:t>Useful for enterprise workflow automation</a:t>
            </a:r>
          </a:p>
          <a:p>
            <a:r>
              <a:t>Supports coding, debugging, and task orchestration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Semantic Kernel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Microsoft enterprise orchestration SDK.</a:t>
            </a:r>
          </a:p>
          <a:p>
            <a:r>
              <a:rPr lang="en-IN" b="1" dirty="0"/>
              <a:t>Features</a:t>
            </a:r>
          </a:p>
          <a:p>
            <a:r>
              <a:rPr lang="en-IN" dirty="0"/>
              <a:t>Prompt orchestration </a:t>
            </a:r>
          </a:p>
          <a:p>
            <a:r>
              <a:rPr lang="en-IN" dirty="0"/>
              <a:t>Memory plugins </a:t>
            </a:r>
          </a:p>
          <a:p>
            <a:r>
              <a:rPr lang="en-IN" dirty="0"/>
              <a:t>AI planners </a:t>
            </a:r>
          </a:p>
          <a:p>
            <a:r>
              <a:rPr lang="en-IN" dirty="0"/>
              <a:t>Enterprise integration </a:t>
            </a:r>
          </a:p>
          <a:p>
            <a:r>
              <a:rPr lang="en-IN" dirty="0"/>
              <a:t>Multi-model support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n8n for No-Code Agent Flows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n8n enables visual orchestration of:</a:t>
            </a:r>
          </a:p>
          <a:p>
            <a:pPr lvl="1"/>
            <a:r>
              <a:rPr lang="en-US" dirty="0"/>
              <a:t>AI agents </a:t>
            </a:r>
          </a:p>
          <a:p>
            <a:pPr lvl="1"/>
            <a:r>
              <a:rPr lang="en-US" dirty="0"/>
              <a:t>APIs </a:t>
            </a:r>
          </a:p>
          <a:p>
            <a:pPr lvl="1"/>
            <a:r>
              <a:rPr lang="en-US" dirty="0"/>
              <a:t>Databases </a:t>
            </a:r>
          </a:p>
          <a:p>
            <a:pPr lvl="1"/>
            <a:r>
              <a:rPr lang="en-US" dirty="0"/>
              <a:t>Alerts </a:t>
            </a:r>
          </a:p>
          <a:p>
            <a:pPr lvl="1"/>
            <a:r>
              <a:rPr lang="en-US" dirty="0"/>
              <a:t>Schedulers</a:t>
            </a:r>
          </a:p>
          <a:p>
            <a:r>
              <a:rPr dirty="0"/>
              <a:t>Visual workflow automation platform</a:t>
            </a:r>
          </a:p>
          <a:p>
            <a:r>
              <a:rPr dirty="0"/>
              <a:t>Integrates AI agents with APIs and databases</a:t>
            </a:r>
          </a:p>
          <a:p>
            <a:r>
              <a:rPr dirty="0"/>
              <a:t>Useful for low-code orchestration</a:t>
            </a:r>
          </a:p>
          <a:p>
            <a:r>
              <a:rPr dirty="0"/>
              <a:t>Supports triggers, schedulers, and connectors</a:t>
            </a:r>
          </a:p>
          <a:p>
            <a:r>
              <a:rPr dirty="0"/>
              <a:t>Can integrate with Snowflake, Slack, Teams, and APIs</a:t>
            </a:r>
            <a:endParaRPr lang="en-US" dirty="0"/>
          </a:p>
          <a:p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C30EB-C80C-7A47-8DDE-42DD5FB9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Enterprise AI Agent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CDCD3-BA00-E312-0F0A-DBD118C5E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Typical Architecture</a:t>
            </a:r>
          </a:p>
          <a:p>
            <a:r>
              <a:rPr lang="en-IN" dirty="0"/>
              <a:t>User → API → Agent Framework → LLM → Tools → Database</a:t>
            </a:r>
          </a:p>
          <a:p>
            <a:r>
              <a:rPr lang="en-IN" b="1" dirty="0"/>
              <a:t>Supporting Components</a:t>
            </a:r>
          </a:p>
          <a:p>
            <a:r>
              <a:rPr lang="en-IN" dirty="0"/>
              <a:t>Vector DB </a:t>
            </a:r>
          </a:p>
          <a:p>
            <a:r>
              <a:rPr lang="en-IN" dirty="0"/>
              <a:t>Logging </a:t>
            </a:r>
          </a:p>
          <a:p>
            <a:r>
              <a:rPr lang="en-IN" dirty="0"/>
              <a:t>Monitoring </a:t>
            </a:r>
          </a:p>
          <a:p>
            <a:r>
              <a:rPr lang="en-IN" dirty="0"/>
              <a:t>Governance </a:t>
            </a:r>
          </a:p>
          <a:p>
            <a:r>
              <a:rPr lang="en-IN" dirty="0"/>
              <a:t>RBAC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24937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LangGraph SQL Review Agent –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 1: Generate SQL from natural language</a:t>
            </a:r>
          </a:p>
          <a:p>
            <a:r>
              <a:t>Agent 2: Review and optimise generated SQL</a:t>
            </a:r>
          </a:p>
          <a:p>
            <a:r>
              <a:t>Shared memory stores conversation state</a:t>
            </a:r>
          </a:p>
          <a:p>
            <a:r>
              <a:t>Snowflake MCP server used for execution</a:t>
            </a:r>
          </a:p>
          <a:p>
            <a:r>
              <a:t>Reasoning logs captured for observability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Hands-On Workflow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submits natural language request</a:t>
            </a:r>
          </a:p>
          <a:p>
            <a:r>
              <a:t>SQL Generation Agent creates initial query</a:t>
            </a:r>
          </a:p>
          <a:p>
            <a:r>
              <a:t>Review Agent validates syntax and optimises query</a:t>
            </a:r>
          </a:p>
          <a:p>
            <a:r>
              <a:t>Snowflake MCP executes validated query</a:t>
            </a:r>
          </a:p>
          <a:p>
            <a:r>
              <a:t>Logs stored for monitoring and debugging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Snowflake MCP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Connect LangGraph agents with Snowflake</a:t>
            </a:r>
          </a:p>
          <a:p>
            <a:r>
              <a:t>Use connectors and MCP tools for execution</a:t>
            </a:r>
          </a:p>
          <a:p>
            <a:r>
              <a:t>Secure credential handling with secrets management</a:t>
            </a:r>
          </a:p>
          <a:p>
            <a:r>
              <a:t>Enable metadata access for schema-aware SQL generation</a:t>
            </a:r>
          </a:p>
          <a:p>
            <a:r>
              <a:t>Track query performance and execution logs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45F80-6502-C980-D876-0D14DC90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Logging &amp; Observability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DA9CF-A1B5-F378-228D-9EAD5D36C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What to Log?</a:t>
            </a:r>
          </a:p>
          <a:p>
            <a:pPr lvl="1"/>
            <a:r>
              <a:rPr lang="en-US" dirty="0"/>
              <a:t>User prompts </a:t>
            </a:r>
          </a:p>
          <a:p>
            <a:pPr lvl="1"/>
            <a:r>
              <a:rPr lang="en-US" dirty="0"/>
              <a:t>Reasoning traces </a:t>
            </a:r>
          </a:p>
          <a:p>
            <a:pPr lvl="1"/>
            <a:r>
              <a:rPr lang="en-US" dirty="0"/>
              <a:t>SQL versions </a:t>
            </a:r>
          </a:p>
          <a:p>
            <a:pPr lvl="1"/>
            <a:r>
              <a:rPr lang="en-US" dirty="0"/>
              <a:t>Agent decisions </a:t>
            </a:r>
          </a:p>
          <a:p>
            <a:pPr lvl="1"/>
            <a:r>
              <a:rPr lang="en-US" dirty="0"/>
              <a:t>Execution results </a:t>
            </a:r>
          </a:p>
          <a:p>
            <a:r>
              <a:rPr lang="en-US" b="1" dirty="0"/>
              <a:t>Benefits</a:t>
            </a:r>
          </a:p>
          <a:p>
            <a:pPr lvl="1"/>
            <a:r>
              <a:rPr lang="en-US" dirty="0"/>
              <a:t>Auditability </a:t>
            </a:r>
          </a:p>
          <a:p>
            <a:pPr lvl="1"/>
            <a:r>
              <a:rPr lang="en-US" dirty="0"/>
              <a:t>Debugging </a:t>
            </a:r>
          </a:p>
          <a:p>
            <a:pPr lvl="1"/>
            <a:r>
              <a:rPr lang="en-US" dirty="0"/>
              <a:t>Governance </a:t>
            </a:r>
          </a:p>
          <a:p>
            <a:pPr lvl="1"/>
            <a:r>
              <a:rPr lang="en-US" dirty="0"/>
              <a:t>Performance monitoring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74744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Reasoning and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Capture CoT reasoning steps</a:t>
            </a:r>
          </a:p>
          <a:p>
            <a:r>
              <a:t>Store intermediate decisions</a:t>
            </a:r>
          </a:p>
          <a:p>
            <a:r>
              <a:t>Use tracing frameworks for debugging</a:t>
            </a:r>
          </a:p>
          <a:p>
            <a:r>
              <a:t>Monitor latency, retries, and failures</a:t>
            </a:r>
          </a:p>
          <a:p>
            <a:r>
              <a:t>Improve trust and governance in AI workflows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Automated SQL optimisation</a:t>
            </a:r>
          </a:p>
          <a:p>
            <a:r>
              <a:t>Data quality validation agents</a:t>
            </a:r>
          </a:p>
          <a:p>
            <a:r>
              <a:t>Metadata enrichment workflows</a:t>
            </a:r>
          </a:p>
          <a:p>
            <a:r>
              <a:t>AI-powered lineage analysis</a:t>
            </a:r>
          </a:p>
          <a:p>
            <a:r>
              <a:t>Autonomous incident response in DE pipelines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Avoid hallucinated SQL and unsafe queries</a:t>
            </a:r>
          </a:p>
          <a:p>
            <a:r>
              <a:t>Use guardrails and validation layers</a:t>
            </a:r>
          </a:p>
          <a:p>
            <a:r>
              <a:t>Implement RBAC and governance</a:t>
            </a:r>
          </a:p>
          <a:p>
            <a:r>
              <a:t>Track costs and token usage</a:t>
            </a:r>
          </a:p>
          <a:p>
            <a:r>
              <a:t>Ensure reproducibility and auditability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of Agentic AI in Data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Autonomous pipeline remediation</a:t>
            </a:r>
          </a:p>
          <a:p>
            <a:r>
              <a:t>Self-healing data platforms</a:t>
            </a:r>
          </a:p>
          <a:p>
            <a:r>
              <a:t>AI-assisted governance and compliance</a:t>
            </a:r>
          </a:p>
          <a:p>
            <a:r>
              <a:t>Collaborative multi-agent ecosystems</a:t>
            </a:r>
          </a:p>
          <a:p>
            <a:r>
              <a:t>Integration with lakehouse and streaming architectures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Exercise: Build LangGraph SQL Review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Create a 2-agent LangGraph pipeline</a:t>
            </a:r>
          </a:p>
          <a:p>
            <a:r>
              <a:t>Generate SQL from natural language</a:t>
            </a:r>
          </a:p>
          <a:p>
            <a:r>
              <a:t>Review and optimise SQL queries</a:t>
            </a:r>
          </a:p>
          <a:p>
            <a:r>
              <a:t>Integrate with Snowflake MCP server</a:t>
            </a:r>
          </a:p>
          <a:p>
            <a:r>
              <a:t>Log all reasoning and execution steps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Suggested Folder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/agents – SQL generator and reviewer agents</a:t>
            </a:r>
          </a:p>
          <a:p>
            <a:r>
              <a:t>/tools – Snowflake connectors and MCP tools</a:t>
            </a:r>
          </a:p>
          <a:p>
            <a:r>
              <a:t>/memory – conversation and vector storage</a:t>
            </a:r>
          </a:p>
          <a:p>
            <a:r>
              <a:t>/logs – reasoning and execution logs</a:t>
            </a:r>
          </a:p>
          <a:p>
            <a:r>
              <a:t>/notebooks – experimentation and demos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Agentic AI is transforming modern data engineering</a:t>
            </a:r>
          </a:p>
          <a:p>
            <a:r>
              <a:rPr dirty="0"/>
              <a:t>Multi-agent systems improve automation and scalability</a:t>
            </a:r>
          </a:p>
          <a:p>
            <a:r>
              <a:rPr dirty="0" err="1"/>
              <a:t>LangGraph</a:t>
            </a:r>
            <a:r>
              <a:rPr dirty="0"/>
              <a:t> and </a:t>
            </a:r>
            <a:r>
              <a:rPr dirty="0" err="1"/>
              <a:t>CrewAI</a:t>
            </a:r>
            <a:r>
              <a:rPr dirty="0"/>
              <a:t> simplify orchestration</a:t>
            </a:r>
          </a:p>
          <a:p>
            <a:r>
              <a:rPr dirty="0"/>
              <a:t>Enterprise frameworks enable governance and extensibility</a:t>
            </a:r>
          </a:p>
          <a:p>
            <a:endParaRPr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17</TotalTime>
  <Words>1049</Words>
  <Application>Microsoft Office PowerPoint</Application>
  <PresentationFormat>On-screen Show (4:3)</PresentationFormat>
  <Paragraphs>277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Tw Cen MT</vt:lpstr>
      <vt:lpstr>Tw Cen MT Condensed</vt:lpstr>
      <vt:lpstr>Wingdings 3</vt:lpstr>
      <vt:lpstr>Integral</vt:lpstr>
      <vt:lpstr>Agentic AI Foundations for Data Engineers</vt:lpstr>
      <vt:lpstr>Agentic AI Foundations for Data Engineers</vt:lpstr>
      <vt:lpstr>What is Agentic AI?</vt:lpstr>
      <vt:lpstr>Why Agentic AI for Data Engineering?</vt:lpstr>
      <vt:lpstr>Core Agent Anatomy</vt:lpstr>
      <vt:lpstr>Agent Lifecycle</vt:lpstr>
      <vt:lpstr>Reasoning Patterns in Agentic AI</vt:lpstr>
      <vt:lpstr>ReAct Pattern Workflow</vt:lpstr>
      <vt:lpstr>Example</vt:lpstr>
      <vt:lpstr>Chain of Thought (CoT)</vt:lpstr>
      <vt:lpstr>Reflection Pattern</vt:lpstr>
      <vt:lpstr>Self-Critique Pattern</vt:lpstr>
      <vt:lpstr>Memory in Agentic AI</vt:lpstr>
      <vt:lpstr>Short-Term vs Long-Term Memory</vt:lpstr>
      <vt:lpstr>Multi-Agent Systems</vt:lpstr>
      <vt:lpstr>Multi-Agent Architectures</vt:lpstr>
      <vt:lpstr>LangGraph Overview</vt:lpstr>
      <vt:lpstr>Why LangGraph for Data Engineering?</vt:lpstr>
      <vt:lpstr>LangGraph Components</vt:lpstr>
      <vt:lpstr>CrewAI Overview</vt:lpstr>
      <vt:lpstr>CrewAI Use Cases</vt:lpstr>
      <vt:lpstr>AutoGen Overview</vt:lpstr>
      <vt:lpstr>Semantic Kernel Overview</vt:lpstr>
      <vt:lpstr>n8n for No-Code Agent Flows</vt:lpstr>
      <vt:lpstr>Enterprise AI Agent Stack</vt:lpstr>
      <vt:lpstr>LangGraph SQL Review Agent – Architecture</vt:lpstr>
      <vt:lpstr>Hands-On Workflow Steps</vt:lpstr>
      <vt:lpstr>Snowflake MCP Integration</vt:lpstr>
      <vt:lpstr>Logging &amp; Observability</vt:lpstr>
      <vt:lpstr>Reasoning and Observability</vt:lpstr>
      <vt:lpstr>Enterprise Use Cases</vt:lpstr>
      <vt:lpstr>Challenges and Best Practices</vt:lpstr>
      <vt:lpstr>Future of Agentic AI in Data Engineering</vt:lpstr>
      <vt:lpstr>Lab Exercise: Build LangGraph SQL Review Agent</vt:lpstr>
      <vt:lpstr>Suggested Folder Structure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53</cp:revision>
  <dcterms:created xsi:type="dcterms:W3CDTF">2013-01-27T09:14:16Z</dcterms:created>
  <dcterms:modified xsi:type="dcterms:W3CDTF">2026-05-11T03:42:41Z</dcterms:modified>
  <cp:category/>
</cp:coreProperties>
</file>