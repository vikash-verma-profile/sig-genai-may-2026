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88" r:id="rId4"/>
    <p:sldId id="289" r:id="rId5"/>
    <p:sldId id="258" r:id="rId6"/>
    <p:sldId id="259" r:id="rId7"/>
    <p:sldId id="290" r:id="rId8"/>
    <p:sldId id="300" r:id="rId9"/>
    <p:sldId id="260" r:id="rId10"/>
    <p:sldId id="291" r:id="rId11"/>
    <p:sldId id="301" r:id="rId12"/>
    <p:sldId id="261" r:id="rId13"/>
    <p:sldId id="292" r:id="rId14"/>
    <p:sldId id="262" r:id="rId15"/>
    <p:sldId id="293" r:id="rId16"/>
    <p:sldId id="263" r:id="rId17"/>
    <p:sldId id="294" r:id="rId18"/>
    <p:sldId id="302" r:id="rId19"/>
    <p:sldId id="264" r:id="rId20"/>
    <p:sldId id="295" r:id="rId21"/>
    <p:sldId id="303" r:id="rId22"/>
    <p:sldId id="265" r:id="rId23"/>
    <p:sldId id="296" r:id="rId24"/>
    <p:sldId id="266" r:id="rId25"/>
    <p:sldId id="297" r:id="rId26"/>
    <p:sldId id="304" r:id="rId27"/>
    <p:sldId id="267" r:id="rId28"/>
    <p:sldId id="298" r:id="rId29"/>
    <p:sldId id="268" r:id="rId30"/>
    <p:sldId id="299" r:id="rId31"/>
    <p:sldId id="305" r:id="rId32"/>
    <p:sldId id="269" r:id="rId33"/>
    <p:sldId id="270" r:id="rId34"/>
    <p:sldId id="306" r:id="rId35"/>
    <p:sldId id="271" r:id="rId36"/>
    <p:sldId id="272" r:id="rId37"/>
    <p:sldId id="273" r:id="rId38"/>
    <p:sldId id="274" r:id="rId39"/>
    <p:sldId id="275" r:id="rId40"/>
    <p:sldId id="276" r:id="rId41"/>
    <p:sldId id="307" r:id="rId42"/>
    <p:sldId id="277" r:id="rId43"/>
    <p:sldId id="278" r:id="rId44"/>
    <p:sldId id="279" r:id="rId45"/>
    <p:sldId id="308" r:id="rId46"/>
    <p:sldId id="280" r:id="rId47"/>
    <p:sldId id="309" r:id="rId48"/>
    <p:sldId id="281" r:id="rId49"/>
    <p:sldId id="282" r:id="rId50"/>
    <p:sldId id="283" r:id="rId51"/>
    <p:sldId id="284" r:id="rId52"/>
    <p:sldId id="285" r:id="rId53"/>
    <p:sldId id="286" r:id="rId54"/>
    <p:sldId id="287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6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341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99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582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1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40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06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1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84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321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44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48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364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AI-Powered Data Governance, Lineage &amp; Metadata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Vikash Verma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automated lineage extraction</a:t>
            </a:r>
          </a:p>
          <a:p>
            <a:r>
              <a:t>Generate metadata and glossary entries using AI</a:t>
            </a:r>
          </a:p>
          <a:p>
            <a:r>
              <a:t>Implement PII detection workflows</a:t>
            </a:r>
          </a:p>
          <a:p>
            <a:r>
              <a:t>Create AI-generated governance policies</a:t>
            </a:r>
          </a:p>
          <a:p>
            <a:r>
              <a:t>Integrate governance platforms with LLMs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7D8C-EADD-EB12-1512-7E365F2A7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Automated Lineage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EEBF5-3723-CA2F-7207-811FB6BC6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Data Lineage?</a:t>
            </a:r>
          </a:p>
          <a:p>
            <a:r>
              <a:rPr lang="en-US" dirty="0"/>
              <a:t>Data lineage shows:</a:t>
            </a:r>
          </a:p>
          <a:p>
            <a:r>
              <a:rPr lang="en-US" dirty="0"/>
              <a:t>Where data comes from </a:t>
            </a:r>
          </a:p>
          <a:p>
            <a:r>
              <a:rPr lang="en-US" dirty="0"/>
              <a:t>How it transforms </a:t>
            </a:r>
          </a:p>
          <a:p>
            <a:r>
              <a:rPr lang="en-US" dirty="0"/>
              <a:t>Where it goes 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Raw CSV → Bronze Table → Silver Table → Power BI Dashboard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2001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E1FC2-7199-1458-690B-92497B118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A2EA5-A065-87B0-8124-E19427F4E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Key Points</a:t>
            </a:r>
          </a:p>
          <a:p>
            <a:r>
              <a:rPr lang="en-US" dirty="0"/>
              <a:t>Track upstream/downstream systems </a:t>
            </a:r>
          </a:p>
          <a:p>
            <a:r>
              <a:rPr lang="en-US" dirty="0"/>
              <a:t>Understand dependencies </a:t>
            </a:r>
          </a:p>
          <a:p>
            <a:r>
              <a:rPr lang="en-US" dirty="0"/>
              <a:t>Perform impact analysis </a:t>
            </a:r>
          </a:p>
          <a:p>
            <a:r>
              <a:rPr lang="en-US" dirty="0"/>
              <a:t>Auto-generate lineage diagrams </a:t>
            </a:r>
          </a:p>
          <a:p>
            <a:r>
              <a:rPr lang="en-US" b="1" dirty="0"/>
              <a:t>Why Important?</a:t>
            </a:r>
          </a:p>
          <a:p>
            <a:r>
              <a:rPr lang="en-US" dirty="0"/>
              <a:t>If a source table changes:</a:t>
            </a:r>
          </a:p>
          <a:p>
            <a:r>
              <a:rPr lang="en-US" dirty="0"/>
              <a:t>Which reports break? </a:t>
            </a:r>
          </a:p>
          <a:p>
            <a:r>
              <a:rPr lang="en-US" dirty="0"/>
              <a:t>Which ML models fail? </a:t>
            </a:r>
          </a:p>
          <a:p>
            <a:r>
              <a:rPr lang="en-US" dirty="0"/>
              <a:t>Which downstream pipelines are affected?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8660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Automated Lineage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 lineage from SQL and dbt code</a:t>
            </a:r>
          </a:p>
          <a:p>
            <a:r>
              <a:t>Track upstream/downstream dependencies</a:t>
            </a:r>
          </a:p>
          <a:p>
            <a:r>
              <a:t>Generate lineage graphs automatically</a:t>
            </a:r>
          </a:p>
          <a:p>
            <a:r>
              <a:t>Enable impact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SQL-Based Lineage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SELECT statements</a:t>
            </a:r>
          </a:p>
          <a:p>
            <a:r>
              <a:t>Parse JOIN operations</a:t>
            </a:r>
          </a:p>
          <a:p>
            <a:r>
              <a:t>Track CTE dependencies</a:t>
            </a:r>
          </a:p>
          <a:p>
            <a:r>
              <a:t>Generate transformation flow maps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4D5FE-04B3-F6B4-34F4-A311E9FE6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514350"/>
            <a:ext cx="7290055" cy="5795010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AI Reads SQL Queries</a:t>
            </a:r>
          </a:p>
          <a:p>
            <a:r>
              <a:rPr lang="en-IN" dirty="0"/>
              <a:t>AI/Parsers </a:t>
            </a:r>
            <a:r>
              <a:rPr lang="en-IN" dirty="0" err="1"/>
              <a:t>analyze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SELECT </a:t>
            </a:r>
          </a:p>
          <a:p>
            <a:pPr lvl="1"/>
            <a:r>
              <a:rPr lang="en-IN" dirty="0"/>
              <a:t>JOIN </a:t>
            </a:r>
          </a:p>
          <a:p>
            <a:pPr lvl="1"/>
            <a:r>
              <a:rPr lang="en-IN" dirty="0"/>
              <a:t>WHERE </a:t>
            </a:r>
          </a:p>
          <a:p>
            <a:pPr lvl="1"/>
            <a:r>
              <a:rPr lang="en-IN" dirty="0"/>
              <a:t>GROUP BY </a:t>
            </a:r>
          </a:p>
          <a:p>
            <a:pPr lvl="1"/>
            <a:r>
              <a:rPr lang="en-IN" dirty="0"/>
              <a:t>CTEs 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SELECT </a:t>
            </a:r>
            <a:r>
              <a:rPr lang="en-IN" dirty="0" err="1"/>
              <a:t>a.customer_id</a:t>
            </a:r>
            <a:r>
              <a:rPr lang="en-IN" dirty="0"/>
              <a:t>, </a:t>
            </a:r>
            <a:r>
              <a:rPr lang="en-IN" dirty="0" err="1"/>
              <a:t>b.amount</a:t>
            </a:r>
            <a:br>
              <a:rPr lang="en-IN" dirty="0"/>
            </a:br>
            <a:r>
              <a:rPr lang="en-IN" dirty="0"/>
              <a:t>FROM customers a</a:t>
            </a:r>
            <a:br>
              <a:rPr lang="en-IN" dirty="0"/>
            </a:br>
            <a:r>
              <a:rPr lang="en-IN" dirty="0"/>
              <a:t>JOIN sales b</a:t>
            </a:r>
            <a:br>
              <a:rPr lang="en-IN" dirty="0"/>
            </a:br>
            <a:r>
              <a:rPr lang="en-IN" dirty="0"/>
              <a:t>ON a.id = </a:t>
            </a:r>
            <a:r>
              <a:rPr lang="en-IN" dirty="0" err="1"/>
              <a:t>b.customer_id</a:t>
            </a:r>
            <a:endParaRPr lang="en-IN" dirty="0"/>
          </a:p>
          <a:p>
            <a:r>
              <a:rPr lang="en-IN" b="1" dirty="0"/>
              <a:t>AI Can Detect</a:t>
            </a:r>
          </a:p>
          <a:p>
            <a:r>
              <a:rPr lang="en-IN" dirty="0"/>
              <a:t>Source tables </a:t>
            </a:r>
          </a:p>
          <a:p>
            <a:r>
              <a:rPr lang="en-IN" dirty="0"/>
              <a:t>Target tables </a:t>
            </a:r>
          </a:p>
          <a:p>
            <a:r>
              <a:rPr lang="en-IN" dirty="0"/>
              <a:t>Column dependencies </a:t>
            </a:r>
          </a:p>
          <a:p>
            <a:r>
              <a:rPr lang="en-IN" dirty="0"/>
              <a:t>Join relationships </a:t>
            </a:r>
          </a:p>
          <a:p>
            <a:r>
              <a:rPr lang="en-IN" b="1" dirty="0"/>
              <a:t>Use Case</a:t>
            </a:r>
          </a:p>
          <a:p>
            <a:r>
              <a:rPr lang="en-IN" dirty="0"/>
              <a:t>Automatically build lineage maps without manual documentation.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2198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Bar"/>
          <p:cNvSpPr/>
          <p:nvPr/>
        </p:nvSpPr>
        <p:spPr>
          <a:xfrm>
            <a:off x="914400" y="21488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LabTag"/>
          <p:cNvSpPr/>
          <p:nvPr/>
        </p:nvSpPr>
        <p:spPr>
          <a:xfrm>
            <a:off x="3657600" y="23774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1CADE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spc="400">
                <a:solidFill>
                  <a:srgbClr val="FFFFFF"/>
                </a:solidFill>
                <a:latin typeface="Trebuchet MS"/>
              </a:rPr>
              <a:t>LAB 1</a:t>
            </a:r>
          </a:p>
        </p:txBody>
      </p:sp>
      <p:sp>
        <p:nvSpPr>
          <p:cNvPr id="12" name="MainTitle"/>
          <p:cNvSpPr/>
          <p:nvPr/>
        </p:nvSpPr>
        <p:spPr>
          <a:xfrm>
            <a:off x="914400" y="314896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Trebuchet MS"/>
              </a:rPr>
              <a:t>Hands-On Activity</a:t>
            </a:r>
          </a:p>
        </p:txBody>
      </p:sp>
      <p:sp>
        <p:nvSpPr>
          <p:cNvPr id="13" name="Subtitle"/>
          <p:cNvSpPr/>
          <p:nvPr/>
        </p:nvSpPr>
        <p:spPr>
          <a:xfrm>
            <a:off x="1828800" y="41300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>
                <a:solidFill>
                  <a:srgbClr val="8BB8D0"/>
                </a:solidFill>
                <a:latin typeface="Calibri"/>
              </a:rPr>
              <a:t>Automated Lineage Extraction from SQL</a:t>
            </a:r>
          </a:p>
        </p:txBody>
      </p:sp>
      <p:sp>
        <p:nvSpPr>
          <p:cNvPr id="14" name="BottomBar"/>
          <p:cNvSpPr/>
          <p:nvPr/>
        </p:nvSpPr>
        <p:spPr>
          <a:xfrm>
            <a:off x="914400" y="48920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14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dbt Lineage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dbt DAGs</a:t>
            </a:r>
          </a:p>
          <a:p>
            <a:r>
              <a:t>Parse models and sources</a:t>
            </a:r>
          </a:p>
          <a:p>
            <a:r>
              <a:t>Track transformations</a:t>
            </a:r>
          </a:p>
          <a:p>
            <a:r>
              <a:t>Generate dependency relationships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14FDC-9E94-1C14-E6A3-46586AF5E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dbt</a:t>
            </a:r>
            <a:r>
              <a:rPr lang="en-IN" dirty="0"/>
              <a:t> Lineage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D47A3-E73B-486E-9192-FC1608920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857375"/>
            <a:ext cx="7290055" cy="4451985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What is </a:t>
            </a:r>
            <a:r>
              <a:rPr lang="en-IN" b="1" dirty="0" err="1"/>
              <a:t>dbt</a:t>
            </a:r>
            <a:r>
              <a:rPr lang="en-IN" b="1" dirty="0"/>
              <a:t>?</a:t>
            </a:r>
          </a:p>
          <a:p>
            <a:r>
              <a:rPr lang="en-IN" dirty="0" err="1"/>
              <a:t>dbt</a:t>
            </a:r>
            <a:r>
              <a:rPr lang="en-IN" dirty="0"/>
              <a:t> is a transformation framework used in analytics engineering.</a:t>
            </a:r>
          </a:p>
          <a:p>
            <a:r>
              <a:rPr lang="en-IN" b="1" dirty="0" err="1"/>
              <a:t>dbt</a:t>
            </a:r>
            <a:r>
              <a:rPr lang="en-IN" b="1" dirty="0"/>
              <a:t> DAG</a:t>
            </a:r>
          </a:p>
          <a:p>
            <a:r>
              <a:rPr lang="en-IN" dirty="0" err="1"/>
              <a:t>dbt</a:t>
            </a:r>
            <a:r>
              <a:rPr lang="en-IN" dirty="0"/>
              <a:t> creates Directed Acyclic Graphs (DAGs):</a:t>
            </a:r>
          </a:p>
          <a:p>
            <a:r>
              <a:rPr lang="en-IN" dirty="0"/>
              <a:t>Model dependencies </a:t>
            </a:r>
          </a:p>
          <a:p>
            <a:r>
              <a:rPr lang="en-IN" dirty="0"/>
              <a:t>Transformation chains </a:t>
            </a:r>
          </a:p>
          <a:p>
            <a:r>
              <a:rPr lang="en-IN" dirty="0"/>
              <a:t>Execution order </a:t>
            </a:r>
          </a:p>
          <a:p>
            <a:r>
              <a:rPr lang="en-IN" b="1" dirty="0"/>
              <a:t>AI Usage</a:t>
            </a:r>
          </a:p>
          <a:p>
            <a:r>
              <a:rPr lang="en-IN" dirty="0"/>
              <a:t>AI can:</a:t>
            </a:r>
          </a:p>
          <a:p>
            <a:r>
              <a:rPr lang="en-IN" dirty="0"/>
              <a:t>Parse </a:t>
            </a:r>
            <a:r>
              <a:rPr lang="en-IN" dirty="0" err="1"/>
              <a:t>dbt</a:t>
            </a:r>
            <a:r>
              <a:rPr lang="en-IN" dirty="0"/>
              <a:t> models </a:t>
            </a:r>
          </a:p>
          <a:p>
            <a:r>
              <a:rPr lang="en-IN" dirty="0"/>
              <a:t>Identify sources </a:t>
            </a:r>
          </a:p>
          <a:p>
            <a:r>
              <a:rPr lang="en-IN" dirty="0"/>
              <a:t>Build lineage relationships </a:t>
            </a:r>
          </a:p>
          <a:p>
            <a:r>
              <a:rPr lang="en-IN" dirty="0"/>
              <a:t>Explain transformations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2514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914400" y="21488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LabTag"/>
          <p:cNvSpPr/>
          <p:nvPr/>
        </p:nvSpPr>
        <p:spPr>
          <a:xfrm>
            <a:off x="3657600" y="23774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1CADE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spc="400">
                <a:solidFill>
                  <a:srgbClr val="FFFFFF"/>
                </a:solidFill>
                <a:latin typeface="Trebuchet MS"/>
              </a:rPr>
              <a:t>LAB 2</a:t>
            </a:r>
          </a:p>
        </p:txBody>
      </p:sp>
      <p:sp>
        <p:nvSpPr>
          <p:cNvPr id="12" name="MainTitle"/>
          <p:cNvSpPr/>
          <p:nvPr/>
        </p:nvSpPr>
        <p:spPr>
          <a:xfrm>
            <a:off x="914400" y="314896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Trebuchet MS"/>
              </a:rPr>
              <a:t>Hands-On Activity</a:t>
            </a:r>
          </a:p>
        </p:txBody>
      </p:sp>
      <p:sp>
        <p:nvSpPr>
          <p:cNvPr id="13" name="Subtitle"/>
          <p:cNvSpPr/>
          <p:nvPr/>
        </p:nvSpPr>
        <p:spPr>
          <a:xfrm>
            <a:off x="1828800" y="41300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>
                <a:solidFill>
                  <a:srgbClr val="8BB8D0"/>
                </a:solidFill>
                <a:latin typeface="Calibri"/>
              </a:rPr>
              <a:t>dbt Lineage Extraction</a:t>
            </a:r>
          </a:p>
        </p:txBody>
      </p:sp>
      <p:sp>
        <p:nvSpPr>
          <p:cNvPr id="14" name="BottomBar"/>
          <p:cNvSpPr/>
          <p:nvPr/>
        </p:nvSpPr>
        <p:spPr>
          <a:xfrm>
            <a:off x="914400" y="48920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865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Capabilities in Lineage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SQL semantics</a:t>
            </a:r>
          </a:p>
          <a:p>
            <a:r>
              <a:t>Extract business logic</a:t>
            </a:r>
          </a:p>
          <a:p>
            <a:r>
              <a:t>Generate column-level lineage</a:t>
            </a:r>
          </a:p>
          <a:p>
            <a:r>
              <a:t>Infer hidden dependencies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AA81F-17E2-BAB0-8E56-5AB886F52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581025"/>
            <a:ext cx="7290055" cy="5728335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How LLMs Help</a:t>
            </a:r>
          </a:p>
          <a:p>
            <a:r>
              <a:rPr lang="en-IN" dirty="0"/>
              <a:t>LLMs understand:</a:t>
            </a:r>
          </a:p>
          <a:p>
            <a:r>
              <a:rPr lang="en-IN" dirty="0"/>
              <a:t>SQL semantics </a:t>
            </a:r>
          </a:p>
          <a:p>
            <a:r>
              <a:rPr lang="en-IN" dirty="0"/>
              <a:t>Business meaning </a:t>
            </a:r>
          </a:p>
          <a:p>
            <a:r>
              <a:rPr lang="en-IN" dirty="0"/>
              <a:t>Transformation logic </a:t>
            </a:r>
          </a:p>
          <a:p>
            <a:r>
              <a:rPr lang="en-IN" b="1" dirty="0"/>
              <a:t>Example</a:t>
            </a:r>
          </a:p>
          <a:p>
            <a:r>
              <a:rPr lang="en-IN" dirty="0"/>
              <a:t>AI can infer:</a:t>
            </a:r>
          </a:p>
          <a:p>
            <a:r>
              <a:rPr lang="en-IN" dirty="0"/>
              <a:t>revenue = quantity * price</a:t>
            </a:r>
          </a:p>
          <a:p>
            <a:r>
              <a:rPr lang="en-IN" dirty="0"/>
              <a:t>Meaning:</a:t>
            </a:r>
            <a:br>
              <a:rPr lang="en-IN" dirty="0"/>
            </a:br>
            <a:r>
              <a:rPr lang="en-IN" dirty="0"/>
              <a:t>“Revenue calculation logic.”</a:t>
            </a:r>
          </a:p>
          <a:p>
            <a:r>
              <a:rPr lang="en-IN" b="1" dirty="0"/>
              <a:t>Advanced Features</a:t>
            </a:r>
          </a:p>
          <a:p>
            <a:r>
              <a:rPr lang="en-IN" dirty="0"/>
              <a:t>Column-level lineage </a:t>
            </a:r>
          </a:p>
          <a:p>
            <a:r>
              <a:rPr lang="en-IN" dirty="0"/>
              <a:t>Hidden dependency detection </a:t>
            </a:r>
          </a:p>
          <a:p>
            <a:r>
              <a:rPr lang="en-IN" dirty="0"/>
              <a:t>Business rule extraction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7288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table descriptions</a:t>
            </a:r>
          </a:p>
          <a:p>
            <a:r>
              <a:t>Track dataset ownership</a:t>
            </a:r>
          </a:p>
          <a:p>
            <a:r>
              <a:t>Maintain SLA information</a:t>
            </a:r>
          </a:p>
          <a:p>
            <a:r>
              <a:t>Apply governance tags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479E-6307-8066-61B3-2A7BBF61E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523875"/>
            <a:ext cx="7290055" cy="5785485"/>
          </a:xfrm>
        </p:spPr>
        <p:txBody>
          <a:bodyPr>
            <a:normAutofit/>
          </a:bodyPr>
          <a:lstStyle/>
          <a:p>
            <a:r>
              <a:rPr lang="en-IN" b="1" dirty="0"/>
              <a:t>What is Metadata?</a:t>
            </a:r>
          </a:p>
          <a:p>
            <a:r>
              <a:rPr lang="en-IN" dirty="0"/>
              <a:t>Metadata = “Data about data”</a:t>
            </a:r>
          </a:p>
          <a:p>
            <a:r>
              <a:rPr lang="en-IN" dirty="0"/>
              <a:t>Examples:</a:t>
            </a:r>
          </a:p>
          <a:p>
            <a:pPr lvl="1"/>
            <a:r>
              <a:rPr lang="en-IN" dirty="0"/>
              <a:t>Table descriptions </a:t>
            </a:r>
          </a:p>
          <a:p>
            <a:pPr lvl="1"/>
            <a:r>
              <a:rPr lang="en-IN" dirty="0"/>
              <a:t>Column definitions </a:t>
            </a:r>
          </a:p>
          <a:p>
            <a:pPr lvl="1"/>
            <a:r>
              <a:rPr lang="en-IN" dirty="0"/>
              <a:t>Owners </a:t>
            </a:r>
          </a:p>
          <a:p>
            <a:pPr lvl="1"/>
            <a:r>
              <a:rPr lang="en-IN" dirty="0"/>
              <a:t>SLAs </a:t>
            </a:r>
          </a:p>
          <a:p>
            <a:pPr lvl="1"/>
            <a:r>
              <a:rPr lang="en-IN" dirty="0"/>
              <a:t>Tags </a:t>
            </a:r>
          </a:p>
          <a:p>
            <a:r>
              <a:rPr lang="en-IN" b="1" dirty="0"/>
              <a:t>Importance</a:t>
            </a:r>
          </a:p>
          <a:p>
            <a:r>
              <a:rPr lang="en-IN" dirty="0"/>
              <a:t>Helps:</a:t>
            </a:r>
          </a:p>
          <a:p>
            <a:pPr lvl="1"/>
            <a:r>
              <a:rPr lang="en-IN" dirty="0"/>
              <a:t>Discover datasets </a:t>
            </a:r>
          </a:p>
          <a:p>
            <a:pPr lvl="1"/>
            <a:r>
              <a:rPr lang="en-IN" dirty="0"/>
              <a:t>Understand usage </a:t>
            </a:r>
          </a:p>
          <a:p>
            <a:pPr lvl="1"/>
            <a:r>
              <a:rPr lang="en-IN" dirty="0"/>
              <a:t>Improve governance </a:t>
            </a:r>
          </a:p>
          <a:p>
            <a:pPr lvl="1"/>
            <a:r>
              <a:rPr lang="en-IN" dirty="0"/>
              <a:t>Increase trust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7059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Metadata Tagging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business tags</a:t>
            </a:r>
          </a:p>
          <a:p>
            <a:r>
              <a:t>Apply sensitivity labels</a:t>
            </a:r>
          </a:p>
          <a:p>
            <a:r>
              <a:t>Classify datasets automatically</a:t>
            </a:r>
          </a:p>
          <a:p>
            <a:r>
              <a:t>Enhance discoverability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446B3-AA5C-5FF5-2420-39D7C7B65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457200"/>
            <a:ext cx="7290055" cy="5852160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Automatic Classification</a:t>
            </a:r>
          </a:p>
          <a:p>
            <a:r>
              <a:rPr lang="en-IN" dirty="0"/>
              <a:t>AI automatically adds:</a:t>
            </a:r>
          </a:p>
          <a:p>
            <a:pPr lvl="1"/>
            <a:r>
              <a:rPr lang="en-IN" dirty="0"/>
              <a:t>Business tags </a:t>
            </a:r>
          </a:p>
          <a:p>
            <a:pPr lvl="1"/>
            <a:r>
              <a:rPr lang="en-IN" dirty="0"/>
              <a:t>Sensitivity labels </a:t>
            </a:r>
          </a:p>
          <a:p>
            <a:pPr lvl="1"/>
            <a:r>
              <a:rPr lang="en-IN" dirty="0"/>
              <a:t>Domain classifications </a:t>
            </a:r>
          </a:p>
          <a:p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Column:</a:t>
            </a:r>
          </a:p>
          <a:p>
            <a:r>
              <a:rPr lang="en-IN" dirty="0" err="1"/>
              <a:t>customer_email</a:t>
            </a:r>
            <a:endParaRPr lang="en-IN" dirty="0"/>
          </a:p>
          <a:p>
            <a:r>
              <a:rPr lang="en-IN" dirty="0"/>
              <a:t>AI Tags:</a:t>
            </a:r>
          </a:p>
          <a:p>
            <a:pPr lvl="1"/>
            <a:r>
              <a:rPr lang="en-IN" dirty="0"/>
              <a:t>PII </a:t>
            </a:r>
          </a:p>
          <a:p>
            <a:pPr lvl="1"/>
            <a:r>
              <a:rPr lang="en-IN" dirty="0"/>
              <a:t>Sensitive </a:t>
            </a:r>
          </a:p>
          <a:p>
            <a:pPr lvl="1"/>
            <a:r>
              <a:rPr lang="en-IN" dirty="0"/>
              <a:t>Customer Data </a:t>
            </a:r>
          </a:p>
          <a:p>
            <a:r>
              <a:rPr lang="en-IN" b="1" dirty="0"/>
              <a:t>Benefits</a:t>
            </a:r>
          </a:p>
          <a:p>
            <a:r>
              <a:rPr lang="en-IN" dirty="0"/>
              <a:t>Faster </a:t>
            </a:r>
            <a:r>
              <a:rPr lang="en-IN" dirty="0" err="1"/>
              <a:t>cataloging</a:t>
            </a:r>
            <a:r>
              <a:rPr lang="en-IN" dirty="0"/>
              <a:t> </a:t>
            </a:r>
          </a:p>
          <a:p>
            <a:r>
              <a:rPr lang="en-IN" dirty="0"/>
              <a:t>Better searchability </a:t>
            </a:r>
          </a:p>
          <a:p>
            <a:r>
              <a:rPr lang="en-IN" dirty="0"/>
              <a:t>Reduced manual effort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165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914400" y="21488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LabTag"/>
          <p:cNvSpPr/>
          <p:nvPr/>
        </p:nvSpPr>
        <p:spPr>
          <a:xfrm>
            <a:off x="3657600" y="23774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1CADE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spc="400">
                <a:solidFill>
                  <a:srgbClr val="FFFFFF"/>
                </a:solidFill>
                <a:latin typeface="Trebuchet MS"/>
              </a:rPr>
              <a:t>LAB 3</a:t>
            </a:r>
          </a:p>
        </p:txBody>
      </p:sp>
      <p:sp>
        <p:nvSpPr>
          <p:cNvPr id="12" name="MainTitle"/>
          <p:cNvSpPr/>
          <p:nvPr/>
        </p:nvSpPr>
        <p:spPr>
          <a:xfrm>
            <a:off x="914400" y="314896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Trebuchet MS"/>
              </a:rPr>
              <a:t>Hands-On Activity</a:t>
            </a:r>
          </a:p>
        </p:txBody>
      </p:sp>
      <p:sp>
        <p:nvSpPr>
          <p:cNvPr id="13" name="Subtitle"/>
          <p:cNvSpPr/>
          <p:nvPr/>
        </p:nvSpPr>
        <p:spPr>
          <a:xfrm>
            <a:off x="1828800" y="41300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>
                <a:solidFill>
                  <a:srgbClr val="8BB8D0"/>
                </a:solidFill>
                <a:latin typeface="Calibri"/>
              </a:rPr>
              <a:t>AI-Powered Metadata Tagging</a:t>
            </a:r>
          </a:p>
        </p:txBody>
      </p:sp>
      <p:sp>
        <p:nvSpPr>
          <p:cNvPr id="14" name="BottomBar"/>
          <p:cNvSpPr/>
          <p:nvPr/>
        </p:nvSpPr>
        <p:spPr>
          <a:xfrm>
            <a:off x="914400" y="48920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402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Glossary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business definitions</a:t>
            </a:r>
          </a:p>
          <a:p>
            <a:r>
              <a:t>Standardize terminology</a:t>
            </a:r>
          </a:p>
          <a:p>
            <a:r>
              <a:t>Improve governance consistency</a:t>
            </a:r>
          </a:p>
          <a:p>
            <a:r>
              <a:t>Automate glossary updates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D2890-8220-353B-165D-F6ABDF75E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619125"/>
            <a:ext cx="7290055" cy="5690235"/>
          </a:xfrm>
        </p:spPr>
        <p:txBody>
          <a:bodyPr>
            <a:normAutofit/>
          </a:bodyPr>
          <a:lstStyle/>
          <a:p>
            <a:r>
              <a:rPr lang="en-US" b="1" dirty="0"/>
              <a:t>Business Glossary</a:t>
            </a:r>
          </a:p>
          <a:p>
            <a:r>
              <a:rPr lang="en-US" dirty="0"/>
              <a:t>A glossary standardizes business terms.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b="1" dirty="0"/>
              <a:t>AI Contribution</a:t>
            </a:r>
          </a:p>
          <a:p>
            <a:r>
              <a:rPr lang="en-IN" dirty="0"/>
              <a:t>LLMs generate:</a:t>
            </a:r>
          </a:p>
          <a:p>
            <a:pPr lvl="1"/>
            <a:r>
              <a:rPr lang="en-IN" dirty="0"/>
              <a:t>Definitions </a:t>
            </a:r>
          </a:p>
          <a:p>
            <a:pPr lvl="1"/>
            <a:r>
              <a:rPr lang="en-IN" dirty="0"/>
              <a:t>Descriptions </a:t>
            </a:r>
          </a:p>
          <a:p>
            <a:pPr lvl="1"/>
            <a:r>
              <a:rPr lang="en-IN" dirty="0"/>
              <a:t>Synonyms </a:t>
            </a:r>
          </a:p>
          <a:p>
            <a:pPr lvl="1"/>
            <a:r>
              <a:rPr lang="en-IN" dirty="0"/>
              <a:t>Business context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3BE948-2CC4-5D41-43D6-4C1961D63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524744"/>
              </p:ext>
            </p:extLst>
          </p:nvPr>
        </p:nvGraphicFramePr>
        <p:xfrm>
          <a:off x="927100" y="2196338"/>
          <a:ext cx="7289800" cy="12326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44900">
                  <a:extLst>
                    <a:ext uri="{9D8B030D-6E8A-4147-A177-3AD203B41FA5}">
                      <a16:colId xmlns:a16="http://schemas.microsoft.com/office/drawing/2014/main" val="3302703851"/>
                    </a:ext>
                  </a:extLst>
                </a:gridCol>
                <a:gridCol w="3644900">
                  <a:extLst>
                    <a:ext uri="{9D8B030D-6E8A-4147-A177-3AD203B41FA5}">
                      <a16:colId xmlns:a16="http://schemas.microsoft.com/office/drawing/2014/main" val="4227985743"/>
                    </a:ext>
                  </a:extLst>
                </a:gridCol>
              </a:tblGrid>
              <a:tr h="4108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Term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Definition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9637414"/>
                  </a:ext>
                </a:extLst>
              </a:tr>
              <a:tr h="4108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ARR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Annual Recurring Revenue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43564093"/>
                  </a:ext>
                </a:extLst>
              </a:tr>
              <a:tr h="4108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Active Customer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Customer active in last 30 days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25004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2657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914400" y="21488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LabTag"/>
          <p:cNvSpPr/>
          <p:nvPr/>
        </p:nvSpPr>
        <p:spPr>
          <a:xfrm>
            <a:off x="3657600" y="23774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1CADE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spc="400">
                <a:solidFill>
                  <a:srgbClr val="FFFFFF"/>
                </a:solidFill>
                <a:latin typeface="Trebuchet MS"/>
              </a:rPr>
              <a:t>LAB 4</a:t>
            </a:r>
          </a:p>
        </p:txBody>
      </p:sp>
      <p:sp>
        <p:nvSpPr>
          <p:cNvPr id="12" name="MainTitle"/>
          <p:cNvSpPr/>
          <p:nvPr/>
        </p:nvSpPr>
        <p:spPr>
          <a:xfrm>
            <a:off x="914400" y="314896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Trebuchet MS"/>
              </a:rPr>
              <a:t>Hands-On Activity</a:t>
            </a:r>
          </a:p>
        </p:txBody>
      </p:sp>
      <p:sp>
        <p:nvSpPr>
          <p:cNvPr id="13" name="Subtitle"/>
          <p:cNvSpPr/>
          <p:nvPr/>
        </p:nvSpPr>
        <p:spPr>
          <a:xfrm>
            <a:off x="1828800" y="41300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>
                <a:solidFill>
                  <a:srgbClr val="8BB8D0"/>
                </a:solidFill>
                <a:latin typeface="Calibri"/>
              </a:rPr>
              <a:t>Business Glossary Generation</a:t>
            </a:r>
          </a:p>
        </p:txBody>
      </p:sp>
      <p:sp>
        <p:nvSpPr>
          <p:cNvPr id="14" name="BottomBar"/>
          <p:cNvSpPr/>
          <p:nvPr/>
        </p:nvSpPr>
        <p:spPr>
          <a:xfrm>
            <a:off x="914400" y="48920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177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PII and Sensitive Data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personal data</a:t>
            </a:r>
          </a:p>
          <a:p>
            <a:r>
              <a:t>Classify sensitive records</a:t>
            </a:r>
          </a:p>
          <a:p>
            <a:r>
              <a:t>Monitor confidential information</a:t>
            </a:r>
          </a:p>
          <a:p>
            <a:r>
              <a:t>Apply governance policies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DF398-29B9-C959-7BB2-BDFE71188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923925"/>
            <a:ext cx="7290055" cy="5385435"/>
          </a:xfrm>
        </p:spPr>
        <p:txBody>
          <a:bodyPr>
            <a:normAutofit/>
          </a:bodyPr>
          <a:lstStyle/>
          <a:p>
            <a:r>
              <a:rPr lang="en-US" b="1" dirty="0"/>
              <a:t>What is PII?</a:t>
            </a:r>
          </a:p>
          <a:p>
            <a:r>
              <a:rPr lang="en-US" dirty="0"/>
              <a:t>Personally Identifiable Information:</a:t>
            </a:r>
          </a:p>
          <a:p>
            <a:pPr lvl="1"/>
            <a:r>
              <a:rPr lang="en-US" dirty="0"/>
              <a:t>Email </a:t>
            </a:r>
          </a:p>
          <a:p>
            <a:pPr lvl="1"/>
            <a:r>
              <a:rPr lang="en-US" dirty="0"/>
              <a:t>Phone number </a:t>
            </a:r>
          </a:p>
          <a:p>
            <a:pPr lvl="1"/>
            <a:r>
              <a:rPr lang="en-US" dirty="0"/>
              <a:t>Aadhaar </a:t>
            </a:r>
          </a:p>
          <a:p>
            <a:pPr lvl="1"/>
            <a:r>
              <a:rPr lang="en-US" dirty="0"/>
              <a:t>PAN </a:t>
            </a:r>
          </a:p>
          <a:p>
            <a:pPr lvl="1"/>
            <a:r>
              <a:rPr lang="en-US" dirty="0"/>
              <a:t>Credit card </a:t>
            </a:r>
          </a:p>
          <a:p>
            <a:r>
              <a:rPr lang="en-US" b="1" dirty="0"/>
              <a:t>AI Tasks</a:t>
            </a:r>
          </a:p>
          <a:p>
            <a:pPr lvl="1"/>
            <a:r>
              <a:rPr lang="en-US" dirty="0"/>
              <a:t>Detect sensitive fields </a:t>
            </a:r>
          </a:p>
          <a:p>
            <a:pPr lvl="1"/>
            <a:r>
              <a:rPr lang="en-US" dirty="0"/>
              <a:t>Monitor confidential data </a:t>
            </a:r>
          </a:p>
          <a:p>
            <a:pPr lvl="1"/>
            <a:r>
              <a:rPr lang="en-US" dirty="0"/>
              <a:t>Trigger governance actions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0572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PII Detection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Regex-based detection</a:t>
            </a:r>
          </a:p>
          <a:p>
            <a:r>
              <a:t>NLP-based classification</a:t>
            </a:r>
          </a:p>
          <a:p>
            <a:r>
              <a:t>LLM semantic understanding</a:t>
            </a:r>
          </a:p>
          <a:p>
            <a:r>
              <a:t>Context-aware analysis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5A7C6-D8CA-32E6-2762-26C300F5E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590550"/>
            <a:ext cx="7290055" cy="5718810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1. Regex-Based Detection</a:t>
            </a:r>
          </a:p>
          <a:p>
            <a:r>
              <a:rPr lang="en-IN" dirty="0"/>
              <a:t>Pattern matching.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\d{4}-\d{4}-\d{4}-\d{4}</a:t>
            </a:r>
          </a:p>
          <a:p>
            <a:r>
              <a:rPr lang="en-IN" dirty="0"/>
              <a:t>Detects credit cards.</a:t>
            </a:r>
          </a:p>
          <a:p>
            <a:r>
              <a:rPr lang="en-IN" b="1" dirty="0"/>
              <a:t>2. NLP-Based Classification</a:t>
            </a:r>
          </a:p>
          <a:p>
            <a:r>
              <a:rPr lang="en-IN" dirty="0"/>
              <a:t>AI understands language meaning.</a:t>
            </a:r>
          </a:p>
          <a:p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“Patient medical record number”</a:t>
            </a:r>
          </a:p>
          <a:p>
            <a:r>
              <a:rPr lang="en-IN" b="1" dirty="0"/>
              <a:t>3. LLM Semantic Understanding</a:t>
            </a:r>
          </a:p>
          <a:p>
            <a:r>
              <a:rPr lang="en-IN" dirty="0"/>
              <a:t>LLM understands context.</a:t>
            </a:r>
          </a:p>
          <a:p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Column name:</a:t>
            </a:r>
          </a:p>
          <a:p>
            <a:r>
              <a:rPr lang="en-IN" dirty="0" err="1"/>
              <a:t>contact_info</a:t>
            </a:r>
            <a:endParaRPr lang="en-IN" dirty="0"/>
          </a:p>
          <a:p>
            <a:r>
              <a:rPr lang="en-IN" dirty="0"/>
              <a:t>Could contain phone/email.</a:t>
            </a:r>
          </a:p>
          <a:p>
            <a:r>
              <a:rPr lang="en-IN" b="1" dirty="0"/>
              <a:t>4. Context-Aware Analysis</a:t>
            </a:r>
          </a:p>
          <a:p>
            <a:r>
              <a:rPr lang="en-IN" dirty="0"/>
              <a:t>Looks at </a:t>
            </a:r>
            <a:r>
              <a:rPr lang="en-IN" dirty="0" err="1"/>
              <a:t>neighboring</a:t>
            </a:r>
            <a:r>
              <a:rPr lang="en-IN" dirty="0"/>
              <a:t> columns and dataset context.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00515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914400" y="21488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LabTag"/>
          <p:cNvSpPr/>
          <p:nvPr/>
        </p:nvSpPr>
        <p:spPr>
          <a:xfrm>
            <a:off x="3657600" y="23774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1CADE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spc="400">
                <a:solidFill>
                  <a:srgbClr val="FFFFFF"/>
                </a:solidFill>
                <a:latin typeface="Trebuchet MS"/>
              </a:rPr>
              <a:t>LAB 5</a:t>
            </a:r>
          </a:p>
        </p:txBody>
      </p:sp>
      <p:sp>
        <p:nvSpPr>
          <p:cNvPr id="12" name="MainTitle"/>
          <p:cNvSpPr/>
          <p:nvPr/>
        </p:nvSpPr>
        <p:spPr>
          <a:xfrm>
            <a:off x="914400" y="314896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Trebuchet MS"/>
              </a:rPr>
              <a:t>Hands-On Activity</a:t>
            </a:r>
          </a:p>
        </p:txBody>
      </p:sp>
      <p:sp>
        <p:nvSpPr>
          <p:cNvPr id="13" name="Subtitle"/>
          <p:cNvSpPr/>
          <p:nvPr/>
        </p:nvSpPr>
        <p:spPr>
          <a:xfrm>
            <a:off x="1828800" y="41300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>
                <a:solidFill>
                  <a:srgbClr val="8BB8D0"/>
                </a:solidFill>
                <a:latin typeface="Calibri"/>
              </a:rPr>
              <a:t>PII and Sensitive Data Discovery</a:t>
            </a:r>
          </a:p>
        </p:txBody>
      </p:sp>
      <p:sp>
        <p:nvSpPr>
          <p:cNvPr id="14" name="BottomBar"/>
          <p:cNvSpPr/>
          <p:nvPr/>
        </p:nvSpPr>
        <p:spPr>
          <a:xfrm>
            <a:off x="914400" y="48920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86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Sensitive Data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r>
              <a:t>Internal</a:t>
            </a:r>
          </a:p>
          <a:p>
            <a:r>
              <a:t>Confidential</a:t>
            </a:r>
          </a:p>
          <a:p>
            <a:r>
              <a:t>Restricted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820C4-5C24-0787-D664-9DC57B5E0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752475"/>
            <a:ext cx="7290055" cy="5556885"/>
          </a:xfrm>
        </p:spPr>
        <p:txBody>
          <a:bodyPr>
            <a:normAutofit/>
          </a:bodyPr>
          <a:lstStyle/>
          <a:p>
            <a:r>
              <a:rPr lang="en-US" b="1" dirty="0"/>
              <a:t>Classification Levels</a:t>
            </a:r>
          </a:p>
          <a:p>
            <a:r>
              <a:rPr lang="en-US" b="1" dirty="0"/>
              <a:t>Public</a:t>
            </a:r>
          </a:p>
          <a:p>
            <a:pPr lvl="1"/>
            <a:r>
              <a:rPr lang="en-US" dirty="0"/>
              <a:t>Anyone can access.</a:t>
            </a:r>
          </a:p>
          <a:p>
            <a:r>
              <a:rPr lang="en-US" b="1" dirty="0"/>
              <a:t>Internal</a:t>
            </a:r>
          </a:p>
          <a:p>
            <a:pPr lvl="1"/>
            <a:r>
              <a:rPr lang="en-US" dirty="0"/>
              <a:t>Company-only access.</a:t>
            </a:r>
          </a:p>
          <a:p>
            <a:r>
              <a:rPr lang="en-US" b="1" dirty="0"/>
              <a:t>Confidential</a:t>
            </a:r>
          </a:p>
          <a:p>
            <a:pPr lvl="1"/>
            <a:r>
              <a:rPr lang="en-US" dirty="0"/>
              <a:t>Restricted business information.</a:t>
            </a:r>
          </a:p>
          <a:p>
            <a:r>
              <a:rPr lang="en-US" b="1" dirty="0"/>
              <a:t>Restricted</a:t>
            </a:r>
          </a:p>
          <a:p>
            <a:pPr lvl="1"/>
            <a:r>
              <a:rPr lang="en-US" dirty="0"/>
              <a:t>Highly sensitive data.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Medical records </a:t>
            </a:r>
          </a:p>
          <a:p>
            <a:r>
              <a:rPr lang="en-US" dirty="0"/>
              <a:t>Financial data </a:t>
            </a:r>
          </a:p>
          <a:p>
            <a:r>
              <a:rPr lang="en-US" dirty="0"/>
              <a:t>Government IDs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99923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AI-Generated Governance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retention policies</a:t>
            </a:r>
          </a:p>
          <a:p>
            <a:r>
              <a:t>Define access controls</a:t>
            </a:r>
          </a:p>
          <a:p>
            <a:r>
              <a:t>Create classification rules</a:t>
            </a:r>
          </a:p>
          <a:p>
            <a:r>
              <a:t>Draft compliance documents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D4F35-DDDB-FC1A-6686-F33E68A24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781050"/>
            <a:ext cx="7290055" cy="5528310"/>
          </a:xfrm>
        </p:spPr>
        <p:txBody>
          <a:bodyPr>
            <a:normAutofit/>
          </a:bodyPr>
          <a:lstStyle/>
          <a:p>
            <a:r>
              <a:rPr lang="en-US" b="1" dirty="0"/>
              <a:t>AI Can Draft Policies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Retention policy </a:t>
            </a:r>
          </a:p>
          <a:p>
            <a:pPr lvl="1"/>
            <a:r>
              <a:rPr lang="en-US" dirty="0"/>
              <a:t>Access policy </a:t>
            </a:r>
          </a:p>
          <a:p>
            <a:pPr lvl="1"/>
            <a:r>
              <a:rPr lang="en-US" dirty="0"/>
              <a:t>Classification rules </a:t>
            </a:r>
          </a:p>
          <a:p>
            <a:pPr lvl="1"/>
            <a:r>
              <a:rPr lang="en-US" dirty="0"/>
              <a:t>Compliance documents 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AI generates:</a:t>
            </a:r>
            <a:br>
              <a:rPr lang="en-US" dirty="0"/>
            </a:br>
            <a:r>
              <a:rPr lang="en-US" dirty="0"/>
              <a:t>“Delete customer records after 7 years.”</a:t>
            </a:r>
          </a:p>
          <a:p>
            <a:r>
              <a:rPr lang="en-US" b="1" dirty="0"/>
              <a:t>Benefits</a:t>
            </a:r>
          </a:p>
          <a:p>
            <a:pPr lvl="1"/>
            <a:r>
              <a:rPr lang="en-US" dirty="0"/>
              <a:t>Faster governance rollout </a:t>
            </a:r>
          </a:p>
          <a:p>
            <a:pPr lvl="1"/>
            <a:r>
              <a:rPr lang="en-US" dirty="0"/>
              <a:t>Standardized policies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9638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914400" y="21488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LabTag"/>
          <p:cNvSpPr/>
          <p:nvPr/>
        </p:nvSpPr>
        <p:spPr>
          <a:xfrm>
            <a:off x="3657600" y="23774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1CADE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spc="400">
                <a:solidFill>
                  <a:srgbClr val="FFFFFF"/>
                </a:solidFill>
                <a:latin typeface="Trebuchet MS"/>
              </a:rPr>
              <a:t>LAB 6</a:t>
            </a:r>
          </a:p>
        </p:txBody>
      </p:sp>
      <p:sp>
        <p:nvSpPr>
          <p:cNvPr id="12" name="MainTitle"/>
          <p:cNvSpPr/>
          <p:nvPr/>
        </p:nvSpPr>
        <p:spPr>
          <a:xfrm>
            <a:off x="914400" y="314896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Trebuchet MS"/>
              </a:rPr>
              <a:t>Hands-On Activity</a:t>
            </a:r>
          </a:p>
        </p:txBody>
      </p:sp>
      <p:sp>
        <p:nvSpPr>
          <p:cNvPr id="13" name="Subtitle"/>
          <p:cNvSpPr/>
          <p:nvPr/>
        </p:nvSpPr>
        <p:spPr>
          <a:xfrm>
            <a:off x="1828800" y="41300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>
                <a:solidFill>
                  <a:srgbClr val="8BB8D0"/>
                </a:solidFill>
                <a:latin typeface="Calibri"/>
              </a:rPr>
              <a:t>AI-Generated Governance Policies</a:t>
            </a:r>
          </a:p>
        </p:txBody>
      </p:sp>
      <p:sp>
        <p:nvSpPr>
          <p:cNvPr id="14" name="BottomBar"/>
          <p:cNvSpPr/>
          <p:nvPr/>
        </p:nvSpPr>
        <p:spPr>
          <a:xfrm>
            <a:off x="914400" y="48920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9872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Catalogue Enrichment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Data </a:t>
            </a:r>
            <a:r>
              <a:rPr lang="en-IN" b="1" dirty="0" err="1"/>
              <a:t>Catalog</a:t>
            </a:r>
            <a:r>
              <a:rPr lang="en-IN" b="1" dirty="0"/>
              <a:t> Enhancement</a:t>
            </a:r>
          </a:p>
          <a:p>
            <a:r>
              <a:rPr lang="en-IN" dirty="0"/>
              <a:t>AI improves </a:t>
            </a:r>
            <a:r>
              <a:rPr lang="en-IN" dirty="0" err="1"/>
              <a:t>catalogs</a:t>
            </a:r>
            <a:r>
              <a:rPr lang="en-IN" dirty="0"/>
              <a:t> by:</a:t>
            </a:r>
          </a:p>
          <a:p>
            <a:pPr lvl="1"/>
            <a:r>
              <a:rPr lang="en-IN" dirty="0"/>
              <a:t>Generating descriptions </a:t>
            </a:r>
          </a:p>
          <a:p>
            <a:pPr lvl="1"/>
            <a:r>
              <a:rPr lang="en-IN" dirty="0"/>
              <a:t>Suggesting owners </a:t>
            </a:r>
          </a:p>
          <a:p>
            <a:pPr lvl="1"/>
            <a:r>
              <a:rPr lang="en-IN" dirty="0"/>
              <a:t>Adding tags </a:t>
            </a:r>
          </a:p>
          <a:p>
            <a:pPr lvl="1"/>
            <a:r>
              <a:rPr lang="en-IN" dirty="0"/>
              <a:t>Recommending SLAs </a:t>
            </a:r>
          </a:p>
          <a:p>
            <a:r>
              <a:rPr lang="en-IN" b="1" dirty="0"/>
              <a:t>Result</a:t>
            </a:r>
          </a:p>
          <a:p>
            <a:r>
              <a:rPr lang="en-IN" dirty="0"/>
              <a:t>Better data discoverability.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AI-Generated Dataset Descriptions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Automatic Documentation</a:t>
            </a:r>
          </a:p>
          <a:p>
            <a:r>
              <a:rPr lang="en-IN" dirty="0"/>
              <a:t>AI summarizes:</a:t>
            </a:r>
          </a:p>
          <a:p>
            <a:pPr lvl="1"/>
            <a:r>
              <a:rPr lang="en-IN" dirty="0"/>
              <a:t>Dataset purpose </a:t>
            </a:r>
          </a:p>
          <a:p>
            <a:pPr lvl="1"/>
            <a:r>
              <a:rPr lang="en-IN" dirty="0"/>
              <a:t>Business meaning </a:t>
            </a:r>
          </a:p>
          <a:p>
            <a:pPr lvl="1"/>
            <a:r>
              <a:rPr lang="en-IN" dirty="0"/>
              <a:t>Column usage </a:t>
            </a:r>
          </a:p>
          <a:p>
            <a:r>
              <a:rPr lang="en-IN" b="1" dirty="0"/>
              <a:t>Example</a:t>
            </a:r>
          </a:p>
          <a:p>
            <a:r>
              <a:rPr lang="en-IN" dirty="0"/>
              <a:t>“Contains monthly sales transactions across retail stores.”</a:t>
            </a:r>
          </a:p>
          <a:p>
            <a:r>
              <a:rPr lang="en-IN" b="1" dirty="0"/>
              <a:t>Benefit</a:t>
            </a:r>
          </a:p>
          <a:p>
            <a:r>
              <a:rPr lang="en-IN" dirty="0"/>
              <a:t>Reduces documentation burden.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914400" y="21488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LabTag"/>
          <p:cNvSpPr/>
          <p:nvPr/>
        </p:nvSpPr>
        <p:spPr>
          <a:xfrm>
            <a:off x="3657600" y="23774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1CADE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spc="400">
                <a:solidFill>
                  <a:srgbClr val="FFFFFF"/>
                </a:solidFill>
                <a:latin typeface="Trebuchet MS"/>
              </a:rPr>
              <a:t>LAB 7</a:t>
            </a:r>
          </a:p>
        </p:txBody>
      </p:sp>
      <p:sp>
        <p:nvSpPr>
          <p:cNvPr id="12" name="MainTitle"/>
          <p:cNvSpPr/>
          <p:nvPr/>
        </p:nvSpPr>
        <p:spPr>
          <a:xfrm>
            <a:off x="914400" y="314896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Trebuchet MS"/>
              </a:rPr>
              <a:t>Hands-On Activity</a:t>
            </a:r>
          </a:p>
        </p:txBody>
      </p:sp>
      <p:sp>
        <p:nvSpPr>
          <p:cNvPr id="13" name="Subtitle"/>
          <p:cNvSpPr/>
          <p:nvPr/>
        </p:nvSpPr>
        <p:spPr>
          <a:xfrm>
            <a:off x="1828800" y="41300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>
                <a:solidFill>
                  <a:srgbClr val="8BB8D0"/>
                </a:solidFill>
                <a:latin typeface="Calibri"/>
              </a:rPr>
              <a:t>AI-Generated Dataset Descriptions</a:t>
            </a:r>
          </a:p>
        </p:txBody>
      </p:sp>
      <p:sp>
        <p:nvSpPr>
          <p:cNvPr id="14" name="BottomBar"/>
          <p:cNvSpPr/>
          <p:nvPr/>
        </p:nvSpPr>
        <p:spPr>
          <a:xfrm>
            <a:off x="914400" y="48920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1609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Ownership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Analyze Git history</a:t>
            </a:r>
          </a:p>
          <a:p>
            <a:r>
              <a:rPr dirty="0"/>
              <a:t>Monitor query logs</a:t>
            </a:r>
          </a:p>
          <a:p>
            <a:r>
              <a:rPr dirty="0"/>
              <a:t>Track access patterns</a:t>
            </a:r>
          </a:p>
          <a:p>
            <a:r>
              <a:rPr dirty="0"/>
              <a:t>Infer responsible teams</a:t>
            </a:r>
            <a:endParaRPr lang="en-US" dirty="0"/>
          </a:p>
          <a:p>
            <a:r>
              <a:rPr lang="en-US" b="1" dirty="0"/>
              <a:t>AI Infers Dataset Owners</a:t>
            </a:r>
          </a:p>
          <a:p>
            <a:r>
              <a:rPr lang="en-US" dirty="0"/>
              <a:t>Methods:</a:t>
            </a:r>
          </a:p>
          <a:p>
            <a:pPr lvl="1"/>
            <a:r>
              <a:rPr lang="en-US" dirty="0"/>
              <a:t>Git history </a:t>
            </a:r>
          </a:p>
          <a:p>
            <a:pPr lvl="1"/>
            <a:r>
              <a:rPr lang="en-US" dirty="0"/>
              <a:t>Query logs </a:t>
            </a:r>
          </a:p>
          <a:p>
            <a:pPr lvl="1"/>
            <a:r>
              <a:rPr lang="en-US" dirty="0"/>
              <a:t>Access patterns </a:t>
            </a:r>
          </a:p>
          <a:p>
            <a:pPr lvl="1"/>
            <a:r>
              <a:rPr lang="en-US" b="1" dirty="0"/>
              <a:t>Example</a:t>
            </a:r>
          </a:p>
          <a:p>
            <a:r>
              <a:rPr lang="en-US" dirty="0"/>
              <a:t>If Team A modifies a dataset frequently:</a:t>
            </a:r>
            <a:br>
              <a:rPr lang="en-US" dirty="0"/>
            </a:br>
            <a:r>
              <a:rPr lang="en-US" dirty="0"/>
              <a:t>→ AI suggests Team A as owner.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 Recommendation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084832"/>
            <a:ext cx="7290055" cy="4224528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Suggest refresh frequency</a:t>
            </a:r>
          </a:p>
          <a:p>
            <a:r>
              <a:rPr dirty="0"/>
              <a:t>Recommend availability targets</a:t>
            </a:r>
          </a:p>
          <a:p>
            <a:r>
              <a:rPr dirty="0"/>
              <a:t>Estimate retention periods</a:t>
            </a:r>
          </a:p>
          <a:p>
            <a:r>
              <a:rPr dirty="0"/>
              <a:t>Improve governance visibility</a:t>
            </a:r>
            <a:endParaRPr lang="en-US" dirty="0"/>
          </a:p>
          <a:p>
            <a:r>
              <a:rPr lang="en-US" b="1" dirty="0"/>
              <a:t>SLA = Service Level Agreement</a:t>
            </a:r>
          </a:p>
          <a:p>
            <a:r>
              <a:rPr lang="en-US" dirty="0"/>
              <a:t>Defines:</a:t>
            </a:r>
          </a:p>
          <a:p>
            <a:pPr lvl="1"/>
            <a:r>
              <a:rPr lang="en-US" dirty="0"/>
              <a:t>Refresh frequency </a:t>
            </a:r>
          </a:p>
          <a:p>
            <a:pPr lvl="1"/>
            <a:r>
              <a:rPr lang="en-US" dirty="0"/>
              <a:t>Availability expectations </a:t>
            </a:r>
          </a:p>
          <a:p>
            <a:pPr lvl="1"/>
            <a:r>
              <a:rPr lang="en-US" dirty="0"/>
              <a:t>Retention duration </a:t>
            </a:r>
          </a:p>
          <a:p>
            <a:r>
              <a:rPr lang="en-US" b="1" dirty="0"/>
              <a:t>AI Suggestions</a:t>
            </a:r>
          </a:p>
          <a:p>
            <a:pPr lvl="1"/>
            <a:r>
              <a:rPr lang="en-US" dirty="0"/>
              <a:t>Hourly refresh </a:t>
            </a:r>
          </a:p>
          <a:p>
            <a:pPr lvl="1"/>
            <a:r>
              <a:rPr lang="en-US" dirty="0"/>
              <a:t>99.9% uptime </a:t>
            </a:r>
          </a:p>
          <a:p>
            <a:pPr lvl="1"/>
            <a:r>
              <a:rPr lang="en-US" dirty="0"/>
              <a:t>5-year retention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GDPR</a:t>
            </a:r>
            <a:endParaRPr lang="en-US" dirty="0"/>
          </a:p>
          <a:p>
            <a:pPr lvl="1"/>
            <a:r>
              <a:rPr lang="en-IN" dirty="0"/>
              <a:t>European privacy regulation.</a:t>
            </a:r>
            <a:endParaRPr dirty="0"/>
          </a:p>
          <a:p>
            <a:r>
              <a:rPr dirty="0"/>
              <a:t>HIPAA</a:t>
            </a:r>
            <a:endParaRPr lang="en-US" dirty="0"/>
          </a:p>
          <a:p>
            <a:pPr lvl="1"/>
            <a:r>
              <a:rPr lang="en-IN" dirty="0"/>
              <a:t>Healthcare data protection.</a:t>
            </a:r>
            <a:endParaRPr dirty="0"/>
          </a:p>
          <a:p>
            <a:r>
              <a:rPr dirty="0"/>
              <a:t>SOC2</a:t>
            </a:r>
            <a:endParaRPr lang="en-US" dirty="0"/>
          </a:p>
          <a:p>
            <a:pPr lvl="1"/>
            <a:r>
              <a:rPr lang="en-IN" dirty="0"/>
              <a:t>Security and trust controls.</a:t>
            </a:r>
            <a:endParaRPr dirty="0"/>
          </a:p>
          <a:p>
            <a:r>
              <a:rPr dirty="0"/>
              <a:t>PCI DSS</a:t>
            </a:r>
            <a:endParaRPr lang="en-US" dirty="0"/>
          </a:p>
          <a:p>
            <a:pPr lvl="1"/>
            <a:r>
              <a:rPr lang="en-IN" dirty="0"/>
              <a:t>Payment card security.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GDPR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Detect personal data</a:t>
            </a:r>
          </a:p>
          <a:p>
            <a:r>
              <a:rPr dirty="0"/>
              <a:t>Monitor retention compliance</a:t>
            </a:r>
          </a:p>
          <a:p>
            <a:r>
              <a:rPr dirty="0"/>
              <a:t>Enable right-to-delete workflows</a:t>
            </a:r>
          </a:p>
          <a:p>
            <a:r>
              <a:rPr dirty="0"/>
              <a:t>Generate compliance reports</a:t>
            </a:r>
            <a:endParaRPr lang="en-US" dirty="0"/>
          </a:p>
          <a:p>
            <a:r>
              <a:rPr lang="en-IN" b="1" dirty="0"/>
              <a:t>AI Supports GDPR</a:t>
            </a:r>
          </a:p>
          <a:p>
            <a:r>
              <a:rPr lang="en-IN" dirty="0"/>
              <a:t>Capabilities:</a:t>
            </a:r>
          </a:p>
          <a:p>
            <a:pPr lvl="1"/>
            <a:r>
              <a:rPr lang="en-IN" dirty="0"/>
              <a:t>Detect personal data </a:t>
            </a:r>
          </a:p>
          <a:p>
            <a:pPr lvl="1"/>
            <a:r>
              <a:rPr lang="en-IN" dirty="0"/>
              <a:t>Monitor retention rules </a:t>
            </a:r>
          </a:p>
          <a:p>
            <a:pPr lvl="1"/>
            <a:r>
              <a:rPr lang="en-IN" dirty="0"/>
              <a:t>Enable delete workflows </a:t>
            </a:r>
          </a:p>
          <a:p>
            <a:pPr lvl="1"/>
            <a:r>
              <a:rPr lang="en-IN" dirty="0"/>
              <a:t>Generate compliance reports </a:t>
            </a:r>
          </a:p>
          <a:p>
            <a:r>
              <a:rPr lang="en-IN" b="1" dirty="0"/>
              <a:t>Example</a:t>
            </a:r>
          </a:p>
          <a:p>
            <a:r>
              <a:rPr lang="en-IN" dirty="0"/>
              <a:t>“Delete user data upon request.”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HIPAA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Protect healthcare information</a:t>
            </a:r>
          </a:p>
          <a:p>
            <a:r>
              <a:rPr dirty="0"/>
              <a:t>Detect PHI automatically</a:t>
            </a:r>
          </a:p>
          <a:p>
            <a:r>
              <a:rPr dirty="0"/>
              <a:t>Monitor healthcare access</a:t>
            </a:r>
          </a:p>
          <a:p>
            <a:r>
              <a:rPr dirty="0"/>
              <a:t>Generate audit trails</a:t>
            </a:r>
            <a:endParaRPr lang="en-US" dirty="0"/>
          </a:p>
          <a:p>
            <a:r>
              <a:rPr lang="en-US" b="1" dirty="0"/>
              <a:t>Healthcare Governance</a:t>
            </a:r>
          </a:p>
          <a:p>
            <a:r>
              <a:rPr lang="en-US" dirty="0"/>
              <a:t>AI helps:</a:t>
            </a:r>
          </a:p>
          <a:p>
            <a:pPr lvl="1"/>
            <a:r>
              <a:rPr lang="en-US" dirty="0"/>
              <a:t>Detect PHI (Protected Health Information) </a:t>
            </a:r>
          </a:p>
          <a:p>
            <a:pPr lvl="1"/>
            <a:r>
              <a:rPr lang="en-US" dirty="0"/>
              <a:t>Monitor healthcare access </a:t>
            </a:r>
          </a:p>
          <a:p>
            <a:pPr lvl="1"/>
            <a:r>
              <a:rPr lang="en-US" dirty="0"/>
              <a:t>Generate audit logs </a:t>
            </a:r>
          </a:p>
          <a:p>
            <a:r>
              <a:rPr lang="en-US" b="1" dirty="0"/>
              <a:t>Important for:</a:t>
            </a:r>
          </a:p>
          <a:p>
            <a:r>
              <a:rPr lang="en-US" dirty="0"/>
              <a:t>Hospitals and healthcare systems.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SOC2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Ensure confidentiality</a:t>
            </a:r>
          </a:p>
          <a:p>
            <a:r>
              <a:rPr dirty="0"/>
              <a:t>Monitor system security</a:t>
            </a:r>
          </a:p>
          <a:p>
            <a:r>
              <a:rPr dirty="0"/>
              <a:t>Track integrity controls</a:t>
            </a:r>
          </a:p>
          <a:p>
            <a:r>
              <a:rPr dirty="0"/>
              <a:t>Support audit readiness</a:t>
            </a:r>
            <a:endParaRPr lang="en-US" dirty="0"/>
          </a:p>
          <a:p>
            <a:r>
              <a:rPr lang="en-US" b="1" dirty="0"/>
              <a:t>Security Governance</a:t>
            </a:r>
          </a:p>
          <a:p>
            <a:r>
              <a:rPr lang="en-US" dirty="0"/>
              <a:t>SOC2 focuses on:</a:t>
            </a:r>
          </a:p>
          <a:p>
            <a:pPr lvl="1"/>
            <a:r>
              <a:rPr lang="en-US" dirty="0"/>
              <a:t>Confidentiality </a:t>
            </a:r>
          </a:p>
          <a:p>
            <a:pPr lvl="1"/>
            <a:r>
              <a:rPr lang="en-US" dirty="0"/>
              <a:t>Security </a:t>
            </a:r>
          </a:p>
          <a:p>
            <a:pPr lvl="1"/>
            <a:r>
              <a:rPr lang="en-US" dirty="0"/>
              <a:t>Integrity </a:t>
            </a:r>
          </a:p>
          <a:p>
            <a:pPr lvl="1"/>
            <a:r>
              <a:rPr lang="en-US" dirty="0"/>
              <a:t>Availability </a:t>
            </a:r>
          </a:p>
          <a:p>
            <a:r>
              <a:rPr lang="en-US" b="1" dirty="0"/>
              <a:t>AI Role</a:t>
            </a:r>
          </a:p>
          <a:p>
            <a:pPr lvl="1"/>
            <a:r>
              <a:rPr lang="en-US" dirty="0"/>
              <a:t>Detect violations </a:t>
            </a:r>
          </a:p>
          <a:p>
            <a:pPr lvl="1"/>
            <a:r>
              <a:rPr lang="en-US" dirty="0"/>
              <a:t>Monitor controls </a:t>
            </a:r>
          </a:p>
          <a:p>
            <a:pPr lvl="1"/>
            <a:r>
              <a:rPr lang="en-US" dirty="0"/>
              <a:t>Improve audit readiness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914400" y="21488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LabTag"/>
          <p:cNvSpPr/>
          <p:nvPr/>
        </p:nvSpPr>
        <p:spPr>
          <a:xfrm>
            <a:off x="3657600" y="23774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1CADE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spc="400">
                <a:solidFill>
                  <a:srgbClr val="FFFFFF"/>
                </a:solidFill>
                <a:latin typeface="Trebuchet MS"/>
              </a:rPr>
              <a:t>LAB 8</a:t>
            </a:r>
          </a:p>
        </p:txBody>
      </p:sp>
      <p:sp>
        <p:nvSpPr>
          <p:cNvPr id="12" name="MainTitle"/>
          <p:cNvSpPr/>
          <p:nvPr/>
        </p:nvSpPr>
        <p:spPr>
          <a:xfrm>
            <a:off x="914400" y="314896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Trebuchet MS"/>
              </a:rPr>
              <a:t>Hands-On Activity</a:t>
            </a:r>
          </a:p>
        </p:txBody>
      </p:sp>
      <p:sp>
        <p:nvSpPr>
          <p:cNvPr id="13" name="Subtitle"/>
          <p:cNvSpPr/>
          <p:nvPr/>
        </p:nvSpPr>
        <p:spPr>
          <a:xfrm>
            <a:off x="1828800" y="41300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>
                <a:solidFill>
                  <a:srgbClr val="8BB8D0"/>
                </a:solidFill>
                <a:latin typeface="Calibri"/>
              </a:rPr>
              <a:t>SOC2 Compliance Automation</a:t>
            </a:r>
          </a:p>
        </p:txBody>
      </p:sp>
      <p:sp>
        <p:nvSpPr>
          <p:cNvPr id="14" name="BottomBar"/>
          <p:cNvSpPr/>
          <p:nvPr/>
        </p:nvSpPr>
        <p:spPr>
          <a:xfrm>
            <a:off x="914400" y="48920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3171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Compliance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Detect policy violations</a:t>
            </a:r>
          </a:p>
          <a:p>
            <a:r>
              <a:rPr dirty="0"/>
              <a:t>Identify unauthorized access</a:t>
            </a:r>
          </a:p>
          <a:p>
            <a:r>
              <a:rPr dirty="0"/>
              <a:t>Monitor encryption coverage</a:t>
            </a:r>
          </a:p>
          <a:p>
            <a:r>
              <a:rPr dirty="0"/>
              <a:t>Generate compliance alerts</a:t>
            </a:r>
            <a:endParaRPr lang="en-US" dirty="0"/>
          </a:p>
          <a:p>
            <a:r>
              <a:rPr lang="en-US" b="1" dirty="0"/>
              <a:t>Continuous Monitoring</a:t>
            </a:r>
          </a:p>
          <a:p>
            <a:r>
              <a:rPr lang="en-US" dirty="0"/>
              <a:t>AI can:</a:t>
            </a:r>
          </a:p>
          <a:p>
            <a:pPr lvl="1"/>
            <a:r>
              <a:rPr lang="en-US" dirty="0"/>
              <a:t>Detect unauthorized access </a:t>
            </a:r>
          </a:p>
          <a:p>
            <a:pPr lvl="1"/>
            <a:r>
              <a:rPr lang="en-US" dirty="0"/>
              <a:t>Check encryption coverage </a:t>
            </a:r>
          </a:p>
          <a:p>
            <a:pPr lvl="1"/>
            <a:r>
              <a:rPr lang="en-US" dirty="0"/>
              <a:t>Identify policy violations </a:t>
            </a:r>
          </a:p>
          <a:p>
            <a:pPr lvl="1"/>
            <a:r>
              <a:rPr lang="en-US" dirty="0"/>
              <a:t>Generate alerts 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Alert if:</a:t>
            </a:r>
            <a:br>
              <a:rPr lang="en-US" dirty="0"/>
            </a:br>
            <a:r>
              <a:rPr lang="en-US" dirty="0"/>
              <a:t>Sensitive table accessed by unauthorized user.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Popular Governance Tools</a:t>
            </a:r>
          </a:p>
          <a:p>
            <a:r>
              <a:rPr lang="en-IN" b="1" dirty="0" err="1"/>
              <a:t>DataHub</a:t>
            </a:r>
            <a:endParaRPr lang="en-IN" b="1" dirty="0"/>
          </a:p>
          <a:p>
            <a:pPr lvl="1"/>
            <a:r>
              <a:rPr lang="en-IN" dirty="0"/>
              <a:t>Metadata discovery platform.</a:t>
            </a:r>
          </a:p>
          <a:p>
            <a:r>
              <a:rPr lang="en-IN" b="1" dirty="0" err="1"/>
              <a:t>OpenMetadata</a:t>
            </a:r>
            <a:endParaRPr lang="en-IN" b="1" dirty="0"/>
          </a:p>
          <a:p>
            <a:pPr lvl="1"/>
            <a:r>
              <a:rPr lang="en-IN" dirty="0"/>
              <a:t>Metadata + lineage + governance.</a:t>
            </a:r>
          </a:p>
          <a:p>
            <a:r>
              <a:rPr lang="en-IN" b="1" dirty="0"/>
              <a:t>Collibra</a:t>
            </a:r>
          </a:p>
          <a:p>
            <a:pPr lvl="1"/>
            <a:r>
              <a:rPr lang="en-IN" dirty="0"/>
              <a:t>Enterprise governance tool.</a:t>
            </a:r>
          </a:p>
          <a:p>
            <a:r>
              <a:rPr lang="en-IN" b="1" dirty="0"/>
              <a:t>Microsoft Purview</a:t>
            </a:r>
          </a:p>
          <a:p>
            <a:pPr lvl="1"/>
            <a:r>
              <a:rPr lang="en-IN" dirty="0"/>
              <a:t>Azure-native governance solution.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DataHub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Connect metadata sources</a:t>
            </a:r>
          </a:p>
          <a:p>
            <a:r>
              <a:rPr dirty="0"/>
              <a:t>Enable AI tagging</a:t>
            </a:r>
          </a:p>
          <a:p>
            <a:r>
              <a:rPr dirty="0"/>
              <a:t>Generate lineage automatically</a:t>
            </a:r>
          </a:p>
          <a:p>
            <a:r>
              <a:rPr dirty="0"/>
              <a:t>Improve metadata discovery</a:t>
            </a:r>
            <a:endParaRPr lang="en-US" dirty="0"/>
          </a:p>
          <a:p>
            <a:r>
              <a:rPr lang="en-IN" b="1" dirty="0"/>
              <a:t>AI + </a:t>
            </a:r>
            <a:r>
              <a:rPr lang="en-IN" b="1" dirty="0" err="1"/>
              <a:t>DataHub</a:t>
            </a:r>
            <a:endParaRPr lang="en-IN" b="1" dirty="0"/>
          </a:p>
          <a:p>
            <a:r>
              <a:rPr lang="en-IN" dirty="0"/>
              <a:t>Capabilities:</a:t>
            </a:r>
          </a:p>
          <a:p>
            <a:pPr lvl="1"/>
            <a:r>
              <a:rPr lang="en-IN" dirty="0"/>
              <a:t>Metadata ingestion </a:t>
            </a:r>
          </a:p>
          <a:p>
            <a:pPr lvl="1"/>
            <a:r>
              <a:rPr lang="en-IN" dirty="0"/>
              <a:t>AI tagging </a:t>
            </a:r>
          </a:p>
          <a:p>
            <a:pPr lvl="1"/>
            <a:r>
              <a:rPr lang="en-IN" dirty="0"/>
              <a:t>Automatic lineage </a:t>
            </a:r>
          </a:p>
          <a:p>
            <a:pPr lvl="1"/>
            <a:r>
              <a:rPr lang="en-IN" dirty="0"/>
              <a:t>Smart search </a:t>
            </a:r>
          </a:p>
          <a:p>
            <a:r>
              <a:rPr lang="en-IN" b="1" dirty="0"/>
              <a:t>Benefit</a:t>
            </a:r>
          </a:p>
          <a:p>
            <a:r>
              <a:rPr lang="en-IN" dirty="0"/>
              <a:t>Centralized metadata intelligence.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914400" y="21488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LabTag"/>
          <p:cNvSpPr/>
          <p:nvPr/>
        </p:nvSpPr>
        <p:spPr>
          <a:xfrm>
            <a:off x="3657600" y="23774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1CADE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spc="400">
                <a:solidFill>
                  <a:srgbClr val="FFFFFF"/>
                </a:solidFill>
                <a:latin typeface="Trebuchet MS"/>
              </a:rPr>
              <a:t>LAB 9</a:t>
            </a:r>
          </a:p>
        </p:txBody>
      </p:sp>
      <p:sp>
        <p:nvSpPr>
          <p:cNvPr id="12" name="MainTitle"/>
          <p:cNvSpPr/>
          <p:nvPr/>
        </p:nvSpPr>
        <p:spPr>
          <a:xfrm>
            <a:off x="914400" y="314896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Trebuchet MS"/>
              </a:rPr>
              <a:t>Hands-On Activity</a:t>
            </a:r>
          </a:p>
        </p:txBody>
      </p:sp>
      <p:sp>
        <p:nvSpPr>
          <p:cNvPr id="13" name="Subtitle"/>
          <p:cNvSpPr/>
          <p:nvPr/>
        </p:nvSpPr>
        <p:spPr>
          <a:xfrm>
            <a:off x="1828800" y="41300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>
                <a:solidFill>
                  <a:srgbClr val="8BB8D0"/>
                </a:solidFill>
                <a:latin typeface="Calibri"/>
              </a:rPr>
              <a:t>DataHub Integration</a:t>
            </a:r>
          </a:p>
        </p:txBody>
      </p:sp>
      <p:sp>
        <p:nvSpPr>
          <p:cNvPr id="14" name="BottomBar"/>
          <p:cNvSpPr/>
          <p:nvPr/>
        </p:nvSpPr>
        <p:spPr>
          <a:xfrm>
            <a:off x="914400" y="48920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4044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OpenMetadata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Generate descriptions</a:t>
            </a:r>
          </a:p>
          <a:p>
            <a:r>
              <a:rPr dirty="0"/>
              <a:t>Enable AI search</a:t>
            </a:r>
          </a:p>
          <a:p>
            <a:r>
              <a:rPr dirty="0"/>
              <a:t>Detect PII</a:t>
            </a:r>
          </a:p>
          <a:p>
            <a:r>
              <a:rPr dirty="0"/>
              <a:t>Enhance lineage tracking</a:t>
            </a:r>
            <a:endParaRPr lang="en-US" dirty="0"/>
          </a:p>
          <a:p>
            <a:r>
              <a:rPr lang="en-US" b="1" dirty="0"/>
              <a:t>AI in </a:t>
            </a:r>
            <a:r>
              <a:rPr lang="en-US" b="1" dirty="0" err="1"/>
              <a:t>OpenMetadata</a:t>
            </a:r>
            <a:endParaRPr lang="en-US" b="1" dirty="0"/>
          </a:p>
          <a:p>
            <a:r>
              <a:rPr lang="en-US" dirty="0"/>
              <a:t>Features:</a:t>
            </a:r>
          </a:p>
          <a:p>
            <a:pPr lvl="1"/>
            <a:r>
              <a:rPr lang="en-US" dirty="0"/>
              <a:t>AI-generated descriptions </a:t>
            </a:r>
          </a:p>
          <a:p>
            <a:pPr lvl="1"/>
            <a:r>
              <a:rPr lang="en-US" dirty="0"/>
              <a:t>PII detection </a:t>
            </a:r>
          </a:p>
          <a:p>
            <a:pPr lvl="1"/>
            <a:r>
              <a:rPr lang="en-US" dirty="0"/>
              <a:t>AI search </a:t>
            </a:r>
          </a:p>
          <a:p>
            <a:pPr lvl="1"/>
            <a:r>
              <a:rPr lang="en-US" dirty="0"/>
              <a:t>Lineage enhancement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914400" y="21488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LabTag"/>
          <p:cNvSpPr/>
          <p:nvPr/>
        </p:nvSpPr>
        <p:spPr>
          <a:xfrm>
            <a:off x="3657600" y="23774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1CADE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spc="400">
                <a:solidFill>
                  <a:srgbClr val="FFFFFF"/>
                </a:solidFill>
                <a:latin typeface="Trebuchet MS"/>
              </a:rPr>
              <a:t>LAB 10</a:t>
            </a:r>
          </a:p>
        </p:txBody>
      </p:sp>
      <p:sp>
        <p:nvSpPr>
          <p:cNvPr id="12" name="MainTitle"/>
          <p:cNvSpPr/>
          <p:nvPr/>
        </p:nvSpPr>
        <p:spPr>
          <a:xfrm>
            <a:off x="914400" y="314896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Trebuchet MS"/>
              </a:rPr>
              <a:t>Hands-On Activity</a:t>
            </a:r>
          </a:p>
        </p:txBody>
      </p:sp>
      <p:sp>
        <p:nvSpPr>
          <p:cNvPr id="13" name="Subtitle"/>
          <p:cNvSpPr/>
          <p:nvPr/>
        </p:nvSpPr>
        <p:spPr>
          <a:xfrm>
            <a:off x="1828800" y="41300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800">
                <a:solidFill>
                  <a:srgbClr val="8BB8D0"/>
                </a:solidFill>
                <a:latin typeface="Calibri"/>
              </a:rPr>
              <a:t>OpenMetadata Integration</a:t>
            </a:r>
          </a:p>
        </p:txBody>
      </p:sp>
      <p:sp>
        <p:nvSpPr>
          <p:cNvPr id="14" name="BottomBar"/>
          <p:cNvSpPr/>
          <p:nvPr/>
        </p:nvSpPr>
        <p:spPr>
          <a:xfrm>
            <a:off x="914400" y="4892040"/>
            <a:ext cx="7315200" cy="4572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5537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Collibra +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Generate glossary terms</a:t>
            </a:r>
          </a:p>
          <a:p>
            <a:r>
              <a:rPr dirty="0"/>
              <a:t>Recommend governance policies</a:t>
            </a:r>
          </a:p>
          <a:p>
            <a:r>
              <a:rPr dirty="0"/>
              <a:t>Classify datasets</a:t>
            </a:r>
          </a:p>
          <a:p>
            <a:r>
              <a:rPr dirty="0"/>
              <a:t>Automate compliance workflows</a:t>
            </a:r>
            <a:endParaRPr lang="en-US" dirty="0"/>
          </a:p>
          <a:p>
            <a:r>
              <a:rPr lang="en-US" b="1" dirty="0"/>
              <a:t>Enterprise Governance Automation</a:t>
            </a:r>
          </a:p>
          <a:p>
            <a:r>
              <a:rPr lang="en-US" dirty="0"/>
              <a:t>AI can:</a:t>
            </a:r>
          </a:p>
          <a:p>
            <a:pPr lvl="1"/>
            <a:r>
              <a:rPr lang="en-US" dirty="0"/>
              <a:t>Recommend policies </a:t>
            </a:r>
          </a:p>
          <a:p>
            <a:pPr lvl="1"/>
            <a:r>
              <a:rPr lang="en-US" dirty="0"/>
              <a:t>Generate glossary terms </a:t>
            </a:r>
          </a:p>
          <a:p>
            <a:pPr lvl="1"/>
            <a:r>
              <a:rPr lang="en-US" dirty="0"/>
              <a:t>Automate compliance workflows </a:t>
            </a:r>
          </a:p>
          <a:p>
            <a:r>
              <a:rPr lang="en-US" b="1" dirty="0"/>
              <a:t>Enterprise Use</a:t>
            </a:r>
          </a:p>
          <a:p>
            <a:r>
              <a:rPr lang="en-US" dirty="0"/>
              <a:t>Large organizations with strict governance needs.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Layer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Architecture Components</a:t>
            </a:r>
          </a:p>
          <a:p>
            <a:r>
              <a:rPr lang="en-IN" b="1" dirty="0"/>
              <a:t>Metadata Connectors</a:t>
            </a:r>
          </a:p>
          <a:p>
            <a:pPr lvl="1"/>
            <a:r>
              <a:rPr lang="en-IN" dirty="0"/>
              <a:t>Connect databases/tools.</a:t>
            </a:r>
          </a:p>
          <a:p>
            <a:r>
              <a:rPr lang="en-IN" b="1" dirty="0"/>
              <a:t>Vector Databases</a:t>
            </a:r>
          </a:p>
          <a:p>
            <a:pPr lvl="1"/>
            <a:r>
              <a:rPr lang="en-IN" dirty="0"/>
              <a:t>Store embeddings for semantic search.</a:t>
            </a:r>
          </a:p>
          <a:p>
            <a:r>
              <a:rPr lang="en-IN" b="1" dirty="0"/>
              <a:t>LLM Reasoning Engine</a:t>
            </a:r>
          </a:p>
          <a:p>
            <a:pPr lvl="1"/>
            <a:r>
              <a:rPr lang="en-IN" dirty="0"/>
              <a:t>Performs intelligent analysis.</a:t>
            </a:r>
          </a:p>
          <a:p>
            <a:r>
              <a:rPr lang="en-IN" b="1" dirty="0"/>
              <a:t>Governance APIs</a:t>
            </a:r>
          </a:p>
          <a:p>
            <a:pPr lvl="1"/>
            <a:r>
              <a:rPr lang="en-IN" dirty="0"/>
              <a:t>Expose governance capabilities.</a:t>
            </a:r>
          </a:p>
          <a:p>
            <a:r>
              <a:rPr lang="en-IN" b="1" dirty="0"/>
              <a:t>Overall Flow</a:t>
            </a:r>
          </a:p>
          <a:p>
            <a:r>
              <a:rPr lang="en-IN" dirty="0"/>
              <a:t>Source Systems → Metadata → Vector DB → LLM → Governance Actions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for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RAG = Retrieval-Augmented Generation</a:t>
            </a:r>
          </a:p>
          <a:p>
            <a:r>
              <a:rPr lang="en-IN" dirty="0"/>
              <a:t>LLM retrieves governance information before answering.</a:t>
            </a:r>
          </a:p>
          <a:p>
            <a:r>
              <a:rPr lang="en-IN" b="1" dirty="0"/>
              <a:t>Use Cases</a:t>
            </a:r>
          </a:p>
          <a:p>
            <a:pPr lvl="1"/>
            <a:r>
              <a:rPr lang="en-IN" dirty="0"/>
              <a:t>Compliance Q&amp;A </a:t>
            </a:r>
          </a:p>
          <a:p>
            <a:pPr lvl="1"/>
            <a:r>
              <a:rPr lang="en-IN" dirty="0"/>
              <a:t>Governance search </a:t>
            </a:r>
          </a:p>
          <a:p>
            <a:pPr lvl="1"/>
            <a:r>
              <a:rPr lang="en-IN" dirty="0"/>
              <a:t>Policy retrieval </a:t>
            </a:r>
          </a:p>
          <a:p>
            <a:r>
              <a:rPr lang="en-IN" b="1" dirty="0"/>
              <a:t>Example</a:t>
            </a:r>
          </a:p>
          <a:p>
            <a:r>
              <a:rPr lang="en-IN" dirty="0"/>
              <a:t>Question:</a:t>
            </a:r>
            <a:br>
              <a:rPr lang="en-IN" dirty="0"/>
            </a:br>
            <a:r>
              <a:rPr lang="en-IN" dirty="0"/>
              <a:t>“Which datasets contain customer PII?”</a:t>
            </a:r>
          </a:p>
          <a:p>
            <a:r>
              <a:rPr lang="en-IN" dirty="0"/>
              <a:t>AI retrieves metadata and answers accurately.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Business Value</a:t>
            </a:r>
          </a:p>
          <a:p>
            <a:r>
              <a:rPr lang="en-IN" b="1" dirty="0"/>
              <a:t>Reduced Manual Effort</a:t>
            </a:r>
          </a:p>
          <a:p>
            <a:pPr lvl="1"/>
            <a:r>
              <a:rPr lang="en-IN" dirty="0"/>
              <a:t>Automation reduces governance workload.</a:t>
            </a:r>
          </a:p>
          <a:p>
            <a:r>
              <a:rPr lang="en-IN" b="1" dirty="0"/>
              <a:t>Improved Compliance</a:t>
            </a:r>
          </a:p>
          <a:p>
            <a:pPr lvl="1"/>
            <a:r>
              <a:rPr lang="en-IN" dirty="0"/>
              <a:t>Continuous monitoring.</a:t>
            </a:r>
          </a:p>
          <a:p>
            <a:r>
              <a:rPr lang="en-IN" b="1" dirty="0"/>
              <a:t>Faster Metadata Onboarding</a:t>
            </a:r>
          </a:p>
          <a:p>
            <a:pPr lvl="1"/>
            <a:r>
              <a:rPr lang="en-IN" dirty="0"/>
              <a:t>Automatic </a:t>
            </a:r>
            <a:r>
              <a:rPr lang="en-IN" dirty="0" err="1"/>
              <a:t>catalog</a:t>
            </a:r>
            <a:r>
              <a:rPr lang="en-IN" dirty="0"/>
              <a:t> creation.</a:t>
            </a:r>
          </a:p>
          <a:p>
            <a:r>
              <a:rPr lang="en-IN" b="1" dirty="0"/>
              <a:t>Better Visibility</a:t>
            </a:r>
          </a:p>
          <a:p>
            <a:pPr lvl="1"/>
            <a:r>
              <a:rPr lang="en-IN" dirty="0"/>
              <a:t>Complete governance insights.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Risks of AI Governance</a:t>
            </a:r>
          </a:p>
          <a:p>
            <a:r>
              <a:rPr lang="en-US" b="1" dirty="0"/>
              <a:t>Hallucinated Metadata</a:t>
            </a:r>
          </a:p>
          <a:p>
            <a:pPr lvl="1"/>
            <a:r>
              <a:rPr lang="en-US" dirty="0"/>
              <a:t>AI may generate incorrect info.</a:t>
            </a:r>
          </a:p>
          <a:p>
            <a:r>
              <a:rPr lang="en-US" b="1" dirty="0"/>
              <a:t>Incorrect Classification</a:t>
            </a:r>
          </a:p>
          <a:p>
            <a:pPr lvl="1"/>
            <a:r>
              <a:rPr lang="en-US" dirty="0"/>
              <a:t>False positives/negatives.</a:t>
            </a:r>
          </a:p>
          <a:p>
            <a:r>
              <a:rPr lang="en-US" b="1" dirty="0"/>
              <a:t>Compliance Risks</a:t>
            </a:r>
          </a:p>
          <a:p>
            <a:pPr lvl="1"/>
            <a:r>
              <a:rPr lang="en-US" dirty="0"/>
              <a:t>Wrong governance decisions.</a:t>
            </a:r>
          </a:p>
          <a:p>
            <a:r>
              <a:rPr lang="en-US" b="1" dirty="0"/>
              <a:t>Privacy Concerns</a:t>
            </a:r>
          </a:p>
          <a:p>
            <a:pPr lvl="1"/>
            <a:r>
              <a:rPr lang="en-US" dirty="0"/>
              <a:t>Sensitive data exposure.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Governance Recommendations</a:t>
            </a:r>
          </a:p>
          <a:p>
            <a:r>
              <a:rPr lang="en-US" b="1" dirty="0"/>
              <a:t>Human Approval</a:t>
            </a:r>
          </a:p>
          <a:p>
            <a:pPr lvl="1"/>
            <a:r>
              <a:rPr lang="en-US" dirty="0"/>
              <a:t>Keep humans in review loop.</a:t>
            </a:r>
          </a:p>
          <a:p>
            <a:r>
              <a:rPr lang="en-US" b="1" dirty="0"/>
              <a:t>Audit Logging</a:t>
            </a:r>
          </a:p>
          <a:p>
            <a:pPr lvl="1"/>
            <a:r>
              <a:rPr lang="en-US" dirty="0"/>
              <a:t>Track AI decisions.</a:t>
            </a:r>
          </a:p>
          <a:p>
            <a:r>
              <a:rPr lang="en-US" b="1" dirty="0"/>
              <a:t>RBAC Enforcement</a:t>
            </a:r>
          </a:p>
          <a:p>
            <a:pPr lvl="1"/>
            <a:r>
              <a:rPr lang="en-US" dirty="0"/>
              <a:t>Role-based access control.</a:t>
            </a:r>
          </a:p>
          <a:p>
            <a:r>
              <a:rPr lang="en-US" b="1" dirty="0"/>
              <a:t>Continuous Validation</a:t>
            </a:r>
          </a:p>
          <a:p>
            <a:pPr lvl="1"/>
            <a:r>
              <a:rPr lang="en-US" dirty="0"/>
              <a:t>Regular quality checks.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Emerging Trends</a:t>
            </a:r>
          </a:p>
          <a:p>
            <a:r>
              <a:rPr lang="en-IN" b="1" dirty="0"/>
              <a:t>Autonomous Governance Agents</a:t>
            </a:r>
          </a:p>
          <a:p>
            <a:pPr lvl="1"/>
            <a:r>
              <a:rPr lang="en-IN" dirty="0"/>
              <a:t>AI handles governance automatically.</a:t>
            </a:r>
          </a:p>
          <a:p>
            <a:r>
              <a:rPr lang="en-IN" b="1" dirty="0"/>
              <a:t>AI-Native Catalogues</a:t>
            </a:r>
          </a:p>
          <a:p>
            <a:pPr lvl="1"/>
            <a:r>
              <a:rPr lang="en-IN" dirty="0"/>
              <a:t>Built specifically for LLMs.</a:t>
            </a:r>
          </a:p>
          <a:p>
            <a:r>
              <a:rPr lang="en-IN" b="1" dirty="0"/>
              <a:t>Real-Time Compliance</a:t>
            </a:r>
          </a:p>
          <a:p>
            <a:pPr lvl="1"/>
            <a:r>
              <a:rPr lang="en-IN" dirty="0"/>
              <a:t>Continuous governance monitoring.</a:t>
            </a:r>
          </a:p>
          <a:p>
            <a:r>
              <a:rPr lang="en-IN" b="1" dirty="0"/>
              <a:t>Intelligent Lineage Graphs</a:t>
            </a:r>
          </a:p>
          <a:p>
            <a:pPr lvl="1"/>
            <a:r>
              <a:rPr lang="en-IN" dirty="0"/>
              <a:t>Self-updating lineage systems.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33</TotalTime>
  <Words>1426</Words>
  <Application>Microsoft Office PowerPoint</Application>
  <PresentationFormat>On-screen Show (4:3)</PresentationFormat>
  <Paragraphs>468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Arial</vt:lpstr>
      <vt:lpstr>Calibri</vt:lpstr>
      <vt:lpstr>Trebuchet MS</vt:lpstr>
      <vt:lpstr>Tw Cen MT</vt:lpstr>
      <vt:lpstr>Tw Cen MT Condensed</vt:lpstr>
      <vt:lpstr>Wingdings 3</vt:lpstr>
      <vt:lpstr>Integral</vt:lpstr>
      <vt:lpstr>AI-Powered Data Governance, Lineage &amp; Metadata Automation</vt:lpstr>
      <vt:lpstr>Learning Objectives</vt:lpstr>
      <vt:lpstr>Automated Lineage Extraction</vt:lpstr>
      <vt:lpstr>CONTD</vt:lpstr>
      <vt:lpstr>Automated Lineage Extraction</vt:lpstr>
      <vt:lpstr>SQL-Based Lineage Extraction</vt:lpstr>
      <vt:lpstr>PowerPoint Presentation</vt:lpstr>
      <vt:lpstr>PowerPoint Presentation</vt:lpstr>
      <vt:lpstr>dbt Lineage Extraction</vt:lpstr>
      <vt:lpstr>dbt Lineage Extraction</vt:lpstr>
      <vt:lpstr>PowerPoint Presentation</vt:lpstr>
      <vt:lpstr>LLM Capabilities in Lineage</vt:lpstr>
      <vt:lpstr>PowerPoint Presentation</vt:lpstr>
      <vt:lpstr>Metadata Management</vt:lpstr>
      <vt:lpstr>PowerPoint Presentation</vt:lpstr>
      <vt:lpstr>AI-Powered Metadata Tagging</vt:lpstr>
      <vt:lpstr>PowerPoint Presentation</vt:lpstr>
      <vt:lpstr>PowerPoint Presentation</vt:lpstr>
      <vt:lpstr>Business Glossary Generation</vt:lpstr>
      <vt:lpstr>PowerPoint Presentation</vt:lpstr>
      <vt:lpstr>PowerPoint Presentation</vt:lpstr>
      <vt:lpstr>PII and Sensitive Data Discovery</vt:lpstr>
      <vt:lpstr>PowerPoint Presentation</vt:lpstr>
      <vt:lpstr>PII Detection Techniques</vt:lpstr>
      <vt:lpstr>PowerPoint Presentation</vt:lpstr>
      <vt:lpstr>PowerPoint Presentation</vt:lpstr>
      <vt:lpstr>Sensitive Data Classification</vt:lpstr>
      <vt:lpstr>PowerPoint Presentation</vt:lpstr>
      <vt:lpstr>AI-Generated Governance Policies</vt:lpstr>
      <vt:lpstr>PowerPoint Presentation</vt:lpstr>
      <vt:lpstr>PowerPoint Presentation</vt:lpstr>
      <vt:lpstr>AI-Driven Catalogue Enrichment</vt:lpstr>
      <vt:lpstr>AI-Generated Dataset Descriptions</vt:lpstr>
      <vt:lpstr>PowerPoint Presentation</vt:lpstr>
      <vt:lpstr>Ownership Detection</vt:lpstr>
      <vt:lpstr>SLA Recommendation Engine</vt:lpstr>
      <vt:lpstr>Regulatory Compliance</vt:lpstr>
      <vt:lpstr>GDPR with AI</vt:lpstr>
      <vt:lpstr>HIPAA Compliance</vt:lpstr>
      <vt:lpstr>SOC2 Compliance</vt:lpstr>
      <vt:lpstr>PowerPoint Presentation</vt:lpstr>
      <vt:lpstr>AI-Assisted Compliance Monitoring</vt:lpstr>
      <vt:lpstr>Governance Platforms</vt:lpstr>
      <vt:lpstr>DataHub Integration</vt:lpstr>
      <vt:lpstr>PowerPoint Presentation</vt:lpstr>
      <vt:lpstr>OpenMetadata Integration</vt:lpstr>
      <vt:lpstr>PowerPoint Presentation</vt:lpstr>
      <vt:lpstr>Collibra + AI</vt:lpstr>
      <vt:lpstr>LLM Layer Architecture</vt:lpstr>
      <vt:lpstr>RAG for Governance</vt:lpstr>
      <vt:lpstr>Enterprise Benefits</vt:lpstr>
      <vt:lpstr>Challenges &amp; Risks</vt:lpstr>
      <vt:lpstr>Best Practices</vt:lpstr>
      <vt:lpstr>Future of AI Governance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142</cp:revision>
  <dcterms:created xsi:type="dcterms:W3CDTF">2013-01-27T09:14:16Z</dcterms:created>
  <dcterms:modified xsi:type="dcterms:W3CDTF">2026-05-13T05:57:12Z</dcterms:modified>
  <cp:category/>
</cp:coreProperties>
</file>