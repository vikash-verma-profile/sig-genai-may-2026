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4" r:id="rId5"/>
    <p:sldId id="275" r:id="rId6"/>
    <p:sldId id="291" r:id="rId7"/>
    <p:sldId id="259" r:id="rId8"/>
    <p:sldId id="276" r:id="rId9"/>
    <p:sldId id="277" r:id="rId10"/>
    <p:sldId id="278" r:id="rId11"/>
    <p:sldId id="279" r:id="rId12"/>
    <p:sldId id="260" r:id="rId13"/>
    <p:sldId id="280" r:id="rId14"/>
    <p:sldId id="281" r:id="rId15"/>
    <p:sldId id="261" r:id="rId16"/>
    <p:sldId id="292" r:id="rId17"/>
    <p:sldId id="282" r:id="rId18"/>
    <p:sldId id="283" r:id="rId19"/>
    <p:sldId id="262" r:id="rId20"/>
    <p:sldId id="293" r:id="rId21"/>
    <p:sldId id="284" r:id="rId22"/>
    <p:sldId id="263" r:id="rId23"/>
    <p:sldId id="285" r:id="rId24"/>
    <p:sldId id="286" r:id="rId25"/>
    <p:sldId id="264" r:id="rId26"/>
    <p:sldId id="294" r:id="rId27"/>
    <p:sldId id="265" r:id="rId28"/>
    <p:sldId id="287" r:id="rId29"/>
    <p:sldId id="295" r:id="rId30"/>
    <p:sldId id="266" r:id="rId31"/>
    <p:sldId id="267" r:id="rId32"/>
    <p:sldId id="288" r:id="rId33"/>
    <p:sldId id="296" r:id="rId34"/>
    <p:sldId id="268" r:id="rId35"/>
    <p:sldId id="289" r:id="rId36"/>
    <p:sldId id="297" r:id="rId37"/>
    <p:sldId id="269" r:id="rId38"/>
    <p:sldId id="298" r:id="rId39"/>
    <p:sldId id="270" r:id="rId40"/>
    <p:sldId id="271" r:id="rId41"/>
    <p:sldId id="290" r:id="rId42"/>
    <p:sldId id="272" r:id="rId43"/>
    <p:sldId id="273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55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0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42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59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0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97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9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01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15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Autonomous AI Agents for Data Quality, Ingestion &amp; Self-Healing Pipelines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autonomous ingestion workflows</a:t>
            </a:r>
          </a:p>
          <a:p>
            <a:r>
              <a:t>Implement AI-driven validation systems</a:t>
            </a:r>
          </a:p>
          <a:p>
            <a:r>
              <a:t>Design anomaly detection agents</a:t>
            </a:r>
          </a:p>
          <a:p>
            <a:r>
              <a:t>Build self-healing pipelines</a:t>
            </a:r>
          </a:p>
          <a:p>
            <a:r>
              <a:t>Integrate governance and PII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Ingestion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Components</a:t>
            </a:r>
            <a:endParaRPr lang="en-US" b="1" dirty="0"/>
          </a:p>
          <a:p>
            <a:r>
              <a:rPr dirty="0"/>
              <a:t>Schema detection</a:t>
            </a:r>
          </a:p>
          <a:p>
            <a:r>
              <a:rPr dirty="0"/>
              <a:t>Data ingestion</a:t>
            </a:r>
          </a:p>
          <a:p>
            <a:r>
              <a:rPr dirty="0"/>
              <a:t>Validation</a:t>
            </a:r>
          </a:p>
          <a:p>
            <a:r>
              <a:rPr dirty="0"/>
              <a:t>Quarantine handling</a:t>
            </a:r>
          </a:p>
          <a:p>
            <a:r>
              <a:rPr dirty="0"/>
              <a:t>Automated remediation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FBB9-FDB9-867D-1B0F-57334B342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47675"/>
            <a:ext cx="7290055" cy="622935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1. Schema Detection</a:t>
            </a:r>
          </a:p>
          <a:p>
            <a:r>
              <a:rPr lang="en-IN" dirty="0"/>
              <a:t>The agent reads incoming files and identifies:</a:t>
            </a:r>
          </a:p>
          <a:p>
            <a:pPr lvl="1"/>
            <a:r>
              <a:rPr lang="en-IN" dirty="0"/>
              <a:t>Column names </a:t>
            </a:r>
          </a:p>
          <a:p>
            <a:pPr lvl="1"/>
            <a:r>
              <a:rPr lang="en-IN" dirty="0"/>
              <a:t>Data types </a:t>
            </a:r>
          </a:p>
          <a:p>
            <a:pPr lvl="1"/>
            <a:r>
              <a:rPr lang="en-IN" dirty="0"/>
              <a:t>Nested structures 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"</a:t>
            </a:r>
            <a:r>
              <a:rPr lang="en-IN" dirty="0" err="1"/>
              <a:t>customer_id</a:t>
            </a:r>
            <a:r>
              <a:rPr lang="en-IN" dirty="0"/>
              <a:t>": 101,</a:t>
            </a:r>
            <a:br>
              <a:rPr lang="en-IN" dirty="0"/>
            </a:br>
            <a:r>
              <a:rPr lang="en-IN" dirty="0"/>
              <a:t> "amount": 5000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dirty="0"/>
              <a:t>AI identifies:</a:t>
            </a:r>
          </a:p>
          <a:p>
            <a:pPr lvl="1"/>
            <a:r>
              <a:rPr lang="en-IN" dirty="0" err="1"/>
              <a:t>customer_id</a:t>
            </a:r>
            <a:r>
              <a:rPr lang="en-IN" dirty="0"/>
              <a:t> → integer </a:t>
            </a:r>
          </a:p>
          <a:p>
            <a:pPr lvl="1"/>
            <a:r>
              <a:rPr lang="en-IN" dirty="0"/>
              <a:t>amount → decimal </a:t>
            </a:r>
          </a:p>
          <a:p>
            <a:r>
              <a:rPr lang="en-IN" b="1" dirty="0"/>
              <a:t>2. Data Ingestion</a:t>
            </a:r>
          </a:p>
          <a:p>
            <a:r>
              <a:rPr lang="en-IN" dirty="0"/>
              <a:t>AI automatically:</a:t>
            </a:r>
          </a:p>
          <a:p>
            <a:pPr lvl="1"/>
            <a:r>
              <a:rPr lang="en-IN" dirty="0"/>
              <a:t>Loads files </a:t>
            </a:r>
          </a:p>
          <a:p>
            <a:pPr lvl="1"/>
            <a:r>
              <a:rPr lang="en-IN" dirty="0"/>
              <a:t>Triggers pipelines </a:t>
            </a:r>
          </a:p>
          <a:p>
            <a:pPr lvl="1"/>
            <a:r>
              <a:rPr lang="en-IN" dirty="0"/>
              <a:t>Stores data into bronze/silver/gold layers </a:t>
            </a:r>
          </a:p>
          <a:p>
            <a:r>
              <a:rPr lang="en-IN" dirty="0"/>
              <a:t>Without manual mapping.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26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356B0-0356-D72B-9EE5-C6664496B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33350"/>
            <a:ext cx="7290055" cy="65722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3. Validation</a:t>
            </a:r>
          </a:p>
          <a:p>
            <a:r>
              <a:rPr lang="en-US" dirty="0"/>
              <a:t>Before loading:</a:t>
            </a:r>
          </a:p>
          <a:p>
            <a:pPr lvl="1"/>
            <a:r>
              <a:rPr lang="en-US" dirty="0"/>
              <a:t>Rules are checked </a:t>
            </a:r>
          </a:p>
          <a:p>
            <a:pPr lvl="1"/>
            <a:r>
              <a:rPr lang="en-US" dirty="0"/>
              <a:t>Data quality is verified 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Null checks </a:t>
            </a:r>
          </a:p>
          <a:p>
            <a:pPr lvl="1"/>
            <a:r>
              <a:rPr lang="en-US" dirty="0"/>
              <a:t>Format checks </a:t>
            </a:r>
          </a:p>
          <a:p>
            <a:pPr lvl="1"/>
            <a:r>
              <a:rPr lang="en-US" dirty="0"/>
              <a:t>Range checks </a:t>
            </a:r>
          </a:p>
          <a:p>
            <a:r>
              <a:rPr lang="en-US" b="1" dirty="0"/>
              <a:t>4. Quarantine Handling</a:t>
            </a:r>
          </a:p>
          <a:p>
            <a:r>
              <a:rPr lang="en-US" dirty="0"/>
              <a:t>Bad records are separated.</a:t>
            </a:r>
          </a:p>
          <a:p>
            <a:r>
              <a:rPr lang="en-US" dirty="0"/>
              <a:t>Instead of failing the whole pipeline:</a:t>
            </a:r>
          </a:p>
          <a:p>
            <a:pPr lvl="1"/>
            <a:r>
              <a:rPr lang="en-US" dirty="0"/>
              <a:t>Good records continue </a:t>
            </a:r>
          </a:p>
          <a:p>
            <a:pPr lvl="1"/>
            <a:r>
              <a:rPr lang="en-US" dirty="0"/>
              <a:t>Bad records move to quarantine storage </a:t>
            </a:r>
          </a:p>
          <a:p>
            <a:r>
              <a:rPr lang="en-US" b="1" dirty="0"/>
              <a:t>5. Automated Remediation</a:t>
            </a:r>
          </a:p>
          <a:p>
            <a:r>
              <a:rPr lang="en-US" dirty="0"/>
              <a:t>AI attempts to repair:</a:t>
            </a:r>
          </a:p>
          <a:p>
            <a:pPr lvl="1"/>
            <a:r>
              <a:rPr lang="en-US" dirty="0"/>
              <a:t>Formatting </a:t>
            </a:r>
          </a:p>
          <a:p>
            <a:pPr lvl="1"/>
            <a:r>
              <a:rPr lang="en-US" dirty="0"/>
              <a:t>Missing values </a:t>
            </a:r>
          </a:p>
          <a:p>
            <a:pPr lvl="1"/>
            <a:r>
              <a:rPr lang="en-US" dirty="0"/>
              <a:t>Type mismatches </a:t>
            </a:r>
          </a:p>
          <a:p>
            <a:r>
              <a:rPr lang="en-US" dirty="0"/>
              <a:t>This creates resilient pipelines.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6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CF9E-6A55-1FE9-B4F9-81060010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5400" dirty="0"/>
              <a:t>Perform LAB-1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294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Detection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detect columns and data types</a:t>
            </a:r>
          </a:p>
          <a:p>
            <a:r>
              <a:t>Handle structured and semi-structured data</a:t>
            </a:r>
          </a:p>
          <a:p>
            <a:r>
              <a:t>Detect schema drift</a:t>
            </a:r>
          </a:p>
          <a:p>
            <a:r>
              <a:t>Support CSV, JSON, Parquet and Avro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82271-16A7-FEA6-761B-C60067D30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04800"/>
            <a:ext cx="7290055" cy="645795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Why Important?</a:t>
            </a:r>
          </a:p>
          <a:p>
            <a:r>
              <a:rPr lang="en-IN" dirty="0"/>
              <a:t>In real-world systems:</a:t>
            </a:r>
          </a:p>
          <a:p>
            <a:pPr lvl="1"/>
            <a:r>
              <a:rPr lang="en-IN" dirty="0"/>
              <a:t>Vendors change formats </a:t>
            </a:r>
          </a:p>
          <a:p>
            <a:pPr lvl="1"/>
            <a:r>
              <a:rPr lang="en-IN" dirty="0"/>
              <a:t>New columns appear </a:t>
            </a:r>
          </a:p>
          <a:p>
            <a:pPr lvl="1"/>
            <a:r>
              <a:rPr lang="en-IN" dirty="0"/>
              <a:t>Types change </a:t>
            </a:r>
          </a:p>
          <a:p>
            <a:r>
              <a:rPr lang="en-IN" dirty="0"/>
              <a:t>Manual handling becomes difficult.</a:t>
            </a:r>
          </a:p>
          <a:p>
            <a:r>
              <a:rPr lang="en-IN" b="1" dirty="0"/>
              <a:t>Features</a:t>
            </a:r>
          </a:p>
          <a:p>
            <a:r>
              <a:rPr lang="en-IN" b="1" dirty="0"/>
              <a:t>Automatically Detect Columns and Data Types</a:t>
            </a:r>
          </a:p>
          <a:p>
            <a:r>
              <a:rPr lang="en-IN" dirty="0"/>
              <a:t>AI scans files and predicts:</a:t>
            </a:r>
          </a:p>
          <a:p>
            <a:pPr lvl="1"/>
            <a:r>
              <a:rPr lang="en-IN" dirty="0"/>
              <a:t>Integer </a:t>
            </a:r>
          </a:p>
          <a:p>
            <a:pPr lvl="1"/>
            <a:r>
              <a:rPr lang="en-IN" dirty="0"/>
              <a:t>String </a:t>
            </a:r>
          </a:p>
          <a:p>
            <a:pPr lvl="1"/>
            <a:r>
              <a:rPr lang="en-IN" dirty="0"/>
              <a:t>Date </a:t>
            </a:r>
          </a:p>
          <a:p>
            <a:pPr lvl="1"/>
            <a:r>
              <a:rPr lang="en-IN" dirty="0"/>
              <a:t>Boolean </a:t>
            </a:r>
          </a:p>
          <a:p>
            <a:pPr lvl="1"/>
            <a:r>
              <a:rPr lang="en-IN" dirty="0"/>
              <a:t>Nested JSON </a:t>
            </a:r>
          </a:p>
          <a:p>
            <a:r>
              <a:rPr lang="en-IN" b="1" dirty="0"/>
              <a:t>Structured + Semi-Structured Support</a:t>
            </a:r>
          </a:p>
          <a:p>
            <a:r>
              <a:rPr lang="en-IN" dirty="0"/>
              <a:t>Supports:</a:t>
            </a:r>
          </a:p>
          <a:p>
            <a:pPr lvl="1"/>
            <a:r>
              <a:rPr lang="en-IN" dirty="0"/>
              <a:t>CSV </a:t>
            </a:r>
          </a:p>
          <a:p>
            <a:pPr lvl="1"/>
            <a:r>
              <a:rPr lang="en-IN" dirty="0"/>
              <a:t>JSON </a:t>
            </a:r>
          </a:p>
          <a:p>
            <a:pPr lvl="1"/>
            <a:r>
              <a:rPr lang="en-IN" dirty="0"/>
              <a:t>Avro </a:t>
            </a:r>
          </a:p>
          <a:p>
            <a:pPr lvl="1"/>
            <a:r>
              <a:rPr lang="en-IN" dirty="0"/>
              <a:t>Parquet </a:t>
            </a:r>
          </a:p>
          <a:p>
            <a:r>
              <a:rPr lang="en-IN" dirty="0"/>
              <a:t>Very important in data lakes.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91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F17E-97D3-B0F2-72FA-01CBF668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2C78-CEE7-66A2-EAB6-E4001BBE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Detect Schema Drift</a:t>
            </a:r>
          </a:p>
          <a:p>
            <a:r>
              <a:rPr lang="en-IN" dirty="0"/>
              <a:t>Schema drift means:</a:t>
            </a:r>
          </a:p>
          <a:p>
            <a:pPr lvl="1"/>
            <a:r>
              <a:rPr lang="en-IN" dirty="0"/>
              <a:t>New column added </a:t>
            </a:r>
          </a:p>
          <a:p>
            <a:pPr lvl="1"/>
            <a:r>
              <a:rPr lang="en-IN" dirty="0"/>
              <a:t>Type changed </a:t>
            </a:r>
          </a:p>
          <a:p>
            <a:pPr lvl="1"/>
            <a:r>
              <a:rPr lang="en-IN" dirty="0"/>
              <a:t>Column removed 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Old: amount INT</a:t>
            </a:r>
            <a:br>
              <a:rPr lang="en-IN" dirty="0"/>
            </a:br>
            <a:r>
              <a:rPr lang="en-IN" dirty="0"/>
              <a:t>New: amount STRING</a:t>
            </a:r>
          </a:p>
          <a:p>
            <a:r>
              <a:rPr lang="en-IN" dirty="0"/>
              <a:t>AI detects drift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387506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BAFD-080F-B4EF-7C25-96F12E8DB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AI-Driven 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C1E1-9A9E-5396-DA49-29F6B030B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24050"/>
            <a:ext cx="7290055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Traditional validation:</a:t>
            </a:r>
          </a:p>
          <a:p>
            <a:pPr lvl="1"/>
            <a:r>
              <a:rPr lang="en-US" dirty="0"/>
              <a:t>Static rules </a:t>
            </a:r>
          </a:p>
          <a:p>
            <a:pPr lvl="1"/>
            <a:r>
              <a:rPr lang="en-US" dirty="0"/>
              <a:t>Manual coding </a:t>
            </a:r>
          </a:p>
          <a:p>
            <a:r>
              <a:rPr lang="en-US" dirty="0"/>
              <a:t>AI-driven validation:</a:t>
            </a:r>
          </a:p>
          <a:p>
            <a:pPr lvl="1"/>
            <a:r>
              <a:rPr lang="en-US" dirty="0"/>
              <a:t>Learns automatically </a:t>
            </a:r>
          </a:p>
          <a:p>
            <a:r>
              <a:rPr lang="en-US" b="1" dirty="0"/>
              <a:t>Dynamic Rule Generation</a:t>
            </a:r>
          </a:p>
          <a:p>
            <a:r>
              <a:rPr lang="en-US" dirty="0"/>
              <a:t>AI studies datasets and creates rules like:</a:t>
            </a:r>
          </a:p>
          <a:p>
            <a:pPr lvl="1"/>
            <a:r>
              <a:rPr lang="en-US" dirty="0"/>
              <a:t>Age should be between 0–100 </a:t>
            </a:r>
          </a:p>
          <a:p>
            <a:pPr lvl="1"/>
            <a:r>
              <a:rPr lang="en-US" dirty="0"/>
              <a:t>Order amount should not be negative </a:t>
            </a:r>
          </a:p>
          <a:p>
            <a:r>
              <a:rPr lang="en-US" b="1" dirty="0"/>
              <a:t>Metadata-Aware Validation</a:t>
            </a:r>
          </a:p>
          <a:p>
            <a:r>
              <a:rPr lang="en-US" dirty="0"/>
              <a:t>AI uses metadata:</a:t>
            </a:r>
          </a:p>
          <a:p>
            <a:pPr lvl="1"/>
            <a:r>
              <a:rPr lang="en-US" dirty="0"/>
              <a:t>Column names </a:t>
            </a:r>
          </a:p>
          <a:p>
            <a:pPr lvl="1"/>
            <a:r>
              <a:rPr lang="en-US" dirty="0"/>
              <a:t>Business glossary </a:t>
            </a:r>
          </a:p>
          <a:p>
            <a:pPr lvl="1"/>
            <a:r>
              <a:rPr lang="en-US" dirty="0"/>
              <a:t>Tags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210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EF9B-E2EE-125E-04DD-A157D386B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42925"/>
            <a:ext cx="7290055" cy="57664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Column name:</a:t>
            </a:r>
            <a:br>
              <a:rPr lang="en-US" dirty="0"/>
            </a:br>
            <a:r>
              <a:rPr lang="en-US" dirty="0" err="1"/>
              <a:t>email_address</a:t>
            </a:r>
            <a:endParaRPr lang="en-US" dirty="0"/>
          </a:p>
          <a:p>
            <a:r>
              <a:rPr lang="en-US" dirty="0"/>
              <a:t>AI automatically creates:</a:t>
            </a:r>
          </a:p>
          <a:p>
            <a:pPr lvl="1"/>
            <a:r>
              <a:rPr lang="en-US" dirty="0"/>
              <a:t>Email regex validation</a:t>
            </a:r>
            <a:endParaRPr lang="en-US" b="1" dirty="0"/>
          </a:p>
          <a:p>
            <a:r>
              <a:rPr lang="en-US" b="1" dirty="0"/>
              <a:t>Historical Pattern Analysis</a:t>
            </a:r>
          </a:p>
          <a:p>
            <a:r>
              <a:rPr lang="en-US" dirty="0"/>
              <a:t>AI studies previous datasets.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average sales are around 1000 and suddenly become 5 million:</a:t>
            </a:r>
          </a:p>
          <a:p>
            <a:r>
              <a:rPr lang="en-US" dirty="0"/>
              <a:t>AI flags anomaly </a:t>
            </a:r>
          </a:p>
          <a:p>
            <a:r>
              <a:rPr lang="en-US" b="1" dirty="0"/>
              <a:t>Automated Expectation Generation</a:t>
            </a:r>
          </a:p>
          <a:p>
            <a:r>
              <a:rPr lang="en-US" dirty="0"/>
              <a:t>AI creates expectations dynamically.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95% values should not be null </a:t>
            </a:r>
          </a:p>
          <a:p>
            <a:r>
              <a:rPr lang="en-US" dirty="0"/>
              <a:t>Timestamp must be recent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97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AI-Driven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rule generation</a:t>
            </a:r>
          </a:p>
          <a:p>
            <a:r>
              <a:t>Metadata-aware validation</a:t>
            </a:r>
          </a:p>
          <a:p>
            <a:r>
              <a:t>Historical pattern analysis</a:t>
            </a:r>
          </a:p>
          <a:p>
            <a:r>
              <a:t>Automated expectation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BCD4-1AE4-F20C-587A-A4E5E10E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Great Expectations +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FF71-C39D-5DAA-0BFF-BF1F8340C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Great Expectations</a:t>
            </a:r>
          </a:p>
          <a:p>
            <a:r>
              <a:rPr lang="en-IN" dirty="0"/>
              <a:t>A data validation framework.</a:t>
            </a:r>
          </a:p>
          <a:p>
            <a:r>
              <a:rPr lang="en-IN" dirty="0"/>
              <a:t>Normally engineers manually write:</a:t>
            </a:r>
          </a:p>
          <a:p>
            <a:r>
              <a:rPr lang="en-IN" dirty="0" err="1"/>
              <a:t>expect_column_values_to_not_be_null</a:t>
            </a:r>
            <a:r>
              <a:rPr lang="en-IN" dirty="0"/>
              <a:t>()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LLM Integration</a:t>
            </a:r>
          </a:p>
          <a:p>
            <a:r>
              <a:rPr lang="en-IN" dirty="0"/>
              <a:t>LLM reads:</a:t>
            </a:r>
          </a:p>
          <a:p>
            <a:pPr lvl="1"/>
            <a:r>
              <a:rPr lang="en-IN" dirty="0"/>
              <a:t>Dataset </a:t>
            </a:r>
          </a:p>
          <a:p>
            <a:pPr lvl="1"/>
            <a:r>
              <a:rPr lang="en-IN" dirty="0"/>
              <a:t>Metadata </a:t>
            </a:r>
          </a:p>
          <a:p>
            <a:pPr lvl="1"/>
            <a:r>
              <a:rPr lang="en-IN" dirty="0"/>
              <a:t>Sample rows </a:t>
            </a:r>
          </a:p>
          <a:p>
            <a:r>
              <a:rPr lang="en-IN" dirty="0"/>
              <a:t>And automatically generates:</a:t>
            </a:r>
          </a:p>
          <a:p>
            <a:pPr lvl="1"/>
            <a:r>
              <a:rPr lang="en-IN" dirty="0"/>
              <a:t>Expectation suites </a:t>
            </a:r>
          </a:p>
          <a:p>
            <a:pPr lvl="1"/>
            <a:r>
              <a:rPr lang="en-IN" dirty="0"/>
              <a:t>Validation logic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118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0B81-AF7B-1978-A9EE-C1034A15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5"/>
            <a:ext cx="7290054" cy="1291209"/>
          </a:xfrm>
        </p:spPr>
        <p:txBody>
          <a:bodyPr>
            <a:normAutofit/>
          </a:bodyPr>
          <a:lstStyle/>
          <a:p>
            <a:r>
              <a:rPr lang="en-IN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04B1-C291-E620-EE83-D052B7A1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Step 1 - AI Reads Dataset</a:t>
            </a:r>
          </a:p>
          <a:p>
            <a:r>
              <a:rPr lang="en-IN" dirty="0"/>
              <a:t>AI understands patterns.</a:t>
            </a:r>
          </a:p>
          <a:p>
            <a:r>
              <a:rPr lang="en-IN" b="1" dirty="0"/>
              <a:t>Step 2 - Generate Rules</a:t>
            </a:r>
          </a:p>
          <a:p>
            <a:r>
              <a:rPr lang="en-IN" dirty="0"/>
              <a:t>Example:</a:t>
            </a:r>
          </a:p>
          <a:p>
            <a:r>
              <a:rPr lang="en-IN" dirty="0" err="1"/>
              <a:t>expect_column_values_to_match_regex</a:t>
            </a:r>
            <a:r>
              <a:rPr lang="en-IN" dirty="0"/>
              <a:t>()</a:t>
            </a:r>
          </a:p>
          <a:p>
            <a:r>
              <a:rPr lang="en-IN" b="1" dirty="0"/>
              <a:t>Step 3 - Validate Data</a:t>
            </a:r>
          </a:p>
          <a:p>
            <a:r>
              <a:rPr lang="en-IN" dirty="0"/>
              <a:t>Rules execute dynamically.</a:t>
            </a:r>
          </a:p>
          <a:p>
            <a:r>
              <a:rPr lang="en-IN" b="1" dirty="0"/>
              <a:t>Step 4 - Generate Reports</a:t>
            </a:r>
          </a:p>
          <a:p>
            <a:r>
              <a:rPr lang="en-IN" dirty="0"/>
              <a:t>AI summarizes:</a:t>
            </a:r>
          </a:p>
          <a:p>
            <a:r>
              <a:rPr lang="en-IN" dirty="0"/>
              <a:t>Passed validations </a:t>
            </a:r>
          </a:p>
          <a:p>
            <a:r>
              <a:rPr lang="en-IN" dirty="0"/>
              <a:t>Failed checks </a:t>
            </a:r>
          </a:p>
          <a:p>
            <a:r>
              <a:rPr lang="en-IN" dirty="0"/>
              <a:t>Risk severity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613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Great Expectations +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validation rules automatically</a:t>
            </a:r>
          </a:p>
          <a:p>
            <a:r>
              <a:t>Build expectation suites</a:t>
            </a:r>
          </a:p>
          <a:p>
            <a:r>
              <a:t>Validate datasets dynamically</a:t>
            </a:r>
          </a:p>
          <a:p>
            <a:r>
              <a:t>Generate reports and alerts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A7C0-C825-F8F6-B79E-63A8EAA20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Perform LAB-2</a:t>
            </a:r>
            <a:endParaRPr lang="en-IN" sz="3600" dirty="0"/>
          </a:p>
          <a:p>
            <a:pPr algn="ctr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922672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4689-92FE-3048-3BD6-B624A7DE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Anomaly Detection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E6884-5BED-46B6-66DA-494CAE15F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84831"/>
            <a:ext cx="7290055" cy="459219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These agents continuously monitor pipelines.</a:t>
            </a:r>
          </a:p>
          <a:p>
            <a:r>
              <a:rPr lang="en-IN" b="1" dirty="0"/>
              <a:t>Detect Unusual Patterns</a:t>
            </a:r>
          </a:p>
          <a:p>
            <a:pPr lvl="1"/>
            <a:r>
              <a:rPr lang="en-IN" dirty="0"/>
              <a:t>AI learns normal behaviours.</a:t>
            </a:r>
          </a:p>
          <a:p>
            <a:pPr lvl="1"/>
            <a:r>
              <a:rPr lang="en-IN" dirty="0"/>
              <a:t>Anything abnormal becomes anomaly.</a:t>
            </a:r>
          </a:p>
          <a:p>
            <a:r>
              <a:rPr lang="en-IN" b="1" dirty="0"/>
              <a:t>Monitor Metrics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Row count </a:t>
            </a:r>
          </a:p>
          <a:p>
            <a:pPr lvl="1"/>
            <a:r>
              <a:rPr lang="en-IN" dirty="0"/>
              <a:t>CPU usage </a:t>
            </a:r>
          </a:p>
          <a:p>
            <a:pPr lvl="1"/>
            <a:r>
              <a:rPr lang="en-IN" dirty="0"/>
              <a:t>Pipeline execution time </a:t>
            </a:r>
          </a:p>
          <a:p>
            <a:pPr lvl="1"/>
            <a:r>
              <a:rPr lang="en-IN" dirty="0"/>
              <a:t>Null percentages </a:t>
            </a:r>
          </a:p>
          <a:p>
            <a:r>
              <a:rPr lang="en-IN" b="1" dirty="0"/>
              <a:t>Identify Spikes and Drops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Normally:</a:t>
            </a:r>
          </a:p>
          <a:p>
            <a:r>
              <a:rPr lang="en-IN" dirty="0"/>
              <a:t>10,000 rows/day</a:t>
            </a:r>
          </a:p>
          <a:p>
            <a:r>
              <a:rPr lang="en-IN" dirty="0"/>
              <a:t>Today:</a:t>
            </a:r>
          </a:p>
          <a:p>
            <a:r>
              <a:rPr lang="en-IN" dirty="0"/>
              <a:t>500 rows</a:t>
            </a:r>
          </a:p>
          <a:p>
            <a:r>
              <a:rPr lang="en-IN" dirty="0"/>
              <a:t>AI identifies abnormal drop.</a:t>
            </a:r>
          </a:p>
        </p:txBody>
      </p:sp>
    </p:spTree>
    <p:extLst>
      <p:ext uri="{BB962C8B-B14F-4D97-AF65-F5344CB8AC3E}">
        <p14:creationId xmlns:p14="http://schemas.microsoft.com/office/powerpoint/2010/main" val="645348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93E8-1E78-BCD7-2CDD-B1DD1784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4034F-FB10-1DD6-704A-FCF7A50B1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Trigger Automated Actions</a:t>
            </a:r>
          </a:p>
          <a:p>
            <a:r>
              <a:rPr lang="en-IN" dirty="0"/>
              <a:t>Possible actions:</a:t>
            </a:r>
          </a:p>
          <a:p>
            <a:r>
              <a:rPr lang="en-IN" dirty="0"/>
              <a:t>Restart pipeline </a:t>
            </a:r>
          </a:p>
          <a:p>
            <a:r>
              <a:rPr lang="en-IN" dirty="0"/>
              <a:t>Scale cluster </a:t>
            </a:r>
          </a:p>
          <a:p>
            <a:r>
              <a:rPr lang="en-IN" dirty="0"/>
              <a:t>Notify team </a:t>
            </a:r>
          </a:p>
          <a:p>
            <a:r>
              <a:rPr lang="en-IN" dirty="0"/>
              <a:t>Quarantine records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483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Anomaly Detection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unusual patterns</a:t>
            </a:r>
          </a:p>
          <a:p>
            <a:r>
              <a:t>Monitor metrics and pipelines</a:t>
            </a:r>
          </a:p>
          <a:p>
            <a:r>
              <a:t>Identify spikes and drops</a:t>
            </a:r>
          </a:p>
          <a:p>
            <a:r>
              <a:t>Trigger automated actions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81BF-9276-9F8F-414E-E0A2B642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4800" dirty="0"/>
              <a:t>Complete LAB-3,4,5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765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4937-6E39-A861-3879-EEBC742A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Auto-Quarantine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7C5F-A674-1304-7091-949C12F4A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58266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Instead of failing entire pipelines:</a:t>
            </a:r>
            <a:br>
              <a:rPr lang="en-IN" dirty="0"/>
            </a:br>
            <a:r>
              <a:rPr lang="en-IN" dirty="0"/>
              <a:t>AI isolates bad data.</a:t>
            </a:r>
          </a:p>
          <a:p>
            <a:r>
              <a:rPr lang="en-IN" b="1" dirty="0"/>
              <a:t>Steps</a:t>
            </a:r>
          </a:p>
          <a:p>
            <a:r>
              <a:rPr lang="en-IN" b="1" dirty="0"/>
              <a:t>Detect Bad Records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Invalid email format.</a:t>
            </a:r>
          </a:p>
          <a:p>
            <a:r>
              <a:rPr lang="en-IN" b="1" dirty="0"/>
              <a:t>Isolate Suspicious Data</a:t>
            </a:r>
          </a:p>
          <a:p>
            <a:r>
              <a:rPr lang="en-IN" dirty="0"/>
              <a:t>Move records into:</a:t>
            </a:r>
          </a:p>
          <a:p>
            <a:pPr lvl="1"/>
            <a:r>
              <a:rPr lang="en-IN" dirty="0"/>
              <a:t>Quarantine table </a:t>
            </a:r>
          </a:p>
          <a:p>
            <a:pPr lvl="1"/>
            <a:r>
              <a:rPr lang="en-IN" dirty="0"/>
              <a:t>Error bucket </a:t>
            </a:r>
          </a:p>
          <a:p>
            <a:pPr lvl="1"/>
            <a:r>
              <a:rPr lang="en-IN" dirty="0"/>
              <a:t>Delta quarantine layer </a:t>
            </a:r>
          </a:p>
          <a:p>
            <a:r>
              <a:rPr lang="en-IN" b="1" dirty="0"/>
              <a:t>Store Quarantined Records</a:t>
            </a:r>
          </a:p>
          <a:p>
            <a:r>
              <a:rPr lang="en-IN" dirty="0"/>
              <a:t>Useful for:</a:t>
            </a:r>
          </a:p>
          <a:p>
            <a:pPr lvl="1"/>
            <a:r>
              <a:rPr lang="en-IN" dirty="0"/>
              <a:t>Audit </a:t>
            </a:r>
          </a:p>
          <a:p>
            <a:pPr lvl="1"/>
            <a:r>
              <a:rPr lang="en-IN" dirty="0"/>
              <a:t>Reprocessing </a:t>
            </a:r>
          </a:p>
          <a:p>
            <a:pPr lvl="1"/>
            <a:r>
              <a:rPr lang="en-IN" dirty="0"/>
              <a:t>Investigation </a:t>
            </a:r>
          </a:p>
          <a:p>
            <a:r>
              <a:rPr lang="en-IN" b="1" dirty="0"/>
              <a:t>Trigger Remediation Workflow</a:t>
            </a:r>
          </a:p>
          <a:p>
            <a:r>
              <a:rPr lang="en-IN" dirty="0"/>
              <a:t>AI attempts automatic repair.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827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Auto-Quarantine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bad records</a:t>
            </a:r>
          </a:p>
          <a:p>
            <a:r>
              <a:t>Isolate suspicious data</a:t>
            </a:r>
          </a:p>
          <a:p>
            <a:r>
              <a:t>Store quarantined records</a:t>
            </a:r>
          </a:p>
          <a:p>
            <a:r>
              <a:t>Trigger remediation workflows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2F53-306D-4D8E-CF04-12612AE3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Remediation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2543-E7D0-469C-7203-A9D81B84A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24051"/>
            <a:ext cx="7290055" cy="4810124"/>
          </a:xfrm>
        </p:spPr>
        <p:txBody>
          <a:bodyPr>
            <a:normAutofit/>
          </a:bodyPr>
          <a:lstStyle/>
          <a:p>
            <a:r>
              <a:rPr lang="en-US" dirty="0"/>
              <a:t>This is one of the most powerful concepts.</a:t>
            </a:r>
          </a:p>
          <a:p>
            <a:r>
              <a:rPr lang="en-US" b="1" dirty="0"/>
              <a:t>Fix Formatting Issues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01-12-25</a:t>
            </a:r>
          </a:p>
          <a:p>
            <a:r>
              <a:rPr lang="en-US" dirty="0"/>
              <a:t>Convert into:</a:t>
            </a:r>
          </a:p>
          <a:p>
            <a:r>
              <a:rPr lang="en-US" dirty="0"/>
              <a:t>2025-12-01</a:t>
            </a:r>
          </a:p>
          <a:p>
            <a:r>
              <a:rPr lang="en-US" b="1" dirty="0"/>
              <a:t>Correct Mappings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Male → M</a:t>
            </a:r>
            <a:br>
              <a:rPr lang="en-US" dirty="0"/>
            </a:br>
            <a:r>
              <a:rPr lang="en-US" dirty="0"/>
              <a:t>Female → 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50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BD4D-22C8-8E50-A46A-5363D5D9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808AE-21E1-94E8-3318-5DCA3950C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Fill Missing Values</a:t>
            </a:r>
          </a:p>
          <a:p>
            <a:r>
              <a:rPr lang="en-US" dirty="0"/>
              <a:t>Using:</a:t>
            </a:r>
          </a:p>
          <a:p>
            <a:pPr lvl="1"/>
            <a:r>
              <a:rPr lang="en-US" dirty="0"/>
              <a:t>Historical averages </a:t>
            </a:r>
          </a:p>
          <a:p>
            <a:pPr lvl="1"/>
            <a:r>
              <a:rPr lang="en-US" dirty="0"/>
              <a:t>ML prediction </a:t>
            </a:r>
          </a:p>
          <a:p>
            <a:pPr lvl="1"/>
            <a:r>
              <a:rPr lang="en-US" dirty="0"/>
              <a:t>Default business logic </a:t>
            </a:r>
          </a:p>
          <a:p>
            <a:r>
              <a:rPr lang="en-US" b="1" dirty="0"/>
              <a:t>Reprocess Failed Records</a:t>
            </a:r>
          </a:p>
          <a:p>
            <a:r>
              <a:rPr lang="en-US" dirty="0"/>
              <a:t>Once fixed:</a:t>
            </a:r>
          </a:p>
          <a:p>
            <a:pPr lvl="1"/>
            <a:r>
              <a:rPr lang="en-US" dirty="0"/>
              <a:t>Pipeline reruns automatically </a:t>
            </a:r>
          </a:p>
          <a:p>
            <a:r>
              <a:rPr lang="en-US" dirty="0"/>
              <a:t>This reduces operational effort.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531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Automated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 formatting issues</a:t>
            </a:r>
          </a:p>
          <a:p>
            <a:r>
              <a:t>Correct mappings</a:t>
            </a:r>
          </a:p>
          <a:p>
            <a:r>
              <a:t>Fill missing values</a:t>
            </a:r>
          </a:p>
          <a:p>
            <a:r>
              <a:t>Reprocess failed records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FD353-7D0C-803C-9C65-4261EE895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COMPLETE LAB-6,7,8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051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Detection and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Critical for governance.</a:t>
            </a:r>
            <a:endParaRPr lang="en-US" dirty="0"/>
          </a:p>
          <a:p>
            <a:r>
              <a:rPr dirty="0"/>
              <a:t>Detect emails and phone numbers</a:t>
            </a:r>
            <a:endParaRPr lang="en-US" dirty="0"/>
          </a:p>
          <a:p>
            <a:r>
              <a:rPr lang="it-IT" dirty="0"/>
              <a:t>Using:</a:t>
            </a:r>
          </a:p>
          <a:p>
            <a:pPr lvl="1"/>
            <a:r>
              <a:rPr lang="it-IT" dirty="0"/>
              <a:t>Regex </a:t>
            </a:r>
          </a:p>
          <a:p>
            <a:pPr lvl="1"/>
            <a:r>
              <a:rPr lang="it-IT" dirty="0"/>
              <a:t>NLP </a:t>
            </a:r>
          </a:p>
          <a:p>
            <a:pPr lvl="1"/>
            <a:r>
              <a:rPr lang="it-IT" dirty="0"/>
              <a:t>AI classification</a:t>
            </a:r>
            <a:endParaRPr dirty="0"/>
          </a:p>
          <a:p>
            <a:r>
              <a:rPr dirty="0"/>
              <a:t>Identify sensitive financial data</a:t>
            </a:r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Credit card numbers </a:t>
            </a:r>
          </a:p>
          <a:p>
            <a:pPr lvl="1"/>
            <a:r>
              <a:rPr lang="en-US" dirty="0"/>
              <a:t>PAN </a:t>
            </a:r>
          </a:p>
          <a:p>
            <a:pPr lvl="1"/>
            <a:r>
              <a:rPr lang="en-US" dirty="0"/>
              <a:t>Bank account details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AF8C-CA18-16C0-B5DE-EE3C1362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445FA-5B8F-DD64-F68E-D368C9B95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Classify healthcare information</a:t>
            </a:r>
          </a:p>
          <a:p>
            <a:r>
              <a:rPr lang="en-IN" dirty="0"/>
              <a:t>Detect:</a:t>
            </a:r>
          </a:p>
          <a:p>
            <a:pPr lvl="1"/>
            <a:r>
              <a:rPr lang="en-IN" dirty="0"/>
              <a:t>Patient IDs </a:t>
            </a:r>
          </a:p>
          <a:p>
            <a:pPr lvl="1"/>
            <a:r>
              <a:rPr lang="en-IN" dirty="0"/>
              <a:t>Diagnoses </a:t>
            </a:r>
          </a:p>
          <a:p>
            <a:pPr lvl="1"/>
            <a:r>
              <a:rPr lang="en-IN" dirty="0"/>
              <a:t>Medical history </a:t>
            </a:r>
          </a:p>
          <a:p>
            <a:pPr lvl="1"/>
            <a:r>
              <a:rPr lang="en-IN" dirty="0"/>
              <a:t>Important for HIPAA compliance.</a:t>
            </a:r>
            <a:endParaRPr lang="en-US" dirty="0"/>
          </a:p>
          <a:p>
            <a:r>
              <a:rPr lang="en-US" dirty="0"/>
              <a:t>Apply governance labels</a:t>
            </a:r>
          </a:p>
          <a:p>
            <a:r>
              <a:rPr lang="en-US" dirty="0"/>
              <a:t>AI automatically tags:</a:t>
            </a:r>
          </a:p>
          <a:p>
            <a:pPr lvl="1"/>
            <a:r>
              <a:rPr lang="en-US" dirty="0"/>
              <a:t>Confidential </a:t>
            </a:r>
          </a:p>
          <a:p>
            <a:pPr lvl="1"/>
            <a:r>
              <a:rPr lang="en-US" dirty="0"/>
              <a:t>Restricted </a:t>
            </a:r>
          </a:p>
          <a:p>
            <a:pPr lvl="1"/>
            <a:r>
              <a:rPr lang="en-US" dirty="0"/>
              <a:t>Public </a:t>
            </a:r>
          </a:p>
          <a:p>
            <a:r>
              <a:rPr lang="en-US" dirty="0"/>
              <a:t>Useful in:</a:t>
            </a:r>
          </a:p>
          <a:p>
            <a:pPr lvl="1"/>
            <a:r>
              <a:rPr lang="en-US" dirty="0"/>
              <a:t>Microsoft Purview </a:t>
            </a:r>
          </a:p>
          <a:p>
            <a:pPr lvl="1"/>
            <a:r>
              <a:rPr lang="en-US" dirty="0"/>
              <a:t>Unity Catalog </a:t>
            </a:r>
          </a:p>
          <a:p>
            <a:pPr lvl="1"/>
            <a:r>
              <a:rPr lang="en-US" dirty="0"/>
              <a:t>Data catalogs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381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5E00-52A0-CAD5-CF7A-E29A7C337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4400" dirty="0"/>
              <a:t>PERFORM LAB-9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980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Self-Healing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5999"/>
            <a:ext cx="7290055" cy="437197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Workflow:</a:t>
            </a:r>
            <a:endParaRPr lang="en-US" dirty="0"/>
          </a:p>
          <a:p>
            <a:r>
              <a:rPr dirty="0"/>
              <a:t>Detect failures</a:t>
            </a:r>
            <a:endParaRPr lang="en-US" dirty="0"/>
          </a:p>
          <a:p>
            <a:pPr lvl="1"/>
            <a:r>
              <a:rPr lang="en-IN" dirty="0"/>
              <a:t>Pipeline crashes or validation fails.</a:t>
            </a:r>
            <a:endParaRPr dirty="0"/>
          </a:p>
          <a:p>
            <a:r>
              <a:rPr dirty="0"/>
              <a:t>Diagnose issues</a:t>
            </a:r>
            <a:endParaRPr lang="en-US" dirty="0"/>
          </a:p>
          <a:p>
            <a:pPr lvl="1"/>
            <a:r>
              <a:rPr lang="en-US" dirty="0"/>
              <a:t>AI identifies:</a:t>
            </a:r>
          </a:p>
          <a:p>
            <a:pPr lvl="2"/>
            <a:r>
              <a:rPr lang="en-US" dirty="0"/>
              <a:t>Root cause </a:t>
            </a:r>
          </a:p>
          <a:p>
            <a:pPr lvl="2"/>
            <a:r>
              <a:rPr lang="en-US" dirty="0"/>
              <a:t>Impact </a:t>
            </a:r>
          </a:p>
          <a:p>
            <a:pPr lvl="2"/>
            <a:r>
              <a:rPr lang="en-US" dirty="0"/>
              <a:t>Severity</a:t>
            </a:r>
            <a:endParaRPr dirty="0"/>
          </a:p>
          <a:p>
            <a:r>
              <a:rPr dirty="0"/>
              <a:t>Apply fixes</a:t>
            </a:r>
            <a:endParaRPr lang="en-US" dirty="0"/>
          </a:p>
          <a:p>
            <a:pPr lvl="1"/>
            <a:r>
              <a:rPr lang="en-IN" dirty="0"/>
              <a:t>AI attempts repair automatically.</a:t>
            </a:r>
            <a:endParaRPr dirty="0"/>
          </a:p>
          <a:p>
            <a:r>
              <a:rPr dirty="0"/>
              <a:t>Re-run pipelines</a:t>
            </a:r>
            <a:endParaRPr lang="en-US" dirty="0"/>
          </a:p>
          <a:p>
            <a:pPr lvl="1"/>
            <a:r>
              <a:rPr lang="en-IN" dirty="0"/>
              <a:t>Pipeline restarts after correction.</a:t>
            </a:r>
          </a:p>
          <a:p>
            <a:r>
              <a:rPr dirty="0"/>
              <a:t>Generate alerts</a:t>
            </a:r>
            <a:endParaRPr lang="en-US" dirty="0"/>
          </a:p>
          <a:p>
            <a:pPr lvl="1"/>
            <a:r>
              <a:rPr lang="en-US" dirty="0"/>
              <a:t>Only escalate when unresolved.</a:t>
            </a:r>
          </a:p>
          <a:p>
            <a:pPr lvl="1"/>
            <a:r>
              <a:rPr lang="en-US" dirty="0"/>
              <a:t>This dramatically reduces downtime.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Diagnosis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the “brain” of self-healing systems.</a:t>
            </a:r>
          </a:p>
          <a:p>
            <a:endParaRPr lang="en-IN" dirty="0"/>
          </a:p>
          <a:p>
            <a:r>
              <a:rPr dirty="0"/>
              <a:t>Analyze root causes</a:t>
            </a:r>
            <a:endParaRPr lang="en-US" dirty="0"/>
          </a:p>
          <a:p>
            <a:pPr lvl="1"/>
            <a:r>
              <a:rPr lang="en-IN" dirty="0"/>
              <a:t>AI studies:</a:t>
            </a:r>
          </a:p>
          <a:p>
            <a:pPr lvl="2"/>
            <a:r>
              <a:rPr lang="en-IN" dirty="0"/>
              <a:t>Logs </a:t>
            </a:r>
          </a:p>
          <a:p>
            <a:pPr lvl="2"/>
            <a:r>
              <a:rPr lang="en-IN" dirty="0"/>
              <a:t>Errors </a:t>
            </a:r>
          </a:p>
          <a:p>
            <a:pPr lvl="2"/>
            <a:r>
              <a:rPr lang="en-IN" dirty="0"/>
              <a:t>Metadata </a:t>
            </a:r>
          </a:p>
          <a:p>
            <a:pPr lvl="2"/>
            <a:r>
              <a:rPr lang="en-IN" dirty="0"/>
              <a:t>Historical incidents</a:t>
            </a:r>
            <a:endParaRPr dirty="0"/>
          </a:p>
          <a:p>
            <a:r>
              <a:rPr dirty="0"/>
              <a:t>Summarize incidents</a:t>
            </a:r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Failure caused by schema mismatch in </a:t>
            </a:r>
            <a:r>
              <a:rPr lang="en-US" dirty="0" err="1"/>
              <a:t>customer_id</a:t>
            </a:r>
            <a:r>
              <a:rPr lang="en-US" dirty="0"/>
              <a:t> column.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ED66-8B3E-E06E-BFBE-8D419115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26424-6020-7395-DEBD-224539925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Recommend remediation</a:t>
            </a:r>
          </a:p>
          <a:p>
            <a:pPr lvl="1"/>
            <a:r>
              <a:rPr lang="en-US" dirty="0"/>
              <a:t>AI suggests:</a:t>
            </a:r>
          </a:p>
          <a:p>
            <a:pPr lvl="2"/>
            <a:r>
              <a:rPr lang="en-US" dirty="0"/>
              <a:t>Type conversion </a:t>
            </a:r>
          </a:p>
          <a:p>
            <a:pPr lvl="2"/>
            <a:r>
              <a:rPr lang="en-US" dirty="0"/>
              <a:t>Retry </a:t>
            </a:r>
          </a:p>
          <a:p>
            <a:pPr lvl="2"/>
            <a:r>
              <a:rPr lang="en-US" dirty="0"/>
              <a:t>Resource scaling </a:t>
            </a:r>
            <a:endParaRPr lang="en-IN" dirty="0"/>
          </a:p>
          <a:p>
            <a:r>
              <a:rPr lang="en-IN" dirty="0"/>
              <a:t>Prioritize failures</a:t>
            </a:r>
          </a:p>
          <a:p>
            <a:r>
              <a:rPr lang="en-US" dirty="0"/>
              <a:t>Critical pipelines receive higher priority.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421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51C6A-5214-E5B7-7AB4-E7F21ECE3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LAB-10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56969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for Self-Healing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LangGraph</a:t>
            </a:r>
            <a:r>
              <a:rPr lang="en-US" dirty="0"/>
              <a:t> helps build intelligent workflows using agents.</a:t>
            </a:r>
          </a:p>
          <a:p>
            <a:endParaRPr lang="en-IN" dirty="0"/>
          </a:p>
          <a:p>
            <a:r>
              <a:rPr b="1" dirty="0"/>
              <a:t>Stateful workflows</a:t>
            </a:r>
            <a:endParaRPr lang="en-US" b="1" dirty="0"/>
          </a:p>
          <a:p>
            <a:r>
              <a:rPr lang="en-US" dirty="0"/>
              <a:t>The workflow remembers:</a:t>
            </a:r>
          </a:p>
          <a:p>
            <a:pPr lvl="1"/>
            <a:r>
              <a:rPr lang="en-US" dirty="0"/>
              <a:t>Previous attempts </a:t>
            </a:r>
          </a:p>
          <a:p>
            <a:pPr lvl="1"/>
            <a:r>
              <a:rPr lang="en-US" dirty="0"/>
              <a:t>Failure history </a:t>
            </a:r>
          </a:p>
          <a:p>
            <a:pPr lvl="1"/>
            <a:r>
              <a:rPr lang="en-US" dirty="0"/>
              <a:t>Recovery actions</a:t>
            </a:r>
            <a:endParaRPr dirty="0"/>
          </a:p>
          <a:p>
            <a:r>
              <a:rPr b="1" dirty="0"/>
              <a:t>Retry logic</a:t>
            </a:r>
            <a:endParaRPr lang="en-US" b="1" dirty="0"/>
          </a:p>
          <a:p>
            <a:r>
              <a:rPr lang="en-US" dirty="0"/>
              <a:t>If failure occurs:</a:t>
            </a:r>
          </a:p>
          <a:p>
            <a:pPr lvl="1"/>
            <a:r>
              <a:rPr lang="en-US" dirty="0"/>
              <a:t>Retry intelligently </a:t>
            </a:r>
          </a:p>
          <a:p>
            <a:pPr lvl="1"/>
            <a:r>
              <a:rPr lang="en-US" dirty="0"/>
              <a:t>Use exponential backoff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A04FC-8E48-302E-6D83-DC0DC398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55BB-1CC4-1313-B0DA-2B9C17ED4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Decision branching</a:t>
            </a:r>
          </a:p>
          <a:p>
            <a:r>
              <a:rPr lang="en-US" dirty="0"/>
              <a:t>AI chooses different paths.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If schema error → apply schema fix</a:t>
            </a:r>
            <a:br>
              <a:rPr lang="en-US" dirty="0"/>
            </a:br>
            <a:r>
              <a:rPr lang="en-US" dirty="0"/>
              <a:t>Else if timeout → retry job</a:t>
            </a:r>
          </a:p>
          <a:p>
            <a:r>
              <a:rPr lang="en-US" b="1" dirty="0"/>
              <a:t>Persistent workflow memory</a:t>
            </a:r>
          </a:p>
          <a:p>
            <a:r>
              <a:rPr lang="en-US" dirty="0"/>
              <a:t>Memory enables:</a:t>
            </a:r>
          </a:p>
          <a:p>
            <a:pPr lvl="1"/>
            <a:r>
              <a:rPr lang="en-US" dirty="0"/>
              <a:t>Long-running autonomous systems </a:t>
            </a:r>
          </a:p>
          <a:p>
            <a:pPr lvl="1"/>
            <a:r>
              <a:rPr lang="en-US" dirty="0"/>
              <a:t>Multi-step recovery</a:t>
            </a:r>
          </a:p>
        </p:txBody>
      </p:sp>
    </p:spTree>
    <p:extLst>
      <p:ext uri="{BB962C8B-B14F-4D97-AF65-F5344CB8AC3E}">
        <p14:creationId xmlns:p14="http://schemas.microsoft.com/office/powerpoint/2010/main" val="3335942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BFD6-5BD3-75DE-D051-066026A4B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PERFORM LAB-11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04743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Cortex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AI-powered analytics</a:t>
            </a:r>
            <a:endParaRPr lang="en-US" dirty="0"/>
          </a:p>
          <a:p>
            <a:pPr lvl="1"/>
            <a:r>
              <a:rPr lang="en-US" dirty="0"/>
              <a:t>Natural language analysis on warehouse data.</a:t>
            </a:r>
            <a:endParaRPr dirty="0"/>
          </a:p>
          <a:p>
            <a:r>
              <a:rPr dirty="0"/>
              <a:t>Root-cause summarization</a:t>
            </a:r>
            <a:endParaRPr lang="en-US" dirty="0"/>
          </a:p>
          <a:p>
            <a:pPr lvl="1"/>
            <a:r>
              <a:rPr lang="en-IN" dirty="0"/>
              <a:t>AI summarizes incidents automatically.</a:t>
            </a:r>
            <a:endParaRPr dirty="0"/>
          </a:p>
          <a:p>
            <a:r>
              <a:rPr dirty="0"/>
              <a:t>Natural language insights</a:t>
            </a:r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“Sales dropped 35% due to ingestion delays.”</a:t>
            </a:r>
            <a:endParaRPr dirty="0"/>
          </a:p>
          <a:p>
            <a:r>
              <a:rPr dirty="0"/>
              <a:t>Intelligent monitoring</a:t>
            </a:r>
            <a:endParaRPr lang="en-US" dirty="0"/>
          </a:p>
          <a:p>
            <a:pPr lvl="1"/>
            <a:r>
              <a:rPr lang="en-US" dirty="0"/>
              <a:t>AI continuously analyzes warehouse behavior.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11BB0-4074-AD78-2622-089FE2C5C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PERFORM LAB-14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038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Autonomous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Reduced downtime</a:t>
            </a:r>
            <a:endParaRPr lang="en-US" dirty="0"/>
          </a:p>
          <a:p>
            <a:pPr lvl="1"/>
            <a:r>
              <a:rPr lang="en-IN" dirty="0"/>
              <a:t>Self-healing systems recover faster.</a:t>
            </a:r>
            <a:endParaRPr dirty="0"/>
          </a:p>
          <a:p>
            <a:r>
              <a:rPr dirty="0"/>
              <a:t>Improved reliability</a:t>
            </a:r>
            <a:endParaRPr lang="en-US" dirty="0"/>
          </a:p>
          <a:p>
            <a:pPr lvl="1"/>
            <a:r>
              <a:rPr lang="en-IN" dirty="0"/>
              <a:t>Pipelines become resilient.</a:t>
            </a:r>
            <a:endParaRPr dirty="0"/>
          </a:p>
          <a:p>
            <a:r>
              <a:rPr dirty="0"/>
              <a:t>Lower operational cost</a:t>
            </a:r>
            <a:endParaRPr lang="en-US" dirty="0"/>
          </a:p>
          <a:p>
            <a:pPr lvl="1"/>
            <a:r>
              <a:rPr lang="en-IN" dirty="0"/>
              <a:t>Less manual monitoring.</a:t>
            </a:r>
            <a:endParaRPr dirty="0"/>
          </a:p>
          <a:p>
            <a:r>
              <a:rPr dirty="0"/>
              <a:t>Enhanced governance</a:t>
            </a:r>
            <a:endParaRPr lang="en-US" dirty="0"/>
          </a:p>
          <a:p>
            <a:pPr lvl="1"/>
            <a:r>
              <a:rPr lang="en-US" dirty="0"/>
              <a:t>AI automatically classifies and monitors data.</a:t>
            </a:r>
            <a:endParaRPr dirty="0"/>
          </a:p>
          <a:p>
            <a:r>
              <a:rPr dirty="0"/>
              <a:t>Scalable AI operations</a:t>
            </a:r>
            <a:endParaRPr lang="en-US" dirty="0"/>
          </a:p>
          <a:p>
            <a:pPr lvl="1"/>
            <a:r>
              <a:rPr lang="en-US" dirty="0"/>
              <a:t>Large enterprises can manage thousands of pipelines efficiently.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Human approval for critical fixes</a:t>
            </a:r>
            <a:endParaRPr lang="en-US" b="1" dirty="0"/>
          </a:p>
          <a:p>
            <a:r>
              <a:rPr lang="en-US" dirty="0"/>
              <a:t>Do not allow AI to make dangerous changes automatically.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Schema deletion </a:t>
            </a:r>
          </a:p>
          <a:p>
            <a:pPr lvl="1"/>
            <a:r>
              <a:rPr lang="en-US" dirty="0"/>
              <a:t>Production overwrite </a:t>
            </a:r>
          </a:p>
          <a:p>
            <a:r>
              <a:rPr lang="en-US" dirty="0"/>
              <a:t>Require approval.</a:t>
            </a:r>
            <a:endParaRPr dirty="0"/>
          </a:p>
          <a:p>
            <a:r>
              <a:rPr b="1" dirty="0"/>
              <a:t>Audit logging</a:t>
            </a:r>
            <a:endParaRPr lang="en-US" b="1" dirty="0"/>
          </a:p>
          <a:p>
            <a:r>
              <a:rPr lang="en-US" dirty="0"/>
              <a:t>Track:</a:t>
            </a:r>
          </a:p>
          <a:p>
            <a:pPr lvl="1"/>
            <a:r>
              <a:rPr lang="en-US" dirty="0"/>
              <a:t>What AI changed </a:t>
            </a:r>
          </a:p>
          <a:p>
            <a:pPr lvl="1"/>
            <a:r>
              <a:rPr lang="en-US" dirty="0"/>
              <a:t>When </a:t>
            </a:r>
          </a:p>
          <a:p>
            <a:pPr lvl="1"/>
            <a:r>
              <a:rPr lang="en-US" dirty="0"/>
              <a:t>Why</a:t>
            </a:r>
            <a:endParaRPr b="1" dirty="0"/>
          </a:p>
          <a:p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D6BA-B36D-19DB-D568-9FB14063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14C03-00A1-6205-2106-598731D6D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RBAC enforcement</a:t>
            </a:r>
          </a:p>
          <a:p>
            <a:pPr lvl="1"/>
            <a:r>
              <a:rPr lang="en-US" dirty="0"/>
              <a:t>Use Role-Based Access Control.</a:t>
            </a:r>
          </a:p>
          <a:p>
            <a:pPr lvl="1"/>
            <a:r>
              <a:rPr lang="en-US" dirty="0"/>
              <a:t>AI should only access permitted systems.</a:t>
            </a:r>
            <a:endParaRPr lang="en-IN" dirty="0"/>
          </a:p>
          <a:p>
            <a:r>
              <a:rPr lang="en-IN" dirty="0"/>
              <a:t>Continuous AI monitoring</a:t>
            </a:r>
          </a:p>
          <a:p>
            <a:pPr lvl="1"/>
            <a:r>
              <a:rPr lang="en-IN" dirty="0"/>
              <a:t>Monitor AI </a:t>
            </a:r>
            <a:r>
              <a:rPr lang="en-IN" dirty="0" err="1"/>
              <a:t>behavior</a:t>
            </a:r>
            <a:r>
              <a:rPr lang="en-IN" dirty="0"/>
              <a:t> itself.</a:t>
            </a:r>
          </a:p>
          <a:p>
            <a:r>
              <a:rPr lang="en-IN" b="1" dirty="0"/>
              <a:t>Validation checkpoints</a:t>
            </a:r>
          </a:p>
          <a:p>
            <a:r>
              <a:rPr lang="en-US" dirty="0"/>
              <a:t>Even after remediation:</a:t>
            </a:r>
          </a:p>
          <a:p>
            <a:pPr lvl="1"/>
            <a:r>
              <a:rPr lang="en-US" dirty="0"/>
              <a:t>Revalidate data quality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872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Banking fraud detection</a:t>
            </a:r>
            <a:endParaRPr lang="en-US" dirty="0"/>
          </a:p>
          <a:p>
            <a:pPr lvl="1"/>
            <a:r>
              <a:rPr lang="en-IN" dirty="0"/>
              <a:t>AI identifies suspicious transactions.</a:t>
            </a:r>
            <a:endParaRPr dirty="0"/>
          </a:p>
          <a:p>
            <a:r>
              <a:rPr dirty="0"/>
              <a:t>Healthcare PHI monitoring</a:t>
            </a:r>
            <a:endParaRPr lang="en-US" dirty="0"/>
          </a:p>
          <a:p>
            <a:pPr lvl="1"/>
            <a:r>
              <a:rPr lang="en-IN" dirty="0"/>
              <a:t>Protect patient information.</a:t>
            </a:r>
            <a:endParaRPr dirty="0"/>
          </a:p>
          <a:p>
            <a:r>
              <a:rPr dirty="0"/>
              <a:t>Retail anomaly detection</a:t>
            </a:r>
            <a:endParaRPr lang="en-US" dirty="0"/>
          </a:p>
          <a:p>
            <a:pPr lvl="1"/>
            <a:r>
              <a:rPr lang="en-IN" dirty="0"/>
              <a:t>Detect unusual sales patterns.</a:t>
            </a:r>
            <a:endParaRPr dirty="0"/>
          </a:p>
          <a:p>
            <a:r>
              <a:rPr dirty="0"/>
              <a:t>Insurance claim validation</a:t>
            </a:r>
            <a:endParaRPr lang="en-US" dirty="0"/>
          </a:p>
          <a:p>
            <a:pPr lvl="1"/>
            <a:r>
              <a:rPr lang="en-US" dirty="0"/>
              <a:t>Detect fake or inconsistent claims.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Autonomous Data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AI-native data engineering</a:t>
            </a:r>
            <a:endParaRPr lang="en-US" dirty="0"/>
          </a:p>
          <a:p>
            <a:pPr lvl="1"/>
            <a:r>
              <a:rPr lang="en-IN" dirty="0"/>
              <a:t>AI becomes core infrastructure.</a:t>
            </a:r>
            <a:endParaRPr dirty="0"/>
          </a:p>
          <a:p>
            <a:r>
              <a:rPr dirty="0"/>
              <a:t>Self-healing </a:t>
            </a:r>
            <a:r>
              <a:rPr dirty="0" err="1"/>
              <a:t>lakehouses</a:t>
            </a:r>
            <a:endParaRPr lang="en-US" dirty="0"/>
          </a:p>
          <a:p>
            <a:pPr lvl="1"/>
            <a:r>
              <a:rPr lang="en-IN" dirty="0" err="1"/>
              <a:t>Lakehouses</a:t>
            </a:r>
            <a:r>
              <a:rPr lang="en-IN" dirty="0"/>
              <a:t> automatically repair themselves.</a:t>
            </a:r>
            <a:endParaRPr dirty="0"/>
          </a:p>
          <a:p>
            <a:r>
              <a:rPr dirty="0"/>
              <a:t>Autonomous governance</a:t>
            </a:r>
            <a:endParaRPr lang="en-US" dirty="0"/>
          </a:p>
          <a:p>
            <a:pPr lvl="1"/>
            <a:r>
              <a:rPr lang="en-IN" dirty="0"/>
              <a:t>AI continuously enforces compliance.</a:t>
            </a:r>
            <a:endParaRPr dirty="0"/>
          </a:p>
          <a:p>
            <a:r>
              <a:rPr dirty="0"/>
              <a:t>Intelligent observability</a:t>
            </a:r>
            <a:endParaRPr lang="en-US" dirty="0"/>
          </a:p>
          <a:p>
            <a:pPr lvl="1"/>
            <a:r>
              <a:rPr lang="en-US" dirty="0"/>
              <a:t>Observability platforms become proactive instead of reactive.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647E9-CE14-33AA-CAB2-691F51014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PERFORM LAB-19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38205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72</TotalTime>
  <Words>1260</Words>
  <Application>Microsoft Office PowerPoint</Application>
  <PresentationFormat>On-screen Show (4:3)</PresentationFormat>
  <Paragraphs>403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Tw Cen MT</vt:lpstr>
      <vt:lpstr>Tw Cen MT Condensed</vt:lpstr>
      <vt:lpstr>Wingdings 3</vt:lpstr>
      <vt:lpstr>Integral</vt:lpstr>
      <vt:lpstr>Autonomous AI Agents for Data Quality, Ingestion &amp; Self-Healing Pipelines</vt:lpstr>
      <vt:lpstr>Learning Objectives</vt:lpstr>
      <vt:lpstr>Autonomous Ingestion Agent</vt:lpstr>
      <vt:lpstr>PowerPoint Presentation</vt:lpstr>
      <vt:lpstr>PowerPoint Presentation</vt:lpstr>
      <vt:lpstr>PowerPoint Presentation</vt:lpstr>
      <vt:lpstr>Schema Detection Engine</vt:lpstr>
      <vt:lpstr>PowerPoint Presentation</vt:lpstr>
      <vt:lpstr>CONTD</vt:lpstr>
      <vt:lpstr>AI-Driven Data Quality</vt:lpstr>
      <vt:lpstr>PowerPoint Presentation</vt:lpstr>
      <vt:lpstr>AI-Driven Data Quality</vt:lpstr>
      <vt:lpstr>Great Expectations + LLM</vt:lpstr>
      <vt:lpstr>Workflow</vt:lpstr>
      <vt:lpstr>Great Expectations + LLM</vt:lpstr>
      <vt:lpstr>PowerPoint Presentation</vt:lpstr>
      <vt:lpstr>Anomaly Detection Agents</vt:lpstr>
      <vt:lpstr>CONTD</vt:lpstr>
      <vt:lpstr>Anomaly Detection Agents</vt:lpstr>
      <vt:lpstr>PowerPoint Presentation</vt:lpstr>
      <vt:lpstr>Auto-Quarantine Workflow</vt:lpstr>
      <vt:lpstr>Auto-Quarantine Workflow</vt:lpstr>
      <vt:lpstr>Automated Remediation</vt:lpstr>
      <vt:lpstr>CONTD</vt:lpstr>
      <vt:lpstr>Automated Remediation</vt:lpstr>
      <vt:lpstr>PowerPoint Presentation</vt:lpstr>
      <vt:lpstr>PII Detection and Classification</vt:lpstr>
      <vt:lpstr>CONTD</vt:lpstr>
      <vt:lpstr>PowerPoint Presentation</vt:lpstr>
      <vt:lpstr>Self-Healing Pipeline Overview</vt:lpstr>
      <vt:lpstr>AI Diagnosis Engine</vt:lpstr>
      <vt:lpstr>CONTD</vt:lpstr>
      <vt:lpstr>PowerPoint Presentation</vt:lpstr>
      <vt:lpstr>LangGraph for Self-Healing</vt:lpstr>
      <vt:lpstr>CONTD</vt:lpstr>
      <vt:lpstr>PowerPoint Presentation</vt:lpstr>
      <vt:lpstr>Snowflake Cortex Integration</vt:lpstr>
      <vt:lpstr>PowerPoint Presentation</vt:lpstr>
      <vt:lpstr>Benefits of Autonomous Data Engineering</vt:lpstr>
      <vt:lpstr>Best Practices</vt:lpstr>
      <vt:lpstr>CONTD</vt:lpstr>
      <vt:lpstr>Enterprise Use Cases</vt:lpstr>
      <vt:lpstr>Future of Autonomous Data Platforms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224</cp:revision>
  <dcterms:created xsi:type="dcterms:W3CDTF">2013-01-27T09:14:16Z</dcterms:created>
  <dcterms:modified xsi:type="dcterms:W3CDTF">2026-05-12T04:50:14Z</dcterms:modified>
  <cp:category/>
</cp:coreProperties>
</file>