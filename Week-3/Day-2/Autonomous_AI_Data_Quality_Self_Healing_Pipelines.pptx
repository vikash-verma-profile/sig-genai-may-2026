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74" r:id="rId5"/>
    <p:sldId id="275" r:id="rId6"/>
    <p:sldId id="291" r:id="rId7"/>
    <p:sldId id="259" r:id="rId8"/>
    <p:sldId id="276" r:id="rId9"/>
    <p:sldId id="277" r:id="rId10"/>
    <p:sldId id="278" r:id="rId11"/>
    <p:sldId id="279" r:id="rId12"/>
    <p:sldId id="260" r:id="rId13"/>
    <p:sldId id="280" r:id="rId14"/>
    <p:sldId id="281" r:id="rId15"/>
    <p:sldId id="261" r:id="rId16"/>
    <p:sldId id="292" r:id="rId17"/>
    <p:sldId id="282" r:id="rId18"/>
    <p:sldId id="283" r:id="rId19"/>
    <p:sldId id="262" r:id="rId20"/>
    <p:sldId id="293" r:id="rId21"/>
    <p:sldId id="284" r:id="rId22"/>
    <p:sldId id="263" r:id="rId23"/>
    <p:sldId id="285" r:id="rId24"/>
    <p:sldId id="286" r:id="rId25"/>
    <p:sldId id="264" r:id="rId26"/>
    <p:sldId id="294" r:id="rId27"/>
    <p:sldId id="265" r:id="rId28"/>
    <p:sldId id="287" r:id="rId29"/>
    <p:sldId id="295" r:id="rId30"/>
    <p:sldId id="266" r:id="rId31"/>
    <p:sldId id="267" r:id="rId32"/>
    <p:sldId id="288" r:id="rId33"/>
    <p:sldId id="296" r:id="rId34"/>
    <p:sldId id="268" r:id="rId35"/>
    <p:sldId id="289" r:id="rId36"/>
    <p:sldId id="297" r:id="rId37"/>
    <p:sldId id="269" r:id="rId38"/>
    <p:sldId id="298" r:id="rId39"/>
    <p:sldId id="270" r:id="rId40"/>
    <p:sldId id="271" r:id="rId41"/>
    <p:sldId id="290" r:id="rId42"/>
    <p:sldId id="272" r:id="rId43"/>
    <p:sldId id="273" r:id="rId44"/>
    <p:sldId id="299" r:id="rId45"/>
    <p:sldId id="300" r:id="rId4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46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553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800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0426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059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59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2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230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36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6972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890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8016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152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Autonomous AI Agents for Data Quality, Ingestion &amp; Self-Healing Pipelines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Vikash Verma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Understand autonomous ingestion workflows</a:t>
            </a:r>
          </a:p>
          <a:p>
            <a:r>
              <a:t>Implement AI-driven validation systems</a:t>
            </a:r>
          </a:p>
          <a:p>
            <a:r>
              <a:t>Design anomaly detection agents</a:t>
            </a:r>
          </a:p>
          <a:p>
            <a:r>
              <a:t>Build self-healing pipelines</a:t>
            </a:r>
          </a:p>
          <a:p>
            <a:r>
              <a:t>Integrate governance and PII classification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Autonomous Ingestion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Components</a:t>
            </a:r>
            <a:endParaRPr lang="en-US" b="1" dirty="0"/>
          </a:p>
          <a:p>
            <a:r>
              <a:rPr dirty="0"/>
              <a:t>Schema detection</a:t>
            </a:r>
          </a:p>
          <a:p>
            <a:r>
              <a:rPr dirty="0"/>
              <a:t>Data ingestion</a:t>
            </a:r>
          </a:p>
          <a:p>
            <a:r>
              <a:rPr dirty="0"/>
              <a:t>Validation</a:t>
            </a:r>
          </a:p>
          <a:p>
            <a:r>
              <a:rPr dirty="0"/>
              <a:t>Quarantine handling</a:t>
            </a:r>
          </a:p>
          <a:p>
            <a:r>
              <a:rPr dirty="0"/>
              <a:t>Automated remediation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FFBB9-FDB9-867D-1B0F-57334B342A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447675"/>
            <a:ext cx="7290055" cy="6229350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/>
              <a:t>1. Schema Detection</a:t>
            </a:r>
          </a:p>
          <a:p>
            <a:r>
              <a:rPr lang="en-IN" dirty="0"/>
              <a:t>The agent reads incoming files and identifies:</a:t>
            </a:r>
          </a:p>
          <a:p>
            <a:pPr lvl="1"/>
            <a:r>
              <a:rPr lang="en-IN" dirty="0"/>
              <a:t>Column names </a:t>
            </a:r>
          </a:p>
          <a:p>
            <a:pPr lvl="1"/>
            <a:r>
              <a:rPr lang="en-IN" dirty="0"/>
              <a:t>Data types </a:t>
            </a:r>
          </a:p>
          <a:p>
            <a:pPr lvl="1"/>
            <a:r>
              <a:rPr lang="en-IN" dirty="0"/>
              <a:t>Nested structures </a:t>
            </a:r>
          </a:p>
          <a:p>
            <a:r>
              <a:rPr lang="en-IN" dirty="0"/>
              <a:t>Example:</a:t>
            </a:r>
          </a:p>
          <a:p>
            <a:r>
              <a:rPr lang="en-IN" dirty="0"/>
              <a:t>{</a:t>
            </a:r>
            <a:br>
              <a:rPr lang="en-IN" dirty="0"/>
            </a:br>
            <a:r>
              <a:rPr lang="en-IN" dirty="0"/>
              <a:t> "</a:t>
            </a:r>
            <a:r>
              <a:rPr lang="en-IN" dirty="0" err="1"/>
              <a:t>customer_id</a:t>
            </a:r>
            <a:r>
              <a:rPr lang="en-IN" dirty="0"/>
              <a:t>": 101,</a:t>
            </a:r>
            <a:br>
              <a:rPr lang="en-IN" dirty="0"/>
            </a:br>
            <a:r>
              <a:rPr lang="en-IN" dirty="0"/>
              <a:t> "amount": 5000</a:t>
            </a:r>
            <a:br>
              <a:rPr lang="en-IN" dirty="0"/>
            </a:br>
            <a:r>
              <a:rPr lang="en-IN" dirty="0"/>
              <a:t>}</a:t>
            </a:r>
          </a:p>
          <a:p>
            <a:r>
              <a:rPr lang="en-IN" dirty="0"/>
              <a:t>AI identifies:</a:t>
            </a:r>
          </a:p>
          <a:p>
            <a:pPr lvl="1"/>
            <a:r>
              <a:rPr lang="en-IN" dirty="0" err="1"/>
              <a:t>customer_id</a:t>
            </a:r>
            <a:r>
              <a:rPr lang="en-IN" dirty="0"/>
              <a:t> → integer </a:t>
            </a:r>
          </a:p>
          <a:p>
            <a:pPr lvl="1"/>
            <a:r>
              <a:rPr lang="en-IN" dirty="0"/>
              <a:t>amount → decimal </a:t>
            </a:r>
          </a:p>
          <a:p>
            <a:r>
              <a:rPr lang="en-IN" b="1" dirty="0"/>
              <a:t>2. Data Ingestion</a:t>
            </a:r>
          </a:p>
          <a:p>
            <a:r>
              <a:rPr lang="en-IN" dirty="0"/>
              <a:t>AI automatically:</a:t>
            </a:r>
          </a:p>
          <a:p>
            <a:pPr lvl="1"/>
            <a:r>
              <a:rPr lang="en-IN" dirty="0"/>
              <a:t>Loads files </a:t>
            </a:r>
          </a:p>
          <a:p>
            <a:pPr lvl="1"/>
            <a:r>
              <a:rPr lang="en-IN" dirty="0"/>
              <a:t>Triggers pipelines </a:t>
            </a:r>
          </a:p>
          <a:p>
            <a:pPr lvl="1"/>
            <a:r>
              <a:rPr lang="en-IN" dirty="0"/>
              <a:t>Stores data into bronze/silver/gold layers </a:t>
            </a:r>
          </a:p>
          <a:p>
            <a:r>
              <a:rPr lang="en-IN" dirty="0"/>
              <a:t>Without manual mapping.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5268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7356B0-0356-D72B-9EE5-C6664496B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133350"/>
            <a:ext cx="7290055" cy="6572250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3. Validation</a:t>
            </a:r>
          </a:p>
          <a:p>
            <a:r>
              <a:rPr lang="en-US" dirty="0"/>
              <a:t>Before loading:</a:t>
            </a:r>
          </a:p>
          <a:p>
            <a:pPr lvl="1"/>
            <a:r>
              <a:rPr lang="en-US" dirty="0"/>
              <a:t>Rules are checked </a:t>
            </a:r>
          </a:p>
          <a:p>
            <a:pPr lvl="1"/>
            <a:r>
              <a:rPr lang="en-US" dirty="0"/>
              <a:t>Data quality is verified 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Null checks </a:t>
            </a:r>
          </a:p>
          <a:p>
            <a:pPr lvl="1"/>
            <a:r>
              <a:rPr lang="en-US" dirty="0"/>
              <a:t>Format checks </a:t>
            </a:r>
          </a:p>
          <a:p>
            <a:pPr lvl="1"/>
            <a:r>
              <a:rPr lang="en-US" dirty="0"/>
              <a:t>Range checks </a:t>
            </a:r>
          </a:p>
          <a:p>
            <a:r>
              <a:rPr lang="en-US" b="1" dirty="0"/>
              <a:t>4. Quarantine Handling</a:t>
            </a:r>
          </a:p>
          <a:p>
            <a:r>
              <a:rPr lang="en-US" dirty="0"/>
              <a:t>Bad records are separated.</a:t>
            </a:r>
          </a:p>
          <a:p>
            <a:r>
              <a:rPr lang="en-US" dirty="0"/>
              <a:t>Instead of failing the whole pipeline:</a:t>
            </a:r>
          </a:p>
          <a:p>
            <a:pPr lvl="1"/>
            <a:r>
              <a:rPr lang="en-US" dirty="0"/>
              <a:t>Good records continue </a:t>
            </a:r>
          </a:p>
          <a:p>
            <a:pPr lvl="1"/>
            <a:r>
              <a:rPr lang="en-US" dirty="0"/>
              <a:t>Bad records move to quarantine storage </a:t>
            </a:r>
          </a:p>
          <a:p>
            <a:r>
              <a:rPr lang="en-US" b="1" dirty="0"/>
              <a:t>5. Automated Remediation</a:t>
            </a:r>
          </a:p>
          <a:p>
            <a:r>
              <a:rPr lang="en-US" dirty="0"/>
              <a:t>AI attempts to repair:</a:t>
            </a:r>
          </a:p>
          <a:p>
            <a:pPr lvl="1"/>
            <a:r>
              <a:rPr lang="en-US" dirty="0"/>
              <a:t>Formatting </a:t>
            </a:r>
          </a:p>
          <a:p>
            <a:pPr lvl="1"/>
            <a:r>
              <a:rPr lang="en-US" dirty="0"/>
              <a:t>Missing values </a:t>
            </a:r>
          </a:p>
          <a:p>
            <a:pPr lvl="1"/>
            <a:r>
              <a:rPr lang="en-US" dirty="0"/>
              <a:t>Type mismatches </a:t>
            </a:r>
          </a:p>
          <a:p>
            <a:r>
              <a:rPr lang="en-US" dirty="0"/>
              <a:t>This creates resilient pipelines.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7605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5B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 1"/>
          <p:cNvSpPr/>
          <p:nvPr/>
        </p:nvSpPr>
        <p:spPr>
          <a:xfrm>
            <a:off x="6344000" y="0"/>
            <a:ext cx="2800000" cy="2800000"/>
          </a:xfrm>
          <a:prstGeom prst="ellipse">
            <a:avLst/>
          </a:prstGeom>
          <a:solidFill>
            <a:srgbClr val="27CED7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ircle 2"/>
          <p:cNvSpPr/>
          <p:nvPr/>
        </p:nvSpPr>
        <p:spPr>
          <a:xfrm>
            <a:off x="0" y="4858000"/>
            <a:ext cx="2000000" cy="2000000"/>
          </a:xfrm>
          <a:prstGeom prst="ellipse">
            <a:avLst/>
          </a:prstGeom>
          <a:solidFill>
            <a:srgbClr val="1CADE4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Label"/>
          <p:cNvSpPr/>
          <p:nvPr/>
        </p:nvSpPr>
        <p:spPr>
          <a:xfrm>
            <a:off x="3200000" y="1900000"/>
            <a:ext cx="2744000" cy="400000"/>
          </a:xfrm>
          <a:prstGeom prst="roundRect">
            <a:avLst>
              <a:gd name="adj" fmla="val 50000"/>
            </a:avLst>
          </a:prstGeom>
          <a:solidFill>
            <a:srgbClr val="27CED7"/>
          </a:solidFill>
          <a:ln>
            <a:noFill/>
          </a:ln>
        </p:spPr>
        <p:txBody>
          <a:bodyPr lIns="91440" tIns="45720" rIns="91440" bIns="45720" anchor="ctr" anchorCtr="1"/>
          <a:lstStyle/>
          <a:p>
            <a:pPr algn="ctr"/>
            <a:r>
              <a:rPr lang="en-US" sz="1600" b="1" spc="300">
                <a:solidFill>
                  <a:srgbClr val="FFFFFF"/>
                </a:solidFill>
                <a:latin typeface="Calibri"/>
                <a:cs typeface="Calibri"/>
              </a:rPr>
              <a:t>HANDS-ON EXERCISE</a:t>
            </a:r>
          </a:p>
        </p:txBody>
      </p:sp>
      <p:sp>
        <p:nvSpPr>
          <p:cNvPr id="5" name="MainTitle"/>
          <p:cNvSpPr/>
          <p:nvPr/>
        </p:nvSpPr>
        <p:spPr>
          <a:xfrm>
            <a:off x="1200000" y="2500000"/>
            <a:ext cx="6744000" cy="9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/>
          <a:p>
            <a:pPr algn="ctr"/>
            <a:r>
              <a:rPr lang="en-US" sz="4800" b="1">
                <a:solidFill>
                  <a:srgbClr val="FFFFFF"/>
                </a:solidFill>
                <a:latin typeface="Calibri"/>
                <a:cs typeface="Calibri"/>
              </a:rPr>
              <a:t>Lab 1</a:t>
            </a:r>
          </a:p>
        </p:txBody>
      </p:sp>
      <p:sp>
        <p:nvSpPr>
          <p:cNvPr id="6" name="Subtitle"/>
          <p:cNvSpPr/>
          <p:nvPr/>
        </p:nvSpPr>
        <p:spPr>
          <a:xfrm>
            <a:off x="1800000" y="3500000"/>
            <a:ext cx="5544000" cy="5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1"/>
          <a:lstStyle/>
          <a:p>
            <a:pPr algn="ctr"/>
            <a:r>
              <a:rPr lang="en-US" sz="1800">
                <a:solidFill>
                  <a:srgbClr val="DFE3E5"/>
                </a:solidFill>
                <a:latin typeface="Calibri"/>
                <a:cs typeface="Calibri"/>
              </a:rPr>
              <a:t>Autonomous Ingestion Agent</a:t>
            </a:r>
          </a:p>
        </p:txBody>
      </p:sp>
      <p:sp>
        <p:nvSpPr>
          <p:cNvPr id="7" name="BottomAccent"/>
          <p:cNvSpPr/>
          <p:nvPr/>
        </p:nvSpPr>
        <p:spPr>
          <a:xfrm>
            <a:off x="3800000" y="4200000"/>
            <a:ext cx="1544000" cy="36000"/>
          </a:xfrm>
          <a:prstGeom prst="rect">
            <a:avLst/>
          </a:prstGeom>
          <a:solidFill>
            <a:srgbClr val="27CED7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944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Schema Detection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Automatically detect columns and data types</a:t>
            </a:r>
          </a:p>
          <a:p>
            <a:r>
              <a:t>Handle structured and semi-structured data</a:t>
            </a:r>
          </a:p>
          <a:p>
            <a:r>
              <a:t>Detect schema drift</a:t>
            </a:r>
          </a:p>
          <a:p>
            <a:r>
              <a:t>Support CSV, JSON, Parquet and Avro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82271-16A7-FEA6-761B-C60067D304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304800"/>
            <a:ext cx="7290055" cy="6457950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/>
              <a:t>Why Important?</a:t>
            </a:r>
          </a:p>
          <a:p>
            <a:r>
              <a:rPr lang="en-IN" dirty="0"/>
              <a:t>In real-world systems:</a:t>
            </a:r>
          </a:p>
          <a:p>
            <a:pPr lvl="1"/>
            <a:r>
              <a:rPr lang="en-IN" dirty="0"/>
              <a:t>Vendors change formats </a:t>
            </a:r>
          </a:p>
          <a:p>
            <a:pPr lvl="1"/>
            <a:r>
              <a:rPr lang="en-IN" dirty="0"/>
              <a:t>New columns appear </a:t>
            </a:r>
          </a:p>
          <a:p>
            <a:pPr lvl="1"/>
            <a:r>
              <a:rPr lang="en-IN" dirty="0"/>
              <a:t>Types change </a:t>
            </a:r>
          </a:p>
          <a:p>
            <a:r>
              <a:rPr lang="en-IN" dirty="0"/>
              <a:t>Manual handling becomes difficult.</a:t>
            </a:r>
          </a:p>
          <a:p>
            <a:r>
              <a:rPr lang="en-IN" b="1" dirty="0"/>
              <a:t>Features</a:t>
            </a:r>
          </a:p>
          <a:p>
            <a:r>
              <a:rPr lang="en-IN" b="1" dirty="0"/>
              <a:t>Automatically Detect Columns and Data Types</a:t>
            </a:r>
          </a:p>
          <a:p>
            <a:r>
              <a:rPr lang="en-IN" dirty="0"/>
              <a:t>AI scans files and predicts:</a:t>
            </a:r>
          </a:p>
          <a:p>
            <a:pPr lvl="1"/>
            <a:r>
              <a:rPr lang="en-IN" dirty="0"/>
              <a:t>Integer </a:t>
            </a:r>
          </a:p>
          <a:p>
            <a:pPr lvl="1"/>
            <a:r>
              <a:rPr lang="en-IN" dirty="0"/>
              <a:t>String </a:t>
            </a:r>
          </a:p>
          <a:p>
            <a:pPr lvl="1"/>
            <a:r>
              <a:rPr lang="en-IN" dirty="0"/>
              <a:t>Date </a:t>
            </a:r>
          </a:p>
          <a:p>
            <a:pPr lvl="1"/>
            <a:r>
              <a:rPr lang="en-IN" dirty="0"/>
              <a:t>Boolean </a:t>
            </a:r>
          </a:p>
          <a:p>
            <a:pPr lvl="1"/>
            <a:r>
              <a:rPr lang="en-IN" dirty="0"/>
              <a:t>Nested JSON </a:t>
            </a:r>
          </a:p>
          <a:p>
            <a:r>
              <a:rPr lang="en-IN" b="1" dirty="0"/>
              <a:t>Structured + Semi-Structured Support</a:t>
            </a:r>
          </a:p>
          <a:p>
            <a:r>
              <a:rPr lang="en-IN" dirty="0"/>
              <a:t>Supports:</a:t>
            </a:r>
          </a:p>
          <a:p>
            <a:pPr lvl="1"/>
            <a:r>
              <a:rPr lang="en-IN" dirty="0"/>
              <a:t>CSV </a:t>
            </a:r>
          </a:p>
          <a:p>
            <a:pPr lvl="1"/>
            <a:r>
              <a:rPr lang="en-IN" dirty="0"/>
              <a:t>JSON </a:t>
            </a:r>
          </a:p>
          <a:p>
            <a:pPr lvl="1"/>
            <a:r>
              <a:rPr lang="en-IN" dirty="0"/>
              <a:t>Avro </a:t>
            </a:r>
          </a:p>
          <a:p>
            <a:pPr lvl="1"/>
            <a:r>
              <a:rPr lang="en-IN" dirty="0"/>
              <a:t>Parquet </a:t>
            </a:r>
          </a:p>
          <a:p>
            <a:r>
              <a:rPr lang="en-IN" dirty="0"/>
              <a:t>Very important in data lakes.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0891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3F17E-97D3-B0F2-72FA-01CBF668A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02C78-CEE7-66A2-EAB6-E4001BBE0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Detect Schema Drift</a:t>
            </a:r>
          </a:p>
          <a:p>
            <a:r>
              <a:rPr lang="en-IN" dirty="0"/>
              <a:t>Schema drift means:</a:t>
            </a:r>
          </a:p>
          <a:p>
            <a:pPr lvl="1"/>
            <a:r>
              <a:rPr lang="en-IN" dirty="0"/>
              <a:t>New column added </a:t>
            </a:r>
          </a:p>
          <a:p>
            <a:pPr lvl="1"/>
            <a:r>
              <a:rPr lang="en-IN" dirty="0"/>
              <a:t>Type changed </a:t>
            </a:r>
          </a:p>
          <a:p>
            <a:pPr lvl="1"/>
            <a:r>
              <a:rPr lang="en-IN" dirty="0"/>
              <a:t>Column removed </a:t>
            </a:r>
          </a:p>
          <a:p>
            <a:r>
              <a:rPr lang="en-IN" dirty="0"/>
              <a:t>Example:</a:t>
            </a:r>
          </a:p>
          <a:p>
            <a:r>
              <a:rPr lang="en-IN" dirty="0"/>
              <a:t>Old: amount INT</a:t>
            </a:r>
            <a:br>
              <a:rPr lang="en-IN" dirty="0"/>
            </a:br>
            <a:r>
              <a:rPr lang="en-IN" dirty="0"/>
              <a:t>New: amount STRING</a:t>
            </a:r>
          </a:p>
          <a:p>
            <a:r>
              <a:rPr lang="en-IN" dirty="0"/>
              <a:t>AI detects drift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87506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3BAFD-080F-B4EF-7C25-96F12E8DB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AI-Driven Data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BC1E1-9A9E-5396-DA49-29F6B030BE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1924050"/>
            <a:ext cx="7290055" cy="48006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Traditional validation:</a:t>
            </a:r>
          </a:p>
          <a:p>
            <a:pPr lvl="1"/>
            <a:r>
              <a:rPr lang="en-US" dirty="0"/>
              <a:t>Static rules </a:t>
            </a:r>
          </a:p>
          <a:p>
            <a:pPr lvl="1"/>
            <a:r>
              <a:rPr lang="en-US" dirty="0"/>
              <a:t>Manual coding </a:t>
            </a:r>
          </a:p>
          <a:p>
            <a:r>
              <a:rPr lang="en-US" dirty="0"/>
              <a:t>AI-driven validation:</a:t>
            </a:r>
          </a:p>
          <a:p>
            <a:pPr lvl="1"/>
            <a:r>
              <a:rPr lang="en-US" dirty="0"/>
              <a:t>Learns automatically </a:t>
            </a:r>
          </a:p>
          <a:p>
            <a:r>
              <a:rPr lang="en-US" b="1" dirty="0"/>
              <a:t>Dynamic Rule Generation</a:t>
            </a:r>
          </a:p>
          <a:p>
            <a:r>
              <a:rPr lang="en-US" dirty="0"/>
              <a:t>AI studies datasets and creates rules like:</a:t>
            </a:r>
          </a:p>
          <a:p>
            <a:pPr lvl="1"/>
            <a:r>
              <a:rPr lang="en-US" dirty="0"/>
              <a:t>Age should be between 0–100 </a:t>
            </a:r>
          </a:p>
          <a:p>
            <a:pPr lvl="1"/>
            <a:r>
              <a:rPr lang="en-US" dirty="0"/>
              <a:t>Order amount should not be negative </a:t>
            </a:r>
          </a:p>
          <a:p>
            <a:r>
              <a:rPr lang="en-US" b="1" dirty="0"/>
              <a:t>Metadata-Aware Validation</a:t>
            </a:r>
          </a:p>
          <a:p>
            <a:r>
              <a:rPr lang="en-US" dirty="0"/>
              <a:t>AI uses metadata:</a:t>
            </a:r>
          </a:p>
          <a:p>
            <a:pPr lvl="1"/>
            <a:r>
              <a:rPr lang="en-US" dirty="0"/>
              <a:t>Column names </a:t>
            </a:r>
          </a:p>
          <a:p>
            <a:pPr lvl="1"/>
            <a:r>
              <a:rPr lang="en-US" dirty="0"/>
              <a:t>Business glossary </a:t>
            </a:r>
          </a:p>
          <a:p>
            <a:pPr lvl="1"/>
            <a:r>
              <a:rPr lang="en-US" dirty="0"/>
              <a:t>Tags 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210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CDEF9B-E2EE-125E-04DD-A157D386B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542925"/>
            <a:ext cx="7290055" cy="576643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Example:</a:t>
            </a:r>
            <a:br>
              <a:rPr lang="en-US" dirty="0"/>
            </a:br>
            <a:r>
              <a:rPr lang="en-US" dirty="0"/>
              <a:t>Column name:</a:t>
            </a:r>
            <a:br>
              <a:rPr lang="en-US" dirty="0"/>
            </a:br>
            <a:r>
              <a:rPr lang="en-US" dirty="0" err="1"/>
              <a:t>email_address</a:t>
            </a:r>
            <a:endParaRPr lang="en-US" dirty="0"/>
          </a:p>
          <a:p>
            <a:r>
              <a:rPr lang="en-US" dirty="0"/>
              <a:t>AI automatically creates:</a:t>
            </a:r>
          </a:p>
          <a:p>
            <a:pPr lvl="1"/>
            <a:r>
              <a:rPr lang="en-US" dirty="0"/>
              <a:t>Email regex validation</a:t>
            </a:r>
            <a:endParaRPr lang="en-US" b="1" dirty="0"/>
          </a:p>
          <a:p>
            <a:r>
              <a:rPr lang="en-US" b="1" dirty="0"/>
              <a:t>Historical Pattern Analysis</a:t>
            </a:r>
          </a:p>
          <a:p>
            <a:r>
              <a:rPr lang="en-US" dirty="0"/>
              <a:t>AI studies previous datasets.</a:t>
            </a:r>
          </a:p>
          <a:p>
            <a:r>
              <a:rPr lang="en-US" dirty="0"/>
              <a:t>Example:</a:t>
            </a:r>
            <a:br>
              <a:rPr lang="en-US" dirty="0"/>
            </a:br>
            <a:r>
              <a:rPr lang="en-US" dirty="0"/>
              <a:t>If average sales are around 1000 and suddenly become 5 million:</a:t>
            </a:r>
          </a:p>
          <a:p>
            <a:r>
              <a:rPr lang="en-US" dirty="0"/>
              <a:t>AI flags anomaly </a:t>
            </a:r>
          </a:p>
          <a:p>
            <a:r>
              <a:rPr lang="en-US" b="1" dirty="0"/>
              <a:t>Automated Expectation Generation</a:t>
            </a:r>
          </a:p>
          <a:p>
            <a:r>
              <a:rPr lang="en-US" dirty="0"/>
              <a:t>AI creates expectations dynamically.</a:t>
            </a:r>
          </a:p>
          <a:p>
            <a:r>
              <a:rPr lang="en-US" dirty="0"/>
              <a:t>Example:</a:t>
            </a:r>
          </a:p>
          <a:p>
            <a:r>
              <a:rPr lang="en-US" dirty="0"/>
              <a:t>95% values should not be null </a:t>
            </a:r>
          </a:p>
          <a:p>
            <a:r>
              <a:rPr lang="en-US" dirty="0"/>
              <a:t>Timestamp must be recent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1977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6013704" cy="1499616"/>
          </a:xfrm>
        </p:spPr>
        <p:txBody>
          <a:bodyPr>
            <a:normAutofit/>
          </a:bodyPr>
          <a:lstStyle/>
          <a:p>
            <a:r>
              <a:rPr dirty="0"/>
              <a:t>AI-Driven Data Quality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2286000"/>
            <a:ext cx="6013703" cy="4023360"/>
          </a:xfrm>
        </p:spPr>
        <p:txBody>
          <a:bodyPr>
            <a:normAutofit/>
          </a:bodyPr>
          <a:lstStyle/>
          <a:p>
            <a:r>
              <a:t>Dynamic rule generation</a:t>
            </a:r>
          </a:p>
          <a:p>
            <a:r>
              <a:t>Metadata-aware validation</a:t>
            </a:r>
          </a:p>
          <a:p>
            <a:r>
              <a:t>Historical pattern analysis</a:t>
            </a:r>
          </a:p>
          <a:p>
            <a:r>
              <a:t>Automated expectation generation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D7B666-D5E6-48CE-B26A-FB5E5C34AF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7511" y="325601"/>
            <a:ext cx="1715190" cy="39080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EE670A-A41A-44AD-BC1C-2090365EB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7511" y="4394539"/>
            <a:ext cx="1715190" cy="2029724"/>
          </a:xfrm>
          <a:prstGeom prst="rect">
            <a:avLst/>
          </a:prstGeom>
          <a:solidFill>
            <a:schemeClr val="tx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BCD4-1AE4-F20C-587A-A4E5E10E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Great Expectations +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6FF71-C39D-5DAA-0BFF-BF1F8340CA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dirty="0"/>
              <a:t>Great Expectations</a:t>
            </a:r>
          </a:p>
          <a:p>
            <a:r>
              <a:rPr lang="en-IN" dirty="0"/>
              <a:t>A data validation framework.</a:t>
            </a:r>
          </a:p>
          <a:p>
            <a:r>
              <a:rPr lang="en-IN" dirty="0"/>
              <a:t>Normally engineers manually write:</a:t>
            </a:r>
          </a:p>
          <a:p>
            <a:r>
              <a:rPr lang="en-IN" dirty="0" err="1"/>
              <a:t>expect_column_values_to_not_be_null</a:t>
            </a:r>
            <a:r>
              <a:rPr lang="en-IN" dirty="0"/>
              <a:t>()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LLM Integration</a:t>
            </a:r>
          </a:p>
          <a:p>
            <a:r>
              <a:rPr lang="en-IN" dirty="0"/>
              <a:t>LLM reads:</a:t>
            </a:r>
          </a:p>
          <a:p>
            <a:pPr lvl="1"/>
            <a:r>
              <a:rPr lang="en-IN" dirty="0"/>
              <a:t>Dataset </a:t>
            </a:r>
          </a:p>
          <a:p>
            <a:pPr lvl="1"/>
            <a:r>
              <a:rPr lang="en-IN" dirty="0"/>
              <a:t>Metadata </a:t>
            </a:r>
          </a:p>
          <a:p>
            <a:pPr lvl="1"/>
            <a:r>
              <a:rPr lang="en-IN" dirty="0"/>
              <a:t>Sample rows </a:t>
            </a:r>
          </a:p>
          <a:p>
            <a:r>
              <a:rPr lang="en-IN" dirty="0"/>
              <a:t>And automatically generates:</a:t>
            </a:r>
          </a:p>
          <a:p>
            <a:pPr lvl="1"/>
            <a:r>
              <a:rPr lang="en-IN" dirty="0"/>
              <a:t>Expectation suites </a:t>
            </a:r>
          </a:p>
          <a:p>
            <a:pPr lvl="1"/>
            <a:r>
              <a:rPr lang="en-IN" dirty="0"/>
              <a:t>Validation logic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21181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C0B81-AF7B-1978-A9EE-C1034A15A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585215"/>
            <a:ext cx="7290054" cy="1291209"/>
          </a:xfrm>
        </p:spPr>
        <p:txBody>
          <a:bodyPr>
            <a:normAutofit/>
          </a:bodyPr>
          <a:lstStyle/>
          <a:p>
            <a:r>
              <a:rPr lang="en-IN" dirty="0"/>
              <a:t>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504B1-C291-E620-EE83-D052B7A1D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b="1" dirty="0"/>
              <a:t>Step 1 - AI Reads Dataset</a:t>
            </a:r>
          </a:p>
          <a:p>
            <a:r>
              <a:rPr lang="en-IN" dirty="0"/>
              <a:t>AI understands patterns.</a:t>
            </a:r>
          </a:p>
          <a:p>
            <a:r>
              <a:rPr lang="en-IN" b="1" dirty="0"/>
              <a:t>Step 2 - Generate Rules</a:t>
            </a:r>
          </a:p>
          <a:p>
            <a:r>
              <a:rPr lang="en-IN" dirty="0"/>
              <a:t>Example:</a:t>
            </a:r>
          </a:p>
          <a:p>
            <a:r>
              <a:rPr lang="en-IN" dirty="0" err="1"/>
              <a:t>expect_column_values_to_match_regex</a:t>
            </a:r>
            <a:r>
              <a:rPr lang="en-IN" dirty="0"/>
              <a:t>()</a:t>
            </a:r>
          </a:p>
          <a:p>
            <a:r>
              <a:rPr lang="en-IN" b="1" dirty="0"/>
              <a:t>Step 3 - Validate Data</a:t>
            </a:r>
          </a:p>
          <a:p>
            <a:r>
              <a:rPr lang="en-IN" dirty="0"/>
              <a:t>Rules execute dynamically.</a:t>
            </a:r>
          </a:p>
          <a:p>
            <a:r>
              <a:rPr lang="en-IN" b="1" dirty="0"/>
              <a:t>Step 4 - Generate Reports</a:t>
            </a:r>
          </a:p>
          <a:p>
            <a:r>
              <a:rPr lang="en-IN" dirty="0"/>
              <a:t>AI summarizes:</a:t>
            </a:r>
          </a:p>
          <a:p>
            <a:r>
              <a:rPr lang="en-IN" dirty="0"/>
              <a:t>Passed validations </a:t>
            </a:r>
          </a:p>
          <a:p>
            <a:r>
              <a:rPr lang="en-IN" dirty="0"/>
              <a:t>Failed checks </a:t>
            </a:r>
          </a:p>
          <a:p>
            <a:r>
              <a:rPr lang="en-IN" dirty="0"/>
              <a:t>Risk severity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66134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6013704" cy="1499616"/>
          </a:xfrm>
        </p:spPr>
        <p:txBody>
          <a:bodyPr>
            <a:normAutofit/>
          </a:bodyPr>
          <a:lstStyle/>
          <a:p>
            <a:r>
              <a:rPr dirty="0"/>
              <a:t>Great Expectations + LLM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2286000"/>
            <a:ext cx="6013703" cy="4023360"/>
          </a:xfrm>
        </p:spPr>
        <p:txBody>
          <a:bodyPr>
            <a:normAutofit/>
          </a:bodyPr>
          <a:lstStyle/>
          <a:p>
            <a:r>
              <a:t>Generate validation rules automatically</a:t>
            </a:r>
          </a:p>
          <a:p>
            <a:r>
              <a:t>Build expectation suites</a:t>
            </a:r>
          </a:p>
          <a:p>
            <a:r>
              <a:t>Validate datasets dynamically</a:t>
            </a:r>
          </a:p>
          <a:p>
            <a:r>
              <a:t>Generate reports and alerts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D7B666-D5E6-48CE-B26A-FB5E5C34AF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7511" y="325601"/>
            <a:ext cx="1715190" cy="39080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EE670A-A41A-44AD-BC1C-2090365EB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7511" y="4394539"/>
            <a:ext cx="1715190" cy="2029724"/>
          </a:xfrm>
          <a:prstGeom prst="rect">
            <a:avLst/>
          </a:prstGeom>
          <a:solidFill>
            <a:schemeClr val="tx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5B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 1"/>
          <p:cNvSpPr/>
          <p:nvPr/>
        </p:nvSpPr>
        <p:spPr>
          <a:xfrm>
            <a:off x="6344000" y="0"/>
            <a:ext cx="2800000" cy="2800000"/>
          </a:xfrm>
          <a:prstGeom prst="ellipse">
            <a:avLst/>
          </a:prstGeom>
          <a:solidFill>
            <a:srgbClr val="27CED7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ircle 2"/>
          <p:cNvSpPr/>
          <p:nvPr/>
        </p:nvSpPr>
        <p:spPr>
          <a:xfrm>
            <a:off x="0" y="4858000"/>
            <a:ext cx="2000000" cy="2000000"/>
          </a:xfrm>
          <a:prstGeom prst="ellipse">
            <a:avLst/>
          </a:prstGeom>
          <a:solidFill>
            <a:srgbClr val="1CADE4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Label"/>
          <p:cNvSpPr/>
          <p:nvPr/>
        </p:nvSpPr>
        <p:spPr>
          <a:xfrm>
            <a:off x="3200000" y="1900000"/>
            <a:ext cx="2744000" cy="400000"/>
          </a:xfrm>
          <a:prstGeom prst="roundRect">
            <a:avLst>
              <a:gd name="adj" fmla="val 50000"/>
            </a:avLst>
          </a:prstGeom>
          <a:solidFill>
            <a:srgbClr val="27CED7"/>
          </a:solidFill>
          <a:ln>
            <a:noFill/>
          </a:ln>
        </p:spPr>
        <p:txBody>
          <a:bodyPr lIns="91440" tIns="45720" rIns="91440" bIns="45720" anchor="ctr" anchorCtr="1"/>
          <a:lstStyle/>
          <a:p>
            <a:pPr algn="ctr"/>
            <a:r>
              <a:rPr lang="en-US" sz="1600" b="1" spc="300">
                <a:solidFill>
                  <a:srgbClr val="FFFFFF"/>
                </a:solidFill>
                <a:latin typeface="Calibri"/>
                <a:cs typeface="Calibri"/>
              </a:rPr>
              <a:t>HANDS-ON EXERCISE</a:t>
            </a:r>
          </a:p>
        </p:txBody>
      </p:sp>
      <p:sp>
        <p:nvSpPr>
          <p:cNvPr id="5" name="MainTitle"/>
          <p:cNvSpPr/>
          <p:nvPr/>
        </p:nvSpPr>
        <p:spPr>
          <a:xfrm>
            <a:off x="1200000" y="2500000"/>
            <a:ext cx="6744000" cy="9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/>
          <a:p>
            <a:pPr algn="ctr"/>
            <a:r>
              <a:rPr lang="en-US" sz="4800" b="1">
                <a:solidFill>
                  <a:srgbClr val="FFFFFF"/>
                </a:solidFill>
                <a:latin typeface="Calibri"/>
                <a:cs typeface="Calibri"/>
              </a:rPr>
              <a:t>Lab 2</a:t>
            </a:r>
          </a:p>
        </p:txBody>
      </p:sp>
      <p:sp>
        <p:nvSpPr>
          <p:cNvPr id="6" name="Subtitle"/>
          <p:cNvSpPr/>
          <p:nvPr/>
        </p:nvSpPr>
        <p:spPr>
          <a:xfrm>
            <a:off x="1800000" y="3500000"/>
            <a:ext cx="5544000" cy="5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1"/>
          <a:lstStyle/>
          <a:p>
            <a:pPr algn="ctr"/>
            <a:r>
              <a:rPr lang="en-US" sz="1800">
                <a:solidFill>
                  <a:srgbClr val="DFE3E5"/>
                </a:solidFill>
                <a:latin typeface="Calibri"/>
                <a:cs typeface="Calibri"/>
              </a:rPr>
              <a:t>Great Expectations &amp; LLM Integration</a:t>
            </a:r>
          </a:p>
        </p:txBody>
      </p:sp>
      <p:sp>
        <p:nvSpPr>
          <p:cNvPr id="7" name="BottomAccent"/>
          <p:cNvSpPr/>
          <p:nvPr/>
        </p:nvSpPr>
        <p:spPr>
          <a:xfrm>
            <a:off x="3800000" y="4200000"/>
            <a:ext cx="1544000" cy="36000"/>
          </a:xfrm>
          <a:prstGeom prst="rect">
            <a:avLst/>
          </a:prstGeom>
          <a:solidFill>
            <a:srgbClr val="27CED7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672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D4689-92FE-3048-3BD6-B624A7DEC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Anomaly Detection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E6884-5BED-46B6-66DA-494CAE15F3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2084831"/>
            <a:ext cx="7290055" cy="4592193"/>
          </a:xfrm>
        </p:spPr>
        <p:txBody>
          <a:bodyPr>
            <a:normAutofit fontScale="70000" lnSpcReduction="20000"/>
          </a:bodyPr>
          <a:lstStyle/>
          <a:p>
            <a:r>
              <a:rPr lang="en-IN" dirty="0"/>
              <a:t>These agents continuously monitor pipelines.</a:t>
            </a:r>
          </a:p>
          <a:p>
            <a:r>
              <a:rPr lang="en-IN" b="1" dirty="0"/>
              <a:t>Detect Unusual Patterns</a:t>
            </a:r>
          </a:p>
          <a:p>
            <a:pPr lvl="1"/>
            <a:r>
              <a:rPr lang="en-IN" dirty="0"/>
              <a:t>AI learns normal behaviours.</a:t>
            </a:r>
          </a:p>
          <a:p>
            <a:pPr lvl="1"/>
            <a:r>
              <a:rPr lang="en-IN" dirty="0"/>
              <a:t>Anything abnormal becomes anomaly.</a:t>
            </a:r>
          </a:p>
          <a:p>
            <a:r>
              <a:rPr lang="en-IN" b="1" dirty="0"/>
              <a:t>Monitor Metrics</a:t>
            </a:r>
          </a:p>
          <a:p>
            <a:r>
              <a:rPr lang="en-IN" dirty="0"/>
              <a:t>Examples:</a:t>
            </a:r>
          </a:p>
          <a:p>
            <a:pPr lvl="1"/>
            <a:r>
              <a:rPr lang="en-IN" dirty="0"/>
              <a:t>Row count </a:t>
            </a:r>
          </a:p>
          <a:p>
            <a:pPr lvl="1"/>
            <a:r>
              <a:rPr lang="en-IN" dirty="0"/>
              <a:t>CPU usage </a:t>
            </a:r>
          </a:p>
          <a:p>
            <a:pPr lvl="1"/>
            <a:r>
              <a:rPr lang="en-IN" dirty="0"/>
              <a:t>Pipeline execution time </a:t>
            </a:r>
          </a:p>
          <a:p>
            <a:pPr lvl="1"/>
            <a:r>
              <a:rPr lang="en-IN" dirty="0"/>
              <a:t>Null percentages </a:t>
            </a:r>
          </a:p>
          <a:p>
            <a:r>
              <a:rPr lang="en-IN" b="1" dirty="0"/>
              <a:t>Identify Spikes and Drops</a:t>
            </a:r>
          </a:p>
          <a:p>
            <a:r>
              <a:rPr lang="en-IN" dirty="0"/>
              <a:t>Example:</a:t>
            </a:r>
            <a:br>
              <a:rPr lang="en-IN" dirty="0"/>
            </a:br>
            <a:r>
              <a:rPr lang="en-IN" dirty="0"/>
              <a:t>Normally:</a:t>
            </a:r>
          </a:p>
          <a:p>
            <a:r>
              <a:rPr lang="en-IN" dirty="0"/>
              <a:t>10,000 rows/day</a:t>
            </a:r>
          </a:p>
          <a:p>
            <a:r>
              <a:rPr lang="en-IN" dirty="0"/>
              <a:t>Today:</a:t>
            </a:r>
          </a:p>
          <a:p>
            <a:r>
              <a:rPr lang="en-IN" dirty="0"/>
              <a:t>500 rows</a:t>
            </a:r>
          </a:p>
          <a:p>
            <a:r>
              <a:rPr lang="en-IN" dirty="0"/>
              <a:t>AI identifies abnormal drop.</a:t>
            </a:r>
          </a:p>
        </p:txBody>
      </p:sp>
    </p:spTree>
    <p:extLst>
      <p:ext uri="{BB962C8B-B14F-4D97-AF65-F5344CB8AC3E}">
        <p14:creationId xmlns:p14="http://schemas.microsoft.com/office/powerpoint/2010/main" val="6453488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693E8-1E78-BCD7-2CDD-B1DD17845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4034F-FB10-1DD6-704A-FCF7A50B16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Trigger Automated Actions</a:t>
            </a:r>
          </a:p>
          <a:p>
            <a:r>
              <a:rPr lang="en-IN" dirty="0"/>
              <a:t>Possible actions:</a:t>
            </a:r>
          </a:p>
          <a:p>
            <a:r>
              <a:rPr lang="en-IN" dirty="0"/>
              <a:t>Restart pipeline </a:t>
            </a:r>
          </a:p>
          <a:p>
            <a:r>
              <a:rPr lang="en-IN" dirty="0"/>
              <a:t>Scale cluster </a:t>
            </a:r>
          </a:p>
          <a:p>
            <a:r>
              <a:rPr lang="en-IN" dirty="0"/>
              <a:t>Notify team </a:t>
            </a:r>
          </a:p>
          <a:p>
            <a:r>
              <a:rPr lang="en-IN" dirty="0"/>
              <a:t>Quarantine records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74838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6013704" cy="1499616"/>
          </a:xfrm>
        </p:spPr>
        <p:txBody>
          <a:bodyPr>
            <a:normAutofit/>
          </a:bodyPr>
          <a:lstStyle/>
          <a:p>
            <a:r>
              <a:rPr dirty="0"/>
              <a:t>Anomaly Detection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2286000"/>
            <a:ext cx="6013703" cy="4023360"/>
          </a:xfrm>
        </p:spPr>
        <p:txBody>
          <a:bodyPr>
            <a:normAutofit/>
          </a:bodyPr>
          <a:lstStyle/>
          <a:p>
            <a:r>
              <a:t>Detect unusual patterns</a:t>
            </a:r>
          </a:p>
          <a:p>
            <a:r>
              <a:t>Monitor metrics and pipelines</a:t>
            </a:r>
          </a:p>
          <a:p>
            <a:r>
              <a:t>Identify spikes and drops</a:t>
            </a:r>
          </a:p>
          <a:p>
            <a:r>
              <a:t>Trigger automated actions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D7B666-D5E6-48CE-B26A-FB5E5C34AF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7511" y="325601"/>
            <a:ext cx="1715190" cy="39080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EE670A-A41A-44AD-BC1C-2090365EB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7511" y="4394539"/>
            <a:ext cx="1715190" cy="2029724"/>
          </a:xfrm>
          <a:prstGeom prst="rect">
            <a:avLst/>
          </a:prstGeom>
          <a:solidFill>
            <a:schemeClr val="tx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5B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 1"/>
          <p:cNvSpPr/>
          <p:nvPr/>
        </p:nvSpPr>
        <p:spPr>
          <a:xfrm>
            <a:off x="6344000" y="0"/>
            <a:ext cx="2800000" cy="2800000"/>
          </a:xfrm>
          <a:prstGeom prst="ellipse">
            <a:avLst/>
          </a:prstGeom>
          <a:solidFill>
            <a:srgbClr val="27CED7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ircle 2"/>
          <p:cNvSpPr/>
          <p:nvPr/>
        </p:nvSpPr>
        <p:spPr>
          <a:xfrm>
            <a:off x="0" y="4858000"/>
            <a:ext cx="2000000" cy="2000000"/>
          </a:xfrm>
          <a:prstGeom prst="ellipse">
            <a:avLst/>
          </a:prstGeom>
          <a:solidFill>
            <a:srgbClr val="1CADE4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Label"/>
          <p:cNvSpPr/>
          <p:nvPr/>
        </p:nvSpPr>
        <p:spPr>
          <a:xfrm>
            <a:off x="3200000" y="1900000"/>
            <a:ext cx="2744000" cy="400000"/>
          </a:xfrm>
          <a:prstGeom prst="roundRect">
            <a:avLst>
              <a:gd name="adj" fmla="val 50000"/>
            </a:avLst>
          </a:prstGeom>
          <a:solidFill>
            <a:srgbClr val="27CED7"/>
          </a:solidFill>
          <a:ln>
            <a:noFill/>
          </a:ln>
        </p:spPr>
        <p:txBody>
          <a:bodyPr lIns="91440" tIns="45720" rIns="91440" bIns="45720" anchor="ctr" anchorCtr="1"/>
          <a:lstStyle/>
          <a:p>
            <a:pPr algn="ctr"/>
            <a:r>
              <a:rPr lang="en-US" sz="1600" b="1" spc="300">
                <a:solidFill>
                  <a:srgbClr val="FFFFFF"/>
                </a:solidFill>
                <a:latin typeface="Calibri"/>
                <a:cs typeface="Calibri"/>
              </a:rPr>
              <a:t>HANDS-ON EXERCISE</a:t>
            </a:r>
          </a:p>
        </p:txBody>
      </p:sp>
      <p:sp>
        <p:nvSpPr>
          <p:cNvPr id="5" name="MainTitle"/>
          <p:cNvSpPr/>
          <p:nvPr/>
        </p:nvSpPr>
        <p:spPr>
          <a:xfrm>
            <a:off x="1200000" y="2500000"/>
            <a:ext cx="6744000" cy="9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/>
          <a:p>
            <a:pPr algn="ctr"/>
            <a:r>
              <a:rPr lang="en-US" sz="4800" b="1">
                <a:solidFill>
                  <a:srgbClr val="FFFFFF"/>
                </a:solidFill>
                <a:latin typeface="Calibri"/>
                <a:cs typeface="Calibri"/>
              </a:rPr>
              <a:t>Lab 3, 4 &amp; 5</a:t>
            </a:r>
          </a:p>
        </p:txBody>
      </p:sp>
      <p:sp>
        <p:nvSpPr>
          <p:cNvPr id="6" name="Subtitle"/>
          <p:cNvSpPr/>
          <p:nvPr/>
        </p:nvSpPr>
        <p:spPr>
          <a:xfrm>
            <a:off x="1800000" y="3500000"/>
            <a:ext cx="5544000" cy="5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1"/>
          <a:lstStyle/>
          <a:p>
            <a:pPr algn="ctr"/>
            <a:r>
              <a:rPr lang="en-US" sz="1800">
                <a:solidFill>
                  <a:srgbClr val="DFE3E5"/>
                </a:solidFill>
                <a:latin typeface="Calibri"/>
                <a:cs typeface="Calibri"/>
              </a:rPr>
              <a:t>Anomaly Detection Agents</a:t>
            </a:r>
          </a:p>
        </p:txBody>
      </p:sp>
      <p:sp>
        <p:nvSpPr>
          <p:cNvPr id="7" name="BottomAccent"/>
          <p:cNvSpPr/>
          <p:nvPr/>
        </p:nvSpPr>
        <p:spPr>
          <a:xfrm>
            <a:off x="3800000" y="4200000"/>
            <a:ext cx="1544000" cy="36000"/>
          </a:xfrm>
          <a:prstGeom prst="rect">
            <a:avLst/>
          </a:prstGeom>
          <a:solidFill>
            <a:srgbClr val="27CED7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7659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F4937-6E39-A861-3879-EEBC742A0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Auto-Quarantine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27C5F-A674-1304-7091-949C12F4A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2084832"/>
            <a:ext cx="7290055" cy="4582668"/>
          </a:xfrm>
        </p:spPr>
        <p:txBody>
          <a:bodyPr>
            <a:normAutofit fontScale="62500" lnSpcReduction="20000"/>
          </a:bodyPr>
          <a:lstStyle/>
          <a:p>
            <a:r>
              <a:rPr lang="en-IN" dirty="0"/>
              <a:t>Instead of failing entire pipelines:</a:t>
            </a:r>
            <a:br>
              <a:rPr lang="en-IN" dirty="0"/>
            </a:br>
            <a:r>
              <a:rPr lang="en-IN" dirty="0"/>
              <a:t>AI isolates bad data.</a:t>
            </a:r>
          </a:p>
          <a:p>
            <a:r>
              <a:rPr lang="en-IN" b="1" dirty="0"/>
              <a:t>Steps</a:t>
            </a:r>
          </a:p>
          <a:p>
            <a:r>
              <a:rPr lang="en-IN" b="1" dirty="0"/>
              <a:t>Detect Bad Records</a:t>
            </a:r>
          </a:p>
          <a:p>
            <a:r>
              <a:rPr lang="en-IN" dirty="0"/>
              <a:t>Example:</a:t>
            </a:r>
            <a:br>
              <a:rPr lang="en-IN" dirty="0"/>
            </a:br>
            <a:r>
              <a:rPr lang="en-IN" dirty="0"/>
              <a:t>Invalid email format.</a:t>
            </a:r>
          </a:p>
          <a:p>
            <a:r>
              <a:rPr lang="en-IN" b="1" dirty="0"/>
              <a:t>Isolate Suspicious Data</a:t>
            </a:r>
          </a:p>
          <a:p>
            <a:r>
              <a:rPr lang="en-IN" dirty="0"/>
              <a:t>Move records into:</a:t>
            </a:r>
          </a:p>
          <a:p>
            <a:pPr lvl="1"/>
            <a:r>
              <a:rPr lang="en-IN" dirty="0"/>
              <a:t>Quarantine table </a:t>
            </a:r>
          </a:p>
          <a:p>
            <a:pPr lvl="1"/>
            <a:r>
              <a:rPr lang="en-IN" dirty="0"/>
              <a:t>Error bucket </a:t>
            </a:r>
          </a:p>
          <a:p>
            <a:pPr lvl="1"/>
            <a:r>
              <a:rPr lang="en-IN" dirty="0"/>
              <a:t>Delta quarantine layer </a:t>
            </a:r>
          </a:p>
          <a:p>
            <a:r>
              <a:rPr lang="en-IN" b="1" dirty="0"/>
              <a:t>Store Quarantined Records</a:t>
            </a:r>
          </a:p>
          <a:p>
            <a:r>
              <a:rPr lang="en-IN" dirty="0"/>
              <a:t>Useful for:</a:t>
            </a:r>
          </a:p>
          <a:p>
            <a:pPr lvl="1"/>
            <a:r>
              <a:rPr lang="en-IN" dirty="0"/>
              <a:t>Audit </a:t>
            </a:r>
          </a:p>
          <a:p>
            <a:pPr lvl="1"/>
            <a:r>
              <a:rPr lang="en-IN" dirty="0"/>
              <a:t>Reprocessing </a:t>
            </a:r>
          </a:p>
          <a:p>
            <a:pPr lvl="1"/>
            <a:r>
              <a:rPr lang="en-IN" dirty="0"/>
              <a:t>Investigation </a:t>
            </a:r>
          </a:p>
          <a:p>
            <a:r>
              <a:rPr lang="en-IN" b="1" dirty="0"/>
              <a:t>Trigger Remediation Workflow</a:t>
            </a:r>
          </a:p>
          <a:p>
            <a:r>
              <a:rPr lang="en-IN" dirty="0"/>
              <a:t>AI attempts automatic repair.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88270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6013704" cy="1499616"/>
          </a:xfrm>
        </p:spPr>
        <p:txBody>
          <a:bodyPr>
            <a:normAutofit/>
          </a:bodyPr>
          <a:lstStyle/>
          <a:p>
            <a:r>
              <a:rPr dirty="0"/>
              <a:t>Auto-Quarantine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2286000"/>
            <a:ext cx="6013703" cy="4023360"/>
          </a:xfrm>
        </p:spPr>
        <p:txBody>
          <a:bodyPr>
            <a:normAutofit/>
          </a:bodyPr>
          <a:lstStyle/>
          <a:p>
            <a:r>
              <a:t>Detect bad records</a:t>
            </a:r>
          </a:p>
          <a:p>
            <a:r>
              <a:t>Isolate suspicious data</a:t>
            </a:r>
          </a:p>
          <a:p>
            <a:r>
              <a:t>Store quarantined records</a:t>
            </a:r>
          </a:p>
          <a:p>
            <a:r>
              <a:t>Trigger remediation workflows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D7B666-D5E6-48CE-B26A-FB5E5C34AF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7511" y="325601"/>
            <a:ext cx="1715190" cy="39080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EE670A-A41A-44AD-BC1C-2090365EB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7511" y="4394539"/>
            <a:ext cx="1715190" cy="2029724"/>
          </a:xfrm>
          <a:prstGeom prst="rect">
            <a:avLst/>
          </a:prstGeom>
          <a:solidFill>
            <a:schemeClr val="tx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02F53-306D-4D8E-CF04-12612AE3D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Automated Remediation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52543-E7D0-469C-7203-A9D81B84A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1924051"/>
            <a:ext cx="7290055" cy="4810124"/>
          </a:xfrm>
        </p:spPr>
        <p:txBody>
          <a:bodyPr>
            <a:normAutofit/>
          </a:bodyPr>
          <a:lstStyle/>
          <a:p>
            <a:r>
              <a:rPr lang="en-US" dirty="0"/>
              <a:t>This is one of the most powerful concepts.</a:t>
            </a:r>
          </a:p>
          <a:p>
            <a:r>
              <a:rPr lang="en-US" b="1" dirty="0"/>
              <a:t>Fix Formatting Issues</a:t>
            </a:r>
          </a:p>
          <a:p>
            <a:r>
              <a:rPr lang="en-US" dirty="0"/>
              <a:t>Example:</a:t>
            </a:r>
          </a:p>
          <a:p>
            <a:r>
              <a:rPr lang="en-US" dirty="0"/>
              <a:t>01-12-25</a:t>
            </a:r>
          </a:p>
          <a:p>
            <a:r>
              <a:rPr lang="en-US" dirty="0"/>
              <a:t>Convert into:</a:t>
            </a:r>
          </a:p>
          <a:p>
            <a:r>
              <a:rPr lang="en-US" dirty="0"/>
              <a:t>2025-12-01</a:t>
            </a:r>
          </a:p>
          <a:p>
            <a:r>
              <a:rPr lang="en-US" b="1" dirty="0"/>
              <a:t>Correct Mappings</a:t>
            </a:r>
          </a:p>
          <a:p>
            <a:r>
              <a:rPr lang="en-US" dirty="0"/>
              <a:t>Example:</a:t>
            </a:r>
          </a:p>
          <a:p>
            <a:r>
              <a:rPr lang="en-US" dirty="0"/>
              <a:t>Male → M</a:t>
            </a:r>
            <a:br>
              <a:rPr lang="en-US" dirty="0"/>
            </a:br>
            <a:r>
              <a:rPr lang="en-US" dirty="0"/>
              <a:t>Female → F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30502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2BD4D-22C8-8E50-A46A-5363D5D98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808AE-21E1-94E8-3318-5DCA3950C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Fill Missing Values</a:t>
            </a:r>
          </a:p>
          <a:p>
            <a:r>
              <a:rPr lang="en-US" dirty="0"/>
              <a:t>Using:</a:t>
            </a:r>
          </a:p>
          <a:p>
            <a:pPr lvl="1"/>
            <a:r>
              <a:rPr lang="en-US" dirty="0"/>
              <a:t>Historical averages </a:t>
            </a:r>
          </a:p>
          <a:p>
            <a:pPr lvl="1"/>
            <a:r>
              <a:rPr lang="en-US" dirty="0"/>
              <a:t>ML prediction </a:t>
            </a:r>
          </a:p>
          <a:p>
            <a:pPr lvl="1"/>
            <a:r>
              <a:rPr lang="en-US" dirty="0"/>
              <a:t>Default business logic </a:t>
            </a:r>
          </a:p>
          <a:p>
            <a:r>
              <a:rPr lang="en-US" b="1" dirty="0"/>
              <a:t>Reprocess Failed Records</a:t>
            </a:r>
          </a:p>
          <a:p>
            <a:r>
              <a:rPr lang="en-US" dirty="0"/>
              <a:t>Once fixed:</a:t>
            </a:r>
          </a:p>
          <a:p>
            <a:pPr lvl="1"/>
            <a:r>
              <a:rPr lang="en-US" dirty="0"/>
              <a:t>Pipeline reruns automatically </a:t>
            </a:r>
          </a:p>
          <a:p>
            <a:r>
              <a:rPr lang="en-US" dirty="0"/>
              <a:t>This reduces operational effort.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25311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6013704" cy="1499616"/>
          </a:xfrm>
        </p:spPr>
        <p:txBody>
          <a:bodyPr>
            <a:normAutofit/>
          </a:bodyPr>
          <a:lstStyle/>
          <a:p>
            <a:r>
              <a:rPr dirty="0"/>
              <a:t>Automated Remediation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2286000"/>
            <a:ext cx="6013703" cy="4023360"/>
          </a:xfrm>
        </p:spPr>
        <p:txBody>
          <a:bodyPr>
            <a:normAutofit/>
          </a:bodyPr>
          <a:lstStyle/>
          <a:p>
            <a:r>
              <a:t>Fix formatting issues</a:t>
            </a:r>
          </a:p>
          <a:p>
            <a:r>
              <a:t>Correct mappings</a:t>
            </a:r>
          </a:p>
          <a:p>
            <a:r>
              <a:t>Fill missing values</a:t>
            </a:r>
          </a:p>
          <a:p>
            <a:r>
              <a:t>Reprocess failed records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D7B666-D5E6-48CE-B26A-FB5E5C34AF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7511" y="325601"/>
            <a:ext cx="1715190" cy="39080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EE670A-A41A-44AD-BC1C-2090365EB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7511" y="4394539"/>
            <a:ext cx="1715190" cy="2029724"/>
          </a:xfrm>
          <a:prstGeom prst="rect">
            <a:avLst/>
          </a:prstGeom>
          <a:solidFill>
            <a:schemeClr val="tx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5B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 1"/>
          <p:cNvSpPr/>
          <p:nvPr/>
        </p:nvSpPr>
        <p:spPr>
          <a:xfrm>
            <a:off x="6344000" y="0"/>
            <a:ext cx="2800000" cy="2800000"/>
          </a:xfrm>
          <a:prstGeom prst="ellipse">
            <a:avLst/>
          </a:prstGeom>
          <a:solidFill>
            <a:srgbClr val="27CED7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ircle 2"/>
          <p:cNvSpPr/>
          <p:nvPr/>
        </p:nvSpPr>
        <p:spPr>
          <a:xfrm>
            <a:off x="0" y="4858000"/>
            <a:ext cx="2000000" cy="2000000"/>
          </a:xfrm>
          <a:prstGeom prst="ellipse">
            <a:avLst/>
          </a:prstGeom>
          <a:solidFill>
            <a:srgbClr val="1CADE4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Label"/>
          <p:cNvSpPr/>
          <p:nvPr/>
        </p:nvSpPr>
        <p:spPr>
          <a:xfrm>
            <a:off x="3200000" y="1900000"/>
            <a:ext cx="2744000" cy="400000"/>
          </a:xfrm>
          <a:prstGeom prst="roundRect">
            <a:avLst>
              <a:gd name="adj" fmla="val 50000"/>
            </a:avLst>
          </a:prstGeom>
          <a:solidFill>
            <a:srgbClr val="27CED7"/>
          </a:solidFill>
          <a:ln>
            <a:noFill/>
          </a:ln>
        </p:spPr>
        <p:txBody>
          <a:bodyPr lIns="91440" tIns="45720" rIns="91440" bIns="45720" anchor="ctr" anchorCtr="1"/>
          <a:lstStyle/>
          <a:p>
            <a:pPr algn="ctr"/>
            <a:r>
              <a:rPr lang="en-US" sz="1600" b="1" spc="300">
                <a:solidFill>
                  <a:srgbClr val="FFFFFF"/>
                </a:solidFill>
                <a:latin typeface="Calibri"/>
                <a:cs typeface="Calibri"/>
              </a:rPr>
              <a:t>HANDS-ON EXERCISE</a:t>
            </a:r>
          </a:p>
        </p:txBody>
      </p:sp>
      <p:sp>
        <p:nvSpPr>
          <p:cNvPr id="5" name="MainTitle"/>
          <p:cNvSpPr/>
          <p:nvPr/>
        </p:nvSpPr>
        <p:spPr>
          <a:xfrm>
            <a:off x="1200000" y="2500000"/>
            <a:ext cx="6744000" cy="9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/>
          <a:p>
            <a:pPr algn="ctr"/>
            <a:r>
              <a:rPr lang="en-US" sz="4800" b="1">
                <a:solidFill>
                  <a:srgbClr val="FFFFFF"/>
                </a:solidFill>
                <a:latin typeface="Calibri"/>
                <a:cs typeface="Calibri"/>
              </a:rPr>
              <a:t>Lab 6, 7 &amp; 8</a:t>
            </a:r>
          </a:p>
        </p:txBody>
      </p:sp>
      <p:sp>
        <p:nvSpPr>
          <p:cNvPr id="6" name="Subtitle"/>
          <p:cNvSpPr/>
          <p:nvPr/>
        </p:nvSpPr>
        <p:spPr>
          <a:xfrm>
            <a:off x="1800000" y="3500000"/>
            <a:ext cx="5544000" cy="5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1"/>
          <a:lstStyle/>
          <a:p>
            <a:pPr algn="ctr"/>
            <a:r>
              <a:rPr lang="en-US" sz="1800">
                <a:solidFill>
                  <a:srgbClr val="DFE3E5"/>
                </a:solidFill>
                <a:latin typeface="Calibri"/>
                <a:cs typeface="Calibri"/>
              </a:rPr>
              <a:t>Automated Remediation &amp; Self-Healing Pipelines</a:t>
            </a:r>
          </a:p>
        </p:txBody>
      </p:sp>
      <p:sp>
        <p:nvSpPr>
          <p:cNvPr id="7" name="BottomAccent"/>
          <p:cNvSpPr/>
          <p:nvPr/>
        </p:nvSpPr>
        <p:spPr>
          <a:xfrm>
            <a:off x="3800000" y="4200000"/>
            <a:ext cx="1544000" cy="36000"/>
          </a:xfrm>
          <a:prstGeom prst="rect">
            <a:avLst/>
          </a:prstGeom>
          <a:solidFill>
            <a:srgbClr val="27CED7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510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PII Detection and Classification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Critical for governance.</a:t>
            </a:r>
            <a:endParaRPr lang="en-US" dirty="0"/>
          </a:p>
          <a:p>
            <a:r>
              <a:rPr dirty="0"/>
              <a:t>Detect emails and phone numbers</a:t>
            </a:r>
            <a:endParaRPr lang="en-US" dirty="0"/>
          </a:p>
          <a:p>
            <a:r>
              <a:rPr lang="it-IT" dirty="0"/>
              <a:t>Using:</a:t>
            </a:r>
          </a:p>
          <a:p>
            <a:pPr lvl="1"/>
            <a:r>
              <a:rPr lang="it-IT" dirty="0"/>
              <a:t>Regex </a:t>
            </a:r>
          </a:p>
          <a:p>
            <a:pPr lvl="1"/>
            <a:r>
              <a:rPr lang="it-IT" dirty="0"/>
              <a:t>NLP </a:t>
            </a:r>
          </a:p>
          <a:p>
            <a:pPr lvl="1"/>
            <a:r>
              <a:rPr lang="it-IT" dirty="0"/>
              <a:t>AI classification</a:t>
            </a:r>
            <a:endParaRPr dirty="0"/>
          </a:p>
          <a:p>
            <a:r>
              <a:rPr dirty="0"/>
              <a:t>Identify sensitive financial data</a:t>
            </a:r>
            <a:endParaRPr lang="en-US" dirty="0"/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Credit card numbers </a:t>
            </a:r>
          </a:p>
          <a:p>
            <a:pPr lvl="1"/>
            <a:r>
              <a:rPr lang="en-US" dirty="0"/>
              <a:t>PAN </a:t>
            </a:r>
          </a:p>
          <a:p>
            <a:pPr lvl="1"/>
            <a:r>
              <a:rPr lang="en-US" dirty="0"/>
              <a:t>Bank account details</a:t>
            </a:r>
            <a:endParaRPr dirty="0"/>
          </a:p>
          <a:p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2AF8C-CA18-16C0-B5DE-EE3C13622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445FA-5B8F-DD64-F68E-D368C9B95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Classify healthcare information</a:t>
            </a:r>
          </a:p>
          <a:p>
            <a:r>
              <a:rPr lang="en-IN" dirty="0"/>
              <a:t>Detect:</a:t>
            </a:r>
          </a:p>
          <a:p>
            <a:pPr lvl="1"/>
            <a:r>
              <a:rPr lang="en-IN" dirty="0"/>
              <a:t>Patient IDs </a:t>
            </a:r>
          </a:p>
          <a:p>
            <a:pPr lvl="1"/>
            <a:r>
              <a:rPr lang="en-IN" dirty="0"/>
              <a:t>Diagnoses </a:t>
            </a:r>
          </a:p>
          <a:p>
            <a:pPr lvl="1"/>
            <a:r>
              <a:rPr lang="en-IN" dirty="0"/>
              <a:t>Medical history </a:t>
            </a:r>
          </a:p>
          <a:p>
            <a:pPr lvl="1"/>
            <a:r>
              <a:rPr lang="en-IN" dirty="0"/>
              <a:t>Important for HIPAA compliance.</a:t>
            </a:r>
            <a:endParaRPr lang="en-US" dirty="0"/>
          </a:p>
          <a:p>
            <a:r>
              <a:rPr lang="en-US" dirty="0"/>
              <a:t>Apply governance labels</a:t>
            </a:r>
          </a:p>
          <a:p>
            <a:r>
              <a:rPr lang="en-US" dirty="0"/>
              <a:t>AI automatically tags:</a:t>
            </a:r>
          </a:p>
          <a:p>
            <a:pPr lvl="1"/>
            <a:r>
              <a:rPr lang="en-US" dirty="0"/>
              <a:t>Confidential </a:t>
            </a:r>
          </a:p>
          <a:p>
            <a:pPr lvl="1"/>
            <a:r>
              <a:rPr lang="en-US" dirty="0"/>
              <a:t>Restricted </a:t>
            </a:r>
          </a:p>
          <a:p>
            <a:pPr lvl="1"/>
            <a:r>
              <a:rPr lang="en-US" dirty="0"/>
              <a:t>Public </a:t>
            </a:r>
          </a:p>
          <a:p>
            <a:r>
              <a:rPr lang="en-US" dirty="0"/>
              <a:t>Useful in:</a:t>
            </a:r>
          </a:p>
          <a:p>
            <a:pPr lvl="1"/>
            <a:r>
              <a:rPr lang="en-US" dirty="0"/>
              <a:t>Microsoft Purview </a:t>
            </a:r>
          </a:p>
          <a:p>
            <a:pPr lvl="1"/>
            <a:r>
              <a:rPr lang="en-US" dirty="0"/>
              <a:t>Unity Catalog </a:t>
            </a:r>
          </a:p>
          <a:p>
            <a:pPr lvl="1"/>
            <a:r>
              <a:rPr lang="en-US" dirty="0"/>
              <a:t>Data catalogs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3815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5B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 1"/>
          <p:cNvSpPr/>
          <p:nvPr/>
        </p:nvSpPr>
        <p:spPr>
          <a:xfrm>
            <a:off x="6344000" y="0"/>
            <a:ext cx="2800000" cy="2800000"/>
          </a:xfrm>
          <a:prstGeom prst="ellipse">
            <a:avLst/>
          </a:prstGeom>
          <a:solidFill>
            <a:srgbClr val="27CED7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ircle 2"/>
          <p:cNvSpPr/>
          <p:nvPr/>
        </p:nvSpPr>
        <p:spPr>
          <a:xfrm>
            <a:off x="0" y="4858000"/>
            <a:ext cx="2000000" cy="2000000"/>
          </a:xfrm>
          <a:prstGeom prst="ellipse">
            <a:avLst/>
          </a:prstGeom>
          <a:solidFill>
            <a:srgbClr val="1CADE4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Label"/>
          <p:cNvSpPr/>
          <p:nvPr/>
        </p:nvSpPr>
        <p:spPr>
          <a:xfrm>
            <a:off x="3200000" y="1900000"/>
            <a:ext cx="2744000" cy="400000"/>
          </a:xfrm>
          <a:prstGeom prst="roundRect">
            <a:avLst>
              <a:gd name="adj" fmla="val 50000"/>
            </a:avLst>
          </a:prstGeom>
          <a:solidFill>
            <a:srgbClr val="27CED7"/>
          </a:solidFill>
          <a:ln>
            <a:noFill/>
          </a:ln>
        </p:spPr>
        <p:txBody>
          <a:bodyPr lIns="91440" tIns="45720" rIns="91440" bIns="45720" anchor="ctr" anchorCtr="1"/>
          <a:lstStyle/>
          <a:p>
            <a:pPr algn="ctr"/>
            <a:r>
              <a:rPr lang="en-US" sz="1600" b="1" spc="300">
                <a:solidFill>
                  <a:srgbClr val="FFFFFF"/>
                </a:solidFill>
                <a:latin typeface="Calibri"/>
                <a:cs typeface="Calibri"/>
              </a:rPr>
              <a:t>HANDS-ON EXERCISE</a:t>
            </a:r>
          </a:p>
        </p:txBody>
      </p:sp>
      <p:sp>
        <p:nvSpPr>
          <p:cNvPr id="5" name="MainTitle"/>
          <p:cNvSpPr/>
          <p:nvPr/>
        </p:nvSpPr>
        <p:spPr>
          <a:xfrm>
            <a:off x="1200000" y="2500000"/>
            <a:ext cx="6744000" cy="9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/>
          <a:p>
            <a:pPr algn="ctr"/>
            <a:r>
              <a:rPr lang="en-US" sz="4800" b="1">
                <a:solidFill>
                  <a:srgbClr val="FFFFFF"/>
                </a:solidFill>
                <a:latin typeface="Calibri"/>
                <a:cs typeface="Calibri"/>
              </a:rPr>
              <a:t>Lab 9</a:t>
            </a:r>
          </a:p>
        </p:txBody>
      </p:sp>
      <p:sp>
        <p:nvSpPr>
          <p:cNvPr id="6" name="Subtitle"/>
          <p:cNvSpPr/>
          <p:nvPr/>
        </p:nvSpPr>
        <p:spPr>
          <a:xfrm>
            <a:off x="1800000" y="3500000"/>
            <a:ext cx="5544000" cy="5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1"/>
          <a:lstStyle/>
          <a:p>
            <a:pPr algn="ctr"/>
            <a:r>
              <a:rPr lang="en-US" sz="1800">
                <a:solidFill>
                  <a:srgbClr val="DFE3E5"/>
                </a:solidFill>
                <a:latin typeface="Calibri"/>
                <a:cs typeface="Calibri"/>
              </a:rPr>
              <a:t>PII Detection &amp; Classification</a:t>
            </a:r>
          </a:p>
        </p:txBody>
      </p:sp>
      <p:sp>
        <p:nvSpPr>
          <p:cNvPr id="7" name="BottomAccent"/>
          <p:cNvSpPr/>
          <p:nvPr/>
        </p:nvSpPr>
        <p:spPr>
          <a:xfrm>
            <a:off x="3800000" y="4200000"/>
            <a:ext cx="1544000" cy="36000"/>
          </a:xfrm>
          <a:prstGeom prst="rect">
            <a:avLst/>
          </a:prstGeom>
          <a:solidFill>
            <a:srgbClr val="27CED7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9804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Self-Healing Pipeline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2285999"/>
            <a:ext cx="7290055" cy="4371975"/>
          </a:xfrm>
        </p:spPr>
        <p:txBody>
          <a:bodyPr>
            <a:normAutofit fontScale="92500" lnSpcReduction="20000"/>
          </a:bodyPr>
          <a:lstStyle/>
          <a:p>
            <a:r>
              <a:rPr lang="en-IN" dirty="0"/>
              <a:t>Workflow:</a:t>
            </a:r>
            <a:endParaRPr lang="en-US" dirty="0"/>
          </a:p>
          <a:p>
            <a:r>
              <a:rPr dirty="0"/>
              <a:t>Detect failures</a:t>
            </a:r>
            <a:endParaRPr lang="en-US" dirty="0"/>
          </a:p>
          <a:p>
            <a:pPr lvl="1"/>
            <a:r>
              <a:rPr lang="en-IN" dirty="0"/>
              <a:t>Pipeline crashes or validation fails.</a:t>
            </a:r>
            <a:endParaRPr dirty="0"/>
          </a:p>
          <a:p>
            <a:r>
              <a:rPr dirty="0"/>
              <a:t>Diagnose issues</a:t>
            </a:r>
            <a:endParaRPr lang="en-US" dirty="0"/>
          </a:p>
          <a:p>
            <a:pPr lvl="1"/>
            <a:r>
              <a:rPr lang="en-US" dirty="0"/>
              <a:t>AI identifies:</a:t>
            </a:r>
          </a:p>
          <a:p>
            <a:pPr lvl="2"/>
            <a:r>
              <a:rPr lang="en-US" dirty="0"/>
              <a:t>Root cause </a:t>
            </a:r>
          </a:p>
          <a:p>
            <a:pPr lvl="2"/>
            <a:r>
              <a:rPr lang="en-US" dirty="0"/>
              <a:t>Impact </a:t>
            </a:r>
          </a:p>
          <a:p>
            <a:pPr lvl="2"/>
            <a:r>
              <a:rPr lang="en-US" dirty="0"/>
              <a:t>Severity</a:t>
            </a:r>
            <a:endParaRPr dirty="0"/>
          </a:p>
          <a:p>
            <a:r>
              <a:rPr dirty="0"/>
              <a:t>Apply fixes</a:t>
            </a:r>
            <a:endParaRPr lang="en-US" dirty="0"/>
          </a:p>
          <a:p>
            <a:pPr lvl="1"/>
            <a:r>
              <a:rPr lang="en-IN" dirty="0"/>
              <a:t>AI attempts repair automatically.</a:t>
            </a:r>
            <a:endParaRPr dirty="0"/>
          </a:p>
          <a:p>
            <a:r>
              <a:rPr dirty="0"/>
              <a:t>Re-run pipelines</a:t>
            </a:r>
            <a:endParaRPr lang="en-US" dirty="0"/>
          </a:p>
          <a:p>
            <a:pPr lvl="1"/>
            <a:r>
              <a:rPr lang="en-IN" dirty="0"/>
              <a:t>Pipeline restarts after correction.</a:t>
            </a:r>
          </a:p>
          <a:p>
            <a:r>
              <a:rPr dirty="0"/>
              <a:t>Generate alerts</a:t>
            </a:r>
            <a:endParaRPr lang="en-US" dirty="0"/>
          </a:p>
          <a:p>
            <a:pPr lvl="1"/>
            <a:r>
              <a:rPr lang="en-US" dirty="0"/>
              <a:t>Only escalate when unresolved.</a:t>
            </a:r>
          </a:p>
          <a:p>
            <a:pPr lvl="1"/>
            <a:r>
              <a:rPr lang="en-US" dirty="0"/>
              <a:t>This dramatically reduces downtime.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Diagnosis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is the “brain” of self-healing systems.</a:t>
            </a:r>
          </a:p>
          <a:p>
            <a:endParaRPr lang="en-IN" dirty="0"/>
          </a:p>
          <a:p>
            <a:r>
              <a:rPr dirty="0"/>
              <a:t>Analyze root causes</a:t>
            </a:r>
            <a:endParaRPr lang="en-US" dirty="0"/>
          </a:p>
          <a:p>
            <a:pPr lvl="1"/>
            <a:r>
              <a:rPr lang="en-IN" dirty="0"/>
              <a:t>AI studies:</a:t>
            </a:r>
          </a:p>
          <a:p>
            <a:pPr lvl="2"/>
            <a:r>
              <a:rPr lang="en-IN" dirty="0"/>
              <a:t>Logs </a:t>
            </a:r>
          </a:p>
          <a:p>
            <a:pPr lvl="2"/>
            <a:r>
              <a:rPr lang="en-IN" dirty="0"/>
              <a:t>Errors </a:t>
            </a:r>
          </a:p>
          <a:p>
            <a:pPr lvl="2"/>
            <a:r>
              <a:rPr lang="en-IN" dirty="0"/>
              <a:t>Metadata </a:t>
            </a:r>
          </a:p>
          <a:p>
            <a:pPr lvl="2"/>
            <a:r>
              <a:rPr lang="en-IN" dirty="0"/>
              <a:t>Historical incidents</a:t>
            </a:r>
            <a:endParaRPr dirty="0"/>
          </a:p>
          <a:p>
            <a:r>
              <a:rPr dirty="0"/>
              <a:t>Summarize incidents</a:t>
            </a:r>
            <a:endParaRPr lang="en-US" dirty="0"/>
          </a:p>
          <a:p>
            <a:r>
              <a:rPr lang="en-US" dirty="0"/>
              <a:t>Example:</a:t>
            </a:r>
          </a:p>
          <a:p>
            <a:r>
              <a:rPr lang="en-US" dirty="0"/>
              <a:t>Failure caused by schema mismatch in </a:t>
            </a:r>
            <a:r>
              <a:rPr lang="en-US" dirty="0" err="1"/>
              <a:t>customer_id</a:t>
            </a:r>
            <a:r>
              <a:rPr lang="en-US" dirty="0"/>
              <a:t> column.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3ED66-8B3E-E06E-BFBE-8D4191159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26424-6020-7395-DEBD-2245399257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r>
              <a:rPr lang="en-IN" dirty="0"/>
              <a:t>Recommend remediation</a:t>
            </a:r>
          </a:p>
          <a:p>
            <a:pPr lvl="1"/>
            <a:r>
              <a:rPr lang="en-US" dirty="0"/>
              <a:t>AI suggests:</a:t>
            </a:r>
          </a:p>
          <a:p>
            <a:pPr lvl="2"/>
            <a:r>
              <a:rPr lang="en-US" dirty="0"/>
              <a:t>Type conversion </a:t>
            </a:r>
          </a:p>
          <a:p>
            <a:pPr lvl="2"/>
            <a:r>
              <a:rPr lang="en-US" dirty="0"/>
              <a:t>Retry </a:t>
            </a:r>
          </a:p>
          <a:p>
            <a:pPr lvl="2"/>
            <a:r>
              <a:rPr lang="en-US" dirty="0"/>
              <a:t>Resource scaling </a:t>
            </a:r>
            <a:endParaRPr lang="en-IN" dirty="0"/>
          </a:p>
          <a:p>
            <a:r>
              <a:rPr lang="en-IN" dirty="0"/>
              <a:t>Prioritize failures</a:t>
            </a:r>
          </a:p>
          <a:p>
            <a:r>
              <a:rPr lang="en-US" dirty="0"/>
              <a:t>Critical pipelines receive higher priority.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34211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5B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 1"/>
          <p:cNvSpPr/>
          <p:nvPr/>
        </p:nvSpPr>
        <p:spPr>
          <a:xfrm>
            <a:off x="6344000" y="0"/>
            <a:ext cx="2800000" cy="2800000"/>
          </a:xfrm>
          <a:prstGeom prst="ellipse">
            <a:avLst/>
          </a:prstGeom>
          <a:solidFill>
            <a:srgbClr val="27CED7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ircle 2"/>
          <p:cNvSpPr/>
          <p:nvPr/>
        </p:nvSpPr>
        <p:spPr>
          <a:xfrm>
            <a:off x="0" y="4858000"/>
            <a:ext cx="2000000" cy="2000000"/>
          </a:xfrm>
          <a:prstGeom prst="ellipse">
            <a:avLst/>
          </a:prstGeom>
          <a:solidFill>
            <a:srgbClr val="1CADE4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Label"/>
          <p:cNvSpPr/>
          <p:nvPr/>
        </p:nvSpPr>
        <p:spPr>
          <a:xfrm>
            <a:off x="3200000" y="1900000"/>
            <a:ext cx="2744000" cy="400000"/>
          </a:xfrm>
          <a:prstGeom prst="roundRect">
            <a:avLst>
              <a:gd name="adj" fmla="val 50000"/>
            </a:avLst>
          </a:prstGeom>
          <a:solidFill>
            <a:srgbClr val="27CED7"/>
          </a:solidFill>
          <a:ln>
            <a:noFill/>
          </a:ln>
        </p:spPr>
        <p:txBody>
          <a:bodyPr lIns="91440" tIns="45720" rIns="91440" bIns="45720" anchor="ctr" anchorCtr="1"/>
          <a:lstStyle/>
          <a:p>
            <a:pPr algn="ctr"/>
            <a:r>
              <a:rPr lang="en-US" sz="1600" b="1" spc="300">
                <a:solidFill>
                  <a:srgbClr val="FFFFFF"/>
                </a:solidFill>
                <a:latin typeface="Calibri"/>
                <a:cs typeface="Calibri"/>
              </a:rPr>
              <a:t>HANDS-ON EXERCISE</a:t>
            </a:r>
          </a:p>
        </p:txBody>
      </p:sp>
      <p:sp>
        <p:nvSpPr>
          <p:cNvPr id="5" name="MainTitle"/>
          <p:cNvSpPr/>
          <p:nvPr/>
        </p:nvSpPr>
        <p:spPr>
          <a:xfrm>
            <a:off x="1200000" y="2500000"/>
            <a:ext cx="6744000" cy="9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/>
          <a:p>
            <a:pPr algn="ctr"/>
            <a:r>
              <a:rPr lang="en-US" sz="4800" b="1">
                <a:solidFill>
                  <a:srgbClr val="FFFFFF"/>
                </a:solidFill>
                <a:latin typeface="Calibri"/>
                <a:cs typeface="Calibri"/>
              </a:rPr>
              <a:t>Lab 10</a:t>
            </a:r>
          </a:p>
        </p:txBody>
      </p:sp>
      <p:sp>
        <p:nvSpPr>
          <p:cNvPr id="6" name="Subtitle"/>
          <p:cNvSpPr/>
          <p:nvPr/>
        </p:nvSpPr>
        <p:spPr>
          <a:xfrm>
            <a:off x="1800000" y="3500000"/>
            <a:ext cx="5544000" cy="5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1"/>
          <a:lstStyle/>
          <a:p>
            <a:pPr algn="ctr"/>
            <a:r>
              <a:rPr lang="en-US" sz="1800">
                <a:solidFill>
                  <a:srgbClr val="DFE3E5"/>
                </a:solidFill>
                <a:latin typeface="Calibri"/>
                <a:cs typeface="Calibri"/>
              </a:rPr>
              <a:t>Self-Healing Pipeline &amp; AI Diagnosis</a:t>
            </a:r>
          </a:p>
        </p:txBody>
      </p:sp>
      <p:sp>
        <p:nvSpPr>
          <p:cNvPr id="7" name="BottomAccent"/>
          <p:cNvSpPr/>
          <p:nvPr/>
        </p:nvSpPr>
        <p:spPr>
          <a:xfrm>
            <a:off x="3800000" y="4200000"/>
            <a:ext cx="1544000" cy="36000"/>
          </a:xfrm>
          <a:prstGeom prst="rect">
            <a:avLst/>
          </a:prstGeom>
          <a:solidFill>
            <a:srgbClr val="27CED7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969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LangGraph for Self-Healing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LangGraph</a:t>
            </a:r>
            <a:r>
              <a:rPr lang="en-US" dirty="0"/>
              <a:t> helps build intelligent workflows using agents.</a:t>
            </a:r>
          </a:p>
          <a:p>
            <a:endParaRPr lang="en-IN" dirty="0"/>
          </a:p>
          <a:p>
            <a:r>
              <a:rPr b="1" dirty="0"/>
              <a:t>Stateful workflows</a:t>
            </a:r>
            <a:endParaRPr lang="en-US" b="1" dirty="0"/>
          </a:p>
          <a:p>
            <a:r>
              <a:rPr lang="en-US" dirty="0"/>
              <a:t>The workflow remembers:</a:t>
            </a:r>
          </a:p>
          <a:p>
            <a:pPr lvl="1"/>
            <a:r>
              <a:rPr lang="en-US" dirty="0"/>
              <a:t>Previous attempts </a:t>
            </a:r>
          </a:p>
          <a:p>
            <a:pPr lvl="1"/>
            <a:r>
              <a:rPr lang="en-US" dirty="0"/>
              <a:t>Failure history </a:t>
            </a:r>
          </a:p>
          <a:p>
            <a:pPr lvl="1"/>
            <a:r>
              <a:rPr lang="en-US" dirty="0"/>
              <a:t>Recovery actions</a:t>
            </a:r>
            <a:endParaRPr dirty="0"/>
          </a:p>
          <a:p>
            <a:r>
              <a:rPr b="1" dirty="0"/>
              <a:t>Retry logic</a:t>
            </a:r>
            <a:endParaRPr lang="en-US" b="1" dirty="0"/>
          </a:p>
          <a:p>
            <a:r>
              <a:rPr lang="en-US" dirty="0"/>
              <a:t>If failure occurs:</a:t>
            </a:r>
          </a:p>
          <a:p>
            <a:pPr lvl="1"/>
            <a:r>
              <a:rPr lang="en-US" dirty="0"/>
              <a:t>Retry intelligently </a:t>
            </a:r>
          </a:p>
          <a:p>
            <a:pPr lvl="1"/>
            <a:r>
              <a:rPr lang="en-US" dirty="0"/>
              <a:t>Use exponential backoff</a:t>
            </a:r>
            <a:endParaRPr dirty="0"/>
          </a:p>
          <a:p>
            <a:endParaRPr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A04FC-8E48-302E-6D83-DC0DC3983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055BB-1CC4-1313-B0DA-2B9C17ED48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Decision branching</a:t>
            </a:r>
          </a:p>
          <a:p>
            <a:r>
              <a:rPr lang="en-US" dirty="0"/>
              <a:t>AI chooses different paths.</a:t>
            </a:r>
          </a:p>
          <a:p>
            <a:r>
              <a:rPr lang="en-US" dirty="0"/>
              <a:t>Example:</a:t>
            </a:r>
          </a:p>
          <a:p>
            <a:r>
              <a:rPr lang="en-US" dirty="0"/>
              <a:t>If schema error → apply schema fix</a:t>
            </a:r>
            <a:br>
              <a:rPr lang="en-US" dirty="0"/>
            </a:br>
            <a:r>
              <a:rPr lang="en-US" dirty="0"/>
              <a:t>Else if timeout → retry job</a:t>
            </a:r>
          </a:p>
          <a:p>
            <a:r>
              <a:rPr lang="en-US" b="1" dirty="0"/>
              <a:t>Persistent workflow memory</a:t>
            </a:r>
          </a:p>
          <a:p>
            <a:r>
              <a:rPr lang="en-US" dirty="0"/>
              <a:t>Memory enables:</a:t>
            </a:r>
          </a:p>
          <a:p>
            <a:pPr lvl="1"/>
            <a:r>
              <a:rPr lang="en-US" dirty="0"/>
              <a:t>Long-running autonomous systems </a:t>
            </a:r>
          </a:p>
          <a:p>
            <a:pPr lvl="1"/>
            <a:r>
              <a:rPr lang="en-US" dirty="0"/>
              <a:t>Multi-step recovery</a:t>
            </a:r>
          </a:p>
        </p:txBody>
      </p:sp>
    </p:spTree>
    <p:extLst>
      <p:ext uri="{BB962C8B-B14F-4D97-AF65-F5344CB8AC3E}">
        <p14:creationId xmlns:p14="http://schemas.microsoft.com/office/powerpoint/2010/main" val="33359420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5B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 1"/>
          <p:cNvSpPr/>
          <p:nvPr/>
        </p:nvSpPr>
        <p:spPr>
          <a:xfrm>
            <a:off x="6344000" y="0"/>
            <a:ext cx="2800000" cy="2800000"/>
          </a:xfrm>
          <a:prstGeom prst="ellipse">
            <a:avLst/>
          </a:prstGeom>
          <a:solidFill>
            <a:srgbClr val="27CED7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ircle 2"/>
          <p:cNvSpPr/>
          <p:nvPr/>
        </p:nvSpPr>
        <p:spPr>
          <a:xfrm>
            <a:off x="0" y="4858000"/>
            <a:ext cx="2000000" cy="2000000"/>
          </a:xfrm>
          <a:prstGeom prst="ellipse">
            <a:avLst/>
          </a:prstGeom>
          <a:solidFill>
            <a:srgbClr val="1CADE4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Label"/>
          <p:cNvSpPr/>
          <p:nvPr/>
        </p:nvSpPr>
        <p:spPr>
          <a:xfrm>
            <a:off x="3200000" y="1900000"/>
            <a:ext cx="2744000" cy="400000"/>
          </a:xfrm>
          <a:prstGeom prst="roundRect">
            <a:avLst>
              <a:gd name="adj" fmla="val 50000"/>
            </a:avLst>
          </a:prstGeom>
          <a:solidFill>
            <a:srgbClr val="27CED7"/>
          </a:solidFill>
          <a:ln>
            <a:noFill/>
          </a:ln>
        </p:spPr>
        <p:txBody>
          <a:bodyPr lIns="91440" tIns="45720" rIns="91440" bIns="45720" anchor="ctr" anchorCtr="1"/>
          <a:lstStyle/>
          <a:p>
            <a:pPr algn="ctr"/>
            <a:r>
              <a:rPr lang="en-US" sz="1600" b="1" spc="300">
                <a:solidFill>
                  <a:srgbClr val="FFFFFF"/>
                </a:solidFill>
                <a:latin typeface="Calibri"/>
                <a:cs typeface="Calibri"/>
              </a:rPr>
              <a:t>HANDS-ON EXERCISE</a:t>
            </a:r>
          </a:p>
        </p:txBody>
      </p:sp>
      <p:sp>
        <p:nvSpPr>
          <p:cNvPr id="5" name="MainTitle"/>
          <p:cNvSpPr/>
          <p:nvPr/>
        </p:nvSpPr>
        <p:spPr>
          <a:xfrm>
            <a:off x="1200000" y="2500000"/>
            <a:ext cx="6744000" cy="9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/>
          <a:p>
            <a:pPr algn="ctr"/>
            <a:r>
              <a:rPr lang="en-US" sz="4800" b="1">
                <a:solidFill>
                  <a:srgbClr val="FFFFFF"/>
                </a:solidFill>
                <a:latin typeface="Calibri"/>
                <a:cs typeface="Calibri"/>
              </a:rPr>
              <a:t>Lab 11</a:t>
            </a:r>
          </a:p>
        </p:txBody>
      </p:sp>
      <p:sp>
        <p:nvSpPr>
          <p:cNvPr id="6" name="Subtitle"/>
          <p:cNvSpPr/>
          <p:nvPr/>
        </p:nvSpPr>
        <p:spPr>
          <a:xfrm>
            <a:off x="1800000" y="3500000"/>
            <a:ext cx="5544000" cy="5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1"/>
          <a:lstStyle/>
          <a:p>
            <a:pPr algn="ctr"/>
            <a:r>
              <a:rPr lang="en-US" sz="1800">
                <a:solidFill>
                  <a:srgbClr val="DFE3E5"/>
                </a:solidFill>
                <a:latin typeface="Calibri"/>
                <a:cs typeface="Calibri"/>
              </a:rPr>
              <a:t>LangGraph for Self-Healing</a:t>
            </a:r>
          </a:p>
        </p:txBody>
      </p:sp>
      <p:sp>
        <p:nvSpPr>
          <p:cNvPr id="7" name="BottomAccent"/>
          <p:cNvSpPr/>
          <p:nvPr/>
        </p:nvSpPr>
        <p:spPr>
          <a:xfrm>
            <a:off x="3800000" y="4200000"/>
            <a:ext cx="1544000" cy="36000"/>
          </a:xfrm>
          <a:prstGeom prst="rect">
            <a:avLst/>
          </a:prstGeom>
          <a:solidFill>
            <a:srgbClr val="27CED7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7435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Snowflake Cortex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AI-powered analytics</a:t>
            </a:r>
            <a:endParaRPr lang="en-US" dirty="0"/>
          </a:p>
          <a:p>
            <a:pPr lvl="1"/>
            <a:r>
              <a:rPr lang="en-US" dirty="0"/>
              <a:t>Natural language analysis on warehouse data.</a:t>
            </a:r>
            <a:endParaRPr dirty="0"/>
          </a:p>
          <a:p>
            <a:r>
              <a:rPr dirty="0"/>
              <a:t>Root-cause summarization</a:t>
            </a:r>
            <a:endParaRPr lang="en-US" dirty="0"/>
          </a:p>
          <a:p>
            <a:pPr lvl="1"/>
            <a:r>
              <a:rPr lang="en-IN" dirty="0"/>
              <a:t>AI summarizes incidents automatically.</a:t>
            </a:r>
            <a:endParaRPr dirty="0"/>
          </a:p>
          <a:p>
            <a:r>
              <a:rPr dirty="0"/>
              <a:t>Natural language insights</a:t>
            </a:r>
            <a:endParaRPr lang="en-US" dirty="0"/>
          </a:p>
          <a:p>
            <a:r>
              <a:rPr lang="en-US" dirty="0"/>
              <a:t>Example:</a:t>
            </a:r>
          </a:p>
          <a:p>
            <a:r>
              <a:rPr lang="en-US" dirty="0"/>
              <a:t>“Sales dropped 35% due to ingestion delays.”</a:t>
            </a:r>
            <a:endParaRPr dirty="0"/>
          </a:p>
          <a:p>
            <a:r>
              <a:rPr dirty="0"/>
              <a:t>Intelligent monitoring</a:t>
            </a:r>
            <a:endParaRPr lang="en-US" dirty="0"/>
          </a:p>
          <a:p>
            <a:pPr lvl="1"/>
            <a:r>
              <a:rPr lang="en-US" dirty="0"/>
              <a:t>AI continuously analyzes warehouse behavior.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5B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 1"/>
          <p:cNvSpPr/>
          <p:nvPr/>
        </p:nvSpPr>
        <p:spPr>
          <a:xfrm>
            <a:off x="6344000" y="0"/>
            <a:ext cx="2800000" cy="2800000"/>
          </a:xfrm>
          <a:prstGeom prst="ellipse">
            <a:avLst/>
          </a:prstGeom>
          <a:solidFill>
            <a:srgbClr val="27CED7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ircle 2"/>
          <p:cNvSpPr/>
          <p:nvPr/>
        </p:nvSpPr>
        <p:spPr>
          <a:xfrm>
            <a:off x="0" y="4858000"/>
            <a:ext cx="2000000" cy="2000000"/>
          </a:xfrm>
          <a:prstGeom prst="ellipse">
            <a:avLst/>
          </a:prstGeom>
          <a:solidFill>
            <a:srgbClr val="1CADE4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Label"/>
          <p:cNvSpPr/>
          <p:nvPr/>
        </p:nvSpPr>
        <p:spPr>
          <a:xfrm>
            <a:off x="3200000" y="1900000"/>
            <a:ext cx="2744000" cy="400000"/>
          </a:xfrm>
          <a:prstGeom prst="roundRect">
            <a:avLst>
              <a:gd name="adj" fmla="val 50000"/>
            </a:avLst>
          </a:prstGeom>
          <a:solidFill>
            <a:srgbClr val="27CED7"/>
          </a:solidFill>
          <a:ln>
            <a:noFill/>
          </a:ln>
        </p:spPr>
        <p:txBody>
          <a:bodyPr lIns="91440" tIns="45720" rIns="91440" bIns="45720" anchor="ctr" anchorCtr="1"/>
          <a:lstStyle/>
          <a:p>
            <a:pPr algn="ctr"/>
            <a:r>
              <a:rPr lang="en-US" sz="1600" b="1" spc="300">
                <a:solidFill>
                  <a:srgbClr val="FFFFFF"/>
                </a:solidFill>
                <a:latin typeface="Calibri"/>
                <a:cs typeface="Calibri"/>
              </a:rPr>
              <a:t>HANDS-ON EXERCISE</a:t>
            </a:r>
          </a:p>
        </p:txBody>
      </p:sp>
      <p:sp>
        <p:nvSpPr>
          <p:cNvPr id="5" name="MainTitle"/>
          <p:cNvSpPr/>
          <p:nvPr/>
        </p:nvSpPr>
        <p:spPr>
          <a:xfrm>
            <a:off x="1200000" y="2500000"/>
            <a:ext cx="6744000" cy="9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/>
          <a:p>
            <a:pPr algn="ctr"/>
            <a:r>
              <a:rPr lang="en-US" sz="4800" b="1">
                <a:solidFill>
                  <a:srgbClr val="FFFFFF"/>
                </a:solidFill>
                <a:latin typeface="Calibri"/>
                <a:cs typeface="Calibri"/>
              </a:rPr>
              <a:t>Lab 14</a:t>
            </a:r>
          </a:p>
        </p:txBody>
      </p:sp>
      <p:sp>
        <p:nvSpPr>
          <p:cNvPr id="6" name="Subtitle"/>
          <p:cNvSpPr/>
          <p:nvPr/>
        </p:nvSpPr>
        <p:spPr>
          <a:xfrm>
            <a:off x="1800000" y="3500000"/>
            <a:ext cx="5544000" cy="5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1"/>
          <a:lstStyle/>
          <a:p>
            <a:pPr algn="ctr"/>
            <a:r>
              <a:rPr lang="en-US" sz="1800">
                <a:solidFill>
                  <a:srgbClr val="DFE3E5"/>
                </a:solidFill>
                <a:latin typeface="Calibri"/>
                <a:cs typeface="Calibri"/>
              </a:rPr>
              <a:t>Snowflake Cortex Integration</a:t>
            </a:r>
          </a:p>
        </p:txBody>
      </p:sp>
      <p:sp>
        <p:nvSpPr>
          <p:cNvPr id="7" name="BottomAccent"/>
          <p:cNvSpPr/>
          <p:nvPr/>
        </p:nvSpPr>
        <p:spPr>
          <a:xfrm>
            <a:off x="3800000" y="4200000"/>
            <a:ext cx="1544000" cy="36000"/>
          </a:xfrm>
          <a:prstGeom prst="rect">
            <a:avLst/>
          </a:prstGeom>
          <a:solidFill>
            <a:srgbClr val="27CED7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0380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Benefits of Autonomous Data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Reduced downtime</a:t>
            </a:r>
            <a:endParaRPr lang="en-US" dirty="0"/>
          </a:p>
          <a:p>
            <a:pPr lvl="1"/>
            <a:r>
              <a:rPr lang="en-IN" dirty="0"/>
              <a:t>Self-healing systems recover faster.</a:t>
            </a:r>
            <a:endParaRPr dirty="0"/>
          </a:p>
          <a:p>
            <a:r>
              <a:rPr dirty="0"/>
              <a:t>Improved reliability</a:t>
            </a:r>
            <a:endParaRPr lang="en-US" dirty="0"/>
          </a:p>
          <a:p>
            <a:pPr lvl="1"/>
            <a:r>
              <a:rPr lang="en-IN" dirty="0"/>
              <a:t>Pipelines become resilient.</a:t>
            </a:r>
            <a:endParaRPr dirty="0"/>
          </a:p>
          <a:p>
            <a:r>
              <a:rPr dirty="0"/>
              <a:t>Lower operational cost</a:t>
            </a:r>
            <a:endParaRPr lang="en-US" dirty="0"/>
          </a:p>
          <a:p>
            <a:pPr lvl="1"/>
            <a:r>
              <a:rPr lang="en-IN" dirty="0"/>
              <a:t>Less manual monitoring.</a:t>
            </a:r>
            <a:endParaRPr dirty="0"/>
          </a:p>
          <a:p>
            <a:r>
              <a:rPr dirty="0"/>
              <a:t>Enhanced governance</a:t>
            </a:r>
            <a:endParaRPr lang="en-US" dirty="0"/>
          </a:p>
          <a:p>
            <a:pPr lvl="1"/>
            <a:r>
              <a:rPr lang="en-US" dirty="0"/>
              <a:t>AI automatically classifies and monitors data.</a:t>
            </a:r>
            <a:endParaRPr dirty="0"/>
          </a:p>
          <a:p>
            <a:r>
              <a:rPr dirty="0"/>
              <a:t>Scalable AI operations</a:t>
            </a:r>
            <a:endParaRPr lang="en-US" dirty="0"/>
          </a:p>
          <a:p>
            <a:pPr lvl="1"/>
            <a:r>
              <a:rPr lang="en-US" dirty="0"/>
              <a:t>Large enterprises can manage thousands of pipelines efficiently.</a:t>
            </a:r>
            <a:endParaRPr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b="1" dirty="0"/>
              <a:t>Human approval for critical fixes</a:t>
            </a:r>
            <a:endParaRPr lang="en-US" b="1" dirty="0"/>
          </a:p>
          <a:p>
            <a:r>
              <a:rPr lang="en-US" dirty="0"/>
              <a:t>Do not allow AI to make dangerous changes automatically.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Schema deletion </a:t>
            </a:r>
          </a:p>
          <a:p>
            <a:pPr lvl="1"/>
            <a:r>
              <a:rPr lang="en-US" dirty="0"/>
              <a:t>Production overwrite </a:t>
            </a:r>
          </a:p>
          <a:p>
            <a:r>
              <a:rPr lang="en-US" dirty="0"/>
              <a:t>Require approval.</a:t>
            </a:r>
            <a:endParaRPr dirty="0"/>
          </a:p>
          <a:p>
            <a:r>
              <a:rPr b="1" dirty="0"/>
              <a:t>Audit logging</a:t>
            </a:r>
            <a:endParaRPr lang="en-US" b="1" dirty="0"/>
          </a:p>
          <a:p>
            <a:r>
              <a:rPr lang="en-US" dirty="0"/>
              <a:t>Track:</a:t>
            </a:r>
          </a:p>
          <a:p>
            <a:pPr lvl="1"/>
            <a:r>
              <a:rPr lang="en-US" dirty="0"/>
              <a:t>What AI changed </a:t>
            </a:r>
          </a:p>
          <a:p>
            <a:pPr lvl="1"/>
            <a:r>
              <a:rPr lang="en-US" dirty="0"/>
              <a:t>When </a:t>
            </a:r>
          </a:p>
          <a:p>
            <a:pPr lvl="1"/>
            <a:r>
              <a:rPr lang="en-US" dirty="0"/>
              <a:t>Why</a:t>
            </a:r>
            <a:endParaRPr b="1" dirty="0"/>
          </a:p>
          <a:p>
            <a:endParaRPr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FD6BA-B36D-19DB-D568-9FB14063F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14C03-00A1-6205-2106-598731D6D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RBAC enforcement</a:t>
            </a:r>
          </a:p>
          <a:p>
            <a:pPr lvl="1"/>
            <a:r>
              <a:rPr lang="en-US" dirty="0"/>
              <a:t>Use Role-Based Access Control.</a:t>
            </a:r>
          </a:p>
          <a:p>
            <a:pPr lvl="1"/>
            <a:r>
              <a:rPr lang="en-US" dirty="0"/>
              <a:t>AI should only access permitted systems.</a:t>
            </a:r>
            <a:endParaRPr lang="en-IN" dirty="0"/>
          </a:p>
          <a:p>
            <a:r>
              <a:rPr lang="en-IN" dirty="0"/>
              <a:t>Continuous AI monitoring</a:t>
            </a:r>
          </a:p>
          <a:p>
            <a:pPr lvl="1"/>
            <a:r>
              <a:rPr lang="en-IN" dirty="0"/>
              <a:t>Monitor AI </a:t>
            </a:r>
            <a:r>
              <a:rPr lang="en-IN" dirty="0" err="1"/>
              <a:t>behavior</a:t>
            </a:r>
            <a:r>
              <a:rPr lang="en-IN" dirty="0"/>
              <a:t> itself.</a:t>
            </a:r>
          </a:p>
          <a:p>
            <a:r>
              <a:rPr lang="en-IN" b="1" dirty="0"/>
              <a:t>Validation checkpoints</a:t>
            </a:r>
          </a:p>
          <a:p>
            <a:r>
              <a:rPr lang="en-US" dirty="0"/>
              <a:t>Even after remediation:</a:t>
            </a:r>
          </a:p>
          <a:p>
            <a:pPr lvl="1"/>
            <a:r>
              <a:rPr lang="en-US" dirty="0"/>
              <a:t>Revalidate data quality</a:t>
            </a:r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88722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Enterprise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Banking fraud detection</a:t>
            </a:r>
            <a:endParaRPr lang="en-US" dirty="0"/>
          </a:p>
          <a:p>
            <a:pPr lvl="1"/>
            <a:r>
              <a:rPr lang="en-IN" dirty="0"/>
              <a:t>AI identifies suspicious transactions.</a:t>
            </a:r>
            <a:endParaRPr dirty="0"/>
          </a:p>
          <a:p>
            <a:r>
              <a:rPr dirty="0"/>
              <a:t>Healthcare PHI monitoring</a:t>
            </a:r>
            <a:endParaRPr lang="en-US" dirty="0"/>
          </a:p>
          <a:p>
            <a:pPr lvl="1"/>
            <a:r>
              <a:rPr lang="en-IN" dirty="0"/>
              <a:t>Protect patient information.</a:t>
            </a:r>
            <a:endParaRPr dirty="0"/>
          </a:p>
          <a:p>
            <a:r>
              <a:rPr dirty="0"/>
              <a:t>Retail anomaly detection</a:t>
            </a:r>
            <a:endParaRPr lang="en-US" dirty="0"/>
          </a:p>
          <a:p>
            <a:pPr lvl="1"/>
            <a:r>
              <a:rPr lang="en-IN" dirty="0"/>
              <a:t>Detect unusual sales patterns.</a:t>
            </a:r>
            <a:endParaRPr dirty="0"/>
          </a:p>
          <a:p>
            <a:r>
              <a:rPr dirty="0"/>
              <a:t>Insurance claim validation</a:t>
            </a:r>
            <a:endParaRPr lang="en-US" dirty="0"/>
          </a:p>
          <a:p>
            <a:pPr lvl="1"/>
            <a:r>
              <a:rPr lang="en-US" dirty="0"/>
              <a:t>Detect fake or inconsistent claims.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of Autonomous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AI-native data engineering</a:t>
            </a:r>
            <a:endParaRPr lang="en-US" dirty="0"/>
          </a:p>
          <a:p>
            <a:pPr lvl="1"/>
            <a:r>
              <a:rPr lang="en-IN" dirty="0"/>
              <a:t>AI becomes core infrastructure.</a:t>
            </a:r>
            <a:endParaRPr dirty="0"/>
          </a:p>
          <a:p>
            <a:r>
              <a:rPr dirty="0"/>
              <a:t>Self-healing </a:t>
            </a:r>
            <a:r>
              <a:rPr dirty="0" err="1"/>
              <a:t>lakehouses</a:t>
            </a:r>
            <a:endParaRPr lang="en-US" dirty="0"/>
          </a:p>
          <a:p>
            <a:pPr lvl="1"/>
            <a:r>
              <a:rPr lang="en-IN" dirty="0" err="1"/>
              <a:t>Lakehouses</a:t>
            </a:r>
            <a:r>
              <a:rPr lang="en-IN" dirty="0"/>
              <a:t> automatically repair themselves.</a:t>
            </a:r>
            <a:endParaRPr dirty="0"/>
          </a:p>
          <a:p>
            <a:r>
              <a:rPr dirty="0"/>
              <a:t>Autonomous governance</a:t>
            </a:r>
            <a:endParaRPr lang="en-US" dirty="0"/>
          </a:p>
          <a:p>
            <a:pPr lvl="1"/>
            <a:r>
              <a:rPr lang="en-IN" dirty="0"/>
              <a:t>AI continuously enforces compliance.</a:t>
            </a:r>
            <a:endParaRPr dirty="0"/>
          </a:p>
          <a:p>
            <a:r>
              <a:rPr dirty="0"/>
              <a:t>Intelligent observability</a:t>
            </a:r>
            <a:endParaRPr lang="en-US" dirty="0"/>
          </a:p>
          <a:p>
            <a:pPr lvl="1"/>
            <a:r>
              <a:rPr lang="en-US" dirty="0"/>
              <a:t>Observability platforms become proactive instead of reactive.</a:t>
            </a:r>
            <a:endParaRPr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5B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 1"/>
          <p:cNvSpPr/>
          <p:nvPr/>
        </p:nvSpPr>
        <p:spPr>
          <a:xfrm>
            <a:off x="6344000" y="0"/>
            <a:ext cx="2800000" cy="2800000"/>
          </a:xfrm>
          <a:prstGeom prst="ellipse">
            <a:avLst/>
          </a:prstGeom>
          <a:solidFill>
            <a:srgbClr val="27CED7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ircle 2"/>
          <p:cNvSpPr/>
          <p:nvPr/>
        </p:nvSpPr>
        <p:spPr>
          <a:xfrm>
            <a:off x="0" y="4858000"/>
            <a:ext cx="2000000" cy="2000000"/>
          </a:xfrm>
          <a:prstGeom prst="ellipse">
            <a:avLst/>
          </a:prstGeom>
          <a:solidFill>
            <a:srgbClr val="1CADE4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Label"/>
          <p:cNvSpPr/>
          <p:nvPr/>
        </p:nvSpPr>
        <p:spPr>
          <a:xfrm>
            <a:off x="3200000" y="1900000"/>
            <a:ext cx="2744000" cy="400000"/>
          </a:xfrm>
          <a:prstGeom prst="roundRect">
            <a:avLst>
              <a:gd name="adj" fmla="val 50000"/>
            </a:avLst>
          </a:prstGeom>
          <a:solidFill>
            <a:srgbClr val="27CED7"/>
          </a:solidFill>
          <a:ln>
            <a:noFill/>
          </a:ln>
        </p:spPr>
        <p:txBody>
          <a:bodyPr lIns="91440" tIns="45720" rIns="91440" bIns="45720" anchor="ctr" anchorCtr="1"/>
          <a:lstStyle/>
          <a:p>
            <a:pPr algn="ctr"/>
            <a:r>
              <a:rPr lang="en-US" sz="1600" b="1" spc="300">
                <a:solidFill>
                  <a:srgbClr val="FFFFFF"/>
                </a:solidFill>
                <a:latin typeface="Calibri"/>
                <a:cs typeface="Calibri"/>
              </a:rPr>
              <a:t>HANDS-ON EXERCISE</a:t>
            </a:r>
          </a:p>
        </p:txBody>
      </p:sp>
      <p:sp>
        <p:nvSpPr>
          <p:cNvPr id="5" name="MainTitle"/>
          <p:cNvSpPr/>
          <p:nvPr/>
        </p:nvSpPr>
        <p:spPr>
          <a:xfrm>
            <a:off x="1200000" y="2500000"/>
            <a:ext cx="6744000" cy="9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/>
          <a:p>
            <a:pPr algn="ctr"/>
            <a:r>
              <a:rPr lang="en-US" sz="4800" b="1">
                <a:solidFill>
                  <a:srgbClr val="FFFFFF"/>
                </a:solidFill>
                <a:latin typeface="Calibri"/>
                <a:cs typeface="Calibri"/>
              </a:rPr>
              <a:t>Lab 19</a:t>
            </a:r>
          </a:p>
        </p:txBody>
      </p:sp>
      <p:sp>
        <p:nvSpPr>
          <p:cNvPr id="6" name="Subtitle"/>
          <p:cNvSpPr/>
          <p:nvPr/>
        </p:nvSpPr>
        <p:spPr>
          <a:xfrm>
            <a:off x="1800000" y="3500000"/>
            <a:ext cx="5544000" cy="5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1"/>
          <a:lstStyle/>
          <a:p>
            <a:pPr algn="ctr"/>
            <a:r>
              <a:rPr lang="en-US" sz="1800">
                <a:solidFill>
                  <a:srgbClr val="DFE3E5"/>
                </a:solidFill>
                <a:latin typeface="Calibri"/>
                <a:cs typeface="Calibri"/>
              </a:rPr>
              <a:t>Enterprise Use Cases &amp; Best Practices</a:t>
            </a:r>
          </a:p>
        </p:txBody>
      </p:sp>
      <p:sp>
        <p:nvSpPr>
          <p:cNvPr id="7" name="BottomAccent"/>
          <p:cNvSpPr/>
          <p:nvPr/>
        </p:nvSpPr>
        <p:spPr>
          <a:xfrm>
            <a:off x="3800000" y="4200000"/>
            <a:ext cx="1544000" cy="36000"/>
          </a:xfrm>
          <a:prstGeom prst="rect">
            <a:avLst/>
          </a:prstGeom>
          <a:solidFill>
            <a:srgbClr val="27CED7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2053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5B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 1"/>
          <p:cNvSpPr/>
          <p:nvPr/>
        </p:nvSpPr>
        <p:spPr>
          <a:xfrm>
            <a:off x="6344000" y="0"/>
            <a:ext cx="2800000" cy="2800000"/>
          </a:xfrm>
          <a:prstGeom prst="ellipse">
            <a:avLst/>
          </a:prstGeom>
          <a:solidFill>
            <a:srgbClr val="27CED7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ircle 2"/>
          <p:cNvSpPr/>
          <p:nvPr/>
        </p:nvSpPr>
        <p:spPr>
          <a:xfrm>
            <a:off x="0" y="4858000"/>
            <a:ext cx="2000000" cy="2000000"/>
          </a:xfrm>
          <a:prstGeom prst="ellipse">
            <a:avLst/>
          </a:prstGeom>
          <a:solidFill>
            <a:srgbClr val="1CADE4">
              <a:alpha val="12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Circle 3"/>
          <p:cNvSpPr/>
          <p:nvPr/>
        </p:nvSpPr>
        <p:spPr>
          <a:xfrm>
            <a:off x="7344000" y="5000000"/>
            <a:ext cx="1800000" cy="1800000"/>
          </a:xfrm>
          <a:prstGeom prst="ellipse">
            <a:avLst/>
          </a:prstGeom>
          <a:solidFill>
            <a:srgbClr val="42BA97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ThankYou"/>
          <p:cNvSpPr/>
          <p:nvPr/>
        </p:nvSpPr>
        <p:spPr>
          <a:xfrm>
            <a:off x="1200000" y="1800000"/>
            <a:ext cx="6744000" cy="12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1"/>
          <a:lstStyle/>
          <a:p>
            <a:pPr algn="ctr"/>
            <a:r>
              <a:rPr lang="en-US" sz="5400" b="1">
                <a:solidFill>
                  <a:srgbClr val="FFFFFF"/>
                </a:solidFill>
                <a:latin typeface="Calibri"/>
                <a:cs typeface="Calibri"/>
              </a:rPr>
              <a:t>Thank You</a:t>
            </a:r>
          </a:p>
        </p:txBody>
      </p:sp>
      <p:sp>
        <p:nvSpPr>
          <p:cNvPr id="6" name="Divider"/>
          <p:cNvSpPr/>
          <p:nvPr/>
        </p:nvSpPr>
        <p:spPr>
          <a:xfrm>
            <a:off x="3800000" y="3200000"/>
            <a:ext cx="1544000" cy="36000"/>
          </a:xfrm>
          <a:prstGeom prst="rect">
            <a:avLst/>
          </a:prstGeom>
          <a:solidFill>
            <a:srgbClr val="27CED7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QandA"/>
          <p:cNvSpPr/>
          <p:nvPr/>
        </p:nvSpPr>
        <p:spPr>
          <a:xfrm>
            <a:off x="1800000" y="3500000"/>
            <a:ext cx="5544000" cy="60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1"/>
          <a:lstStyle/>
          <a:p>
            <a:pPr algn="ctr"/>
            <a:r>
              <a:rPr lang="en-US" sz="2400">
                <a:solidFill>
                  <a:srgbClr val="DFE3E5"/>
                </a:solidFill>
                <a:latin typeface="Calibri"/>
                <a:cs typeface="Calibri"/>
              </a:rPr>
              <a:t>Questions &amp; Answers</a:t>
            </a:r>
          </a:p>
        </p:txBody>
      </p:sp>
    </p:spTree>
    <p:extLst>
      <p:ext uri="{BB962C8B-B14F-4D97-AF65-F5344CB8AC3E}">
        <p14:creationId xmlns:p14="http://schemas.microsoft.com/office/powerpoint/2010/main" val="24099488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CE7B985-34B4-4A9E-AE5A-7781CFE3E2ED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f9bb13e3-9ced-4b82-852c-a7a0b0147ed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106</TotalTime>
  <Words>1329</Words>
  <Application>Microsoft Office PowerPoint</Application>
  <PresentationFormat>On-screen Show (4:3)</PresentationFormat>
  <Paragraphs>400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Calibri</vt:lpstr>
      <vt:lpstr>Tw Cen MT</vt:lpstr>
      <vt:lpstr>Tw Cen MT Condensed</vt:lpstr>
      <vt:lpstr>Wingdings 3</vt:lpstr>
      <vt:lpstr>Integral</vt:lpstr>
      <vt:lpstr>Autonomous AI Agents for Data Quality, Ingestion &amp; Self-Healing Pipelines</vt:lpstr>
      <vt:lpstr>Learning Objectives</vt:lpstr>
      <vt:lpstr>Autonomous Ingestion Agent</vt:lpstr>
      <vt:lpstr>PowerPoint Presentation</vt:lpstr>
      <vt:lpstr>PowerPoint Presentation</vt:lpstr>
      <vt:lpstr>PowerPoint Presentation</vt:lpstr>
      <vt:lpstr>Schema Detection Engine</vt:lpstr>
      <vt:lpstr>PowerPoint Presentation</vt:lpstr>
      <vt:lpstr>CONTD</vt:lpstr>
      <vt:lpstr>AI-Driven Data Quality</vt:lpstr>
      <vt:lpstr>PowerPoint Presentation</vt:lpstr>
      <vt:lpstr>AI-Driven Data Quality</vt:lpstr>
      <vt:lpstr>Great Expectations + LLM</vt:lpstr>
      <vt:lpstr>Workflow</vt:lpstr>
      <vt:lpstr>Great Expectations + LLM</vt:lpstr>
      <vt:lpstr>PowerPoint Presentation</vt:lpstr>
      <vt:lpstr>Anomaly Detection Agents</vt:lpstr>
      <vt:lpstr>CONTD</vt:lpstr>
      <vt:lpstr>Anomaly Detection Agents</vt:lpstr>
      <vt:lpstr>PowerPoint Presentation</vt:lpstr>
      <vt:lpstr>Auto-Quarantine Workflow</vt:lpstr>
      <vt:lpstr>Auto-Quarantine Workflow</vt:lpstr>
      <vt:lpstr>Automated Remediation</vt:lpstr>
      <vt:lpstr>CONTD</vt:lpstr>
      <vt:lpstr>Automated Remediation</vt:lpstr>
      <vt:lpstr>PowerPoint Presentation</vt:lpstr>
      <vt:lpstr>PII Detection and Classification</vt:lpstr>
      <vt:lpstr>CONTD</vt:lpstr>
      <vt:lpstr>PowerPoint Presentation</vt:lpstr>
      <vt:lpstr>Self-Healing Pipeline Overview</vt:lpstr>
      <vt:lpstr>AI Diagnosis Engine</vt:lpstr>
      <vt:lpstr>CONTD</vt:lpstr>
      <vt:lpstr>PowerPoint Presentation</vt:lpstr>
      <vt:lpstr>LangGraph for Self-Healing</vt:lpstr>
      <vt:lpstr>CONTD</vt:lpstr>
      <vt:lpstr>PowerPoint Presentation</vt:lpstr>
      <vt:lpstr>Snowflake Cortex Integration</vt:lpstr>
      <vt:lpstr>PowerPoint Presentation</vt:lpstr>
      <vt:lpstr>Benefits of Autonomous Data Engineering</vt:lpstr>
      <vt:lpstr>Best Practices</vt:lpstr>
      <vt:lpstr>CONTD</vt:lpstr>
      <vt:lpstr>Enterprise Use Cases</vt:lpstr>
      <vt:lpstr>Future of Autonomous Data Platforms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235</cp:revision>
  <dcterms:created xsi:type="dcterms:W3CDTF">2013-01-27T09:14:16Z</dcterms:created>
  <dcterms:modified xsi:type="dcterms:W3CDTF">2026-05-12T05:47:14Z</dcterms:modified>
  <cp:category/>
</cp:coreProperties>
</file>