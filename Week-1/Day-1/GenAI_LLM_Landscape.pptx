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6" r:id="rId3"/>
    <p:sldId id="257" r:id="rId4"/>
    <p:sldId id="271" r:id="rId5"/>
    <p:sldId id="272" r:id="rId6"/>
    <p:sldId id="273" r:id="rId7"/>
    <p:sldId id="274" r:id="rId8"/>
    <p:sldId id="275" r:id="rId9"/>
    <p:sldId id="27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78" r:id="rId21"/>
    <p:sldId id="268" r:id="rId22"/>
    <p:sldId id="269" r:id="rId23"/>
    <p:sldId id="27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309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5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25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2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74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1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98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7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97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8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72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53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572" y="977900"/>
            <a:ext cx="490466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700" spc="200" dirty="0"/>
              <a:t>GenAI &amp; LLM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572" y="4621235"/>
            <a:ext cx="4904668" cy="12250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chemeClr val="tx1">
                    <a:lumMod val="95000"/>
                    <a:lumOff val="5000"/>
                  </a:schemeClr>
                </a:solidFill>
              </a:rPr>
              <a:t> Overview of Generative AI, LLMs, and Applications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A1CFDF8-EEC5-3861-00C5-41FAB82EA0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1" y="2286000"/>
            <a:ext cx="591502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70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that generates text, code, images</a:t>
            </a:r>
          </a:p>
          <a:p>
            <a:r>
              <a:rPr dirty="0"/>
              <a:t>Examples: ChatGPT, Claude, Gemini</a:t>
            </a:r>
          </a:p>
          <a:p>
            <a:r>
              <a:rPr dirty="0"/>
              <a:t>Based on deep learning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49C4-D21A-3DAF-8626-F2F2B83B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6FEAA-DC4D-8EB1-1FDE-56F6943EC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Generative AI refers to systems that </a:t>
            </a:r>
            <a:r>
              <a:rPr lang="en-US" b="1" dirty="0"/>
              <a:t>create new content from learned patterns</a:t>
            </a:r>
            <a:r>
              <a:rPr lang="en-US" dirty="0"/>
              <a:t>, not just analyze or classify data.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Traditional systems: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fraud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Classify emails (spam / not spam) </a:t>
            </a:r>
          </a:p>
          <a:p>
            <a:pPr>
              <a:buNone/>
            </a:pPr>
            <a:r>
              <a:rPr lang="en-US" dirty="0"/>
              <a:t>Generative AI: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Writes emails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Generates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Creates 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7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5086-3722-1FA8-ED36-7250B566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actually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456B8-D618-9697-EBF5-DCAC1C904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At its core, Generative AI:</a:t>
            </a:r>
          </a:p>
          <a:p>
            <a:pPr>
              <a:buFont typeface="+mj-lt"/>
              <a:buAutoNum type="arabicPeriod"/>
            </a:pPr>
            <a:r>
              <a:rPr lang="en-US" dirty="0"/>
              <a:t>Takes input (prompt) </a:t>
            </a:r>
          </a:p>
          <a:p>
            <a:pPr>
              <a:buFont typeface="+mj-lt"/>
              <a:buAutoNum type="arabicPeriod"/>
            </a:pPr>
            <a:r>
              <a:rPr lang="en-US" dirty="0"/>
              <a:t>Converts it into tokens </a:t>
            </a:r>
          </a:p>
          <a:p>
            <a:pPr>
              <a:buFont typeface="+mj-lt"/>
              <a:buAutoNum type="arabicPeriod"/>
            </a:pPr>
            <a:r>
              <a:rPr lang="en-US" dirty="0"/>
              <a:t>Uses a trained neural network </a:t>
            </a:r>
          </a:p>
          <a:p>
            <a:pPr>
              <a:buFont typeface="+mj-lt"/>
              <a:buAutoNum type="arabicPeriod"/>
            </a:pPr>
            <a:r>
              <a:rPr lang="en-US" dirty="0"/>
              <a:t>Predicts the most probable next token repeatedly </a:t>
            </a:r>
          </a:p>
          <a:p>
            <a:pPr>
              <a:buFont typeface="+mj-lt"/>
              <a:buAutoNum type="arabicPeriod"/>
            </a:pPr>
            <a:r>
              <a:rPr lang="en-US" dirty="0"/>
              <a:t>Produces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86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98E3-CECD-FBDB-BAC4-A662D3A82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Types of Content It Can Generate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D657D-62DD-893D-30EB-D7E0473BA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Blogs, emails, documentation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SQL queries, explanations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Chat conversations </a:t>
            </a:r>
          </a:p>
          <a:p>
            <a:pPr>
              <a:buNone/>
            </a:pPr>
            <a:r>
              <a:rPr lang="en-IN" b="1" dirty="0"/>
              <a:t>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Python, Java, 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Debugging and optimization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 generation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20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A738A-167D-0E83-3CCF-D1AB641C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Text-to-image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 </a:t>
            </a:r>
            <a:r>
              <a:rPr lang="en-IN" dirty="0" err="1"/>
              <a:t>mockups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Synthetic data creation </a:t>
            </a:r>
          </a:p>
          <a:p>
            <a:pPr>
              <a:buNone/>
            </a:pPr>
            <a:r>
              <a:rPr lang="en-IN" b="1" dirty="0"/>
              <a:t>Audio / Video (advanced)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Speech synthesis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Video generation (emerging area)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72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0EFC-5EEE-918E-2255-0D4991E0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powers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5816D-A322-8F86-4798-F30A4E61C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Generative AI is built on </a:t>
            </a:r>
            <a:r>
              <a:rPr lang="en-IN" b="1" dirty="0"/>
              <a:t>deep learning models</a:t>
            </a:r>
            <a:r>
              <a:rPr lang="en-IN" dirty="0"/>
              <a:t>, specifically:</a:t>
            </a:r>
          </a:p>
          <a:p>
            <a:pPr>
              <a:buNone/>
            </a:pPr>
            <a:r>
              <a:rPr lang="en-IN" b="1" dirty="0"/>
              <a:t>Neural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Inspired by the human brain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Learn patterns from data </a:t>
            </a:r>
          </a:p>
          <a:p>
            <a:pPr>
              <a:buNone/>
            </a:pPr>
            <a:r>
              <a:rPr lang="en-IN" b="1" dirty="0"/>
              <a:t>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Backbone of modern LLMs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 context better than older models </a:t>
            </a:r>
          </a:p>
          <a:p>
            <a:pPr>
              <a:buNone/>
            </a:pPr>
            <a:r>
              <a:rPr lang="en-IN" b="1" dirty="0"/>
              <a:t>Training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Massive datasets (text, code, images)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learns grammar, logic,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18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18FE-B26E-CDFC-6B9E-778F059A6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Evolutions</a:t>
            </a:r>
            <a:endParaRPr lang="en-IN" dirty="0"/>
          </a:p>
        </p:txBody>
      </p:sp>
      <p:pic>
        <p:nvPicPr>
          <p:cNvPr id="2050" name="Picture 2" descr="RNNs to Transformers: Attention Evolution in NLP | Medium">
            <a:extLst>
              <a:ext uri="{FF2B5EF4-FFF2-40B4-BE49-F238E27FC236}">
                <a16:creationId xmlns:a16="http://schemas.microsoft.com/office/drawing/2014/main" id="{7375E26B-06C6-DBA3-4E2B-5CFB1E8FDA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843199"/>
            <a:ext cx="7289800" cy="290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692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Pre-2017: RNNs</a:t>
            </a:r>
            <a:r>
              <a:rPr lang="en-US" dirty="0"/>
              <a:t>(</a:t>
            </a:r>
            <a:r>
              <a:rPr lang="en-IN" dirty="0"/>
              <a:t>Recurrent Neural Networks</a:t>
            </a:r>
            <a:r>
              <a:rPr lang="en-US" dirty="0"/>
              <a:t>)</a:t>
            </a:r>
            <a:r>
              <a:rPr dirty="0"/>
              <a:t>, LSTMs</a:t>
            </a:r>
            <a:r>
              <a:rPr lang="en-US" dirty="0"/>
              <a:t>(</a:t>
            </a:r>
            <a:r>
              <a:rPr lang="en-IN" dirty="0"/>
              <a:t>Long Short-Term Memory</a:t>
            </a:r>
            <a:r>
              <a:rPr lang="en-US" dirty="0"/>
              <a:t>)</a:t>
            </a:r>
          </a:p>
          <a:p>
            <a:r>
              <a:rPr lang="en-US" b="1" dirty="0"/>
              <a:t>How they worked</a:t>
            </a:r>
          </a:p>
          <a:p>
            <a:r>
              <a:rPr lang="en-US" dirty="0"/>
              <a:t>Process data </a:t>
            </a:r>
            <a:r>
              <a:rPr lang="en-US" b="1" dirty="0"/>
              <a:t>sequentially (one word at a time)</a:t>
            </a:r>
            <a:r>
              <a:rPr lang="en-US" dirty="0"/>
              <a:t> </a:t>
            </a:r>
          </a:p>
          <a:p>
            <a:r>
              <a:rPr lang="en-US" dirty="0"/>
              <a:t>Maintain memory of previous inputs </a:t>
            </a:r>
          </a:p>
          <a:p>
            <a:r>
              <a:rPr lang="en-US" b="1" dirty="0"/>
              <a:t>Limitations</a:t>
            </a:r>
          </a:p>
          <a:p>
            <a:r>
              <a:rPr lang="en-US" dirty="0"/>
              <a:t>Slow (no parallel processing) </a:t>
            </a:r>
          </a:p>
          <a:p>
            <a:r>
              <a:rPr lang="en-US" dirty="0"/>
              <a:t>Struggled with long sentences (vanishing gradient problem) </a:t>
            </a:r>
          </a:p>
          <a:p>
            <a:r>
              <a:rPr lang="en-US" dirty="0"/>
              <a:t>Poor long-range context understanding</a:t>
            </a:r>
          </a:p>
          <a:p>
            <a:endParaRPr dirty="0"/>
          </a:p>
          <a:p>
            <a:r>
              <a:rPr dirty="0"/>
              <a:t>2017: Transformers introduced</a:t>
            </a:r>
          </a:p>
          <a:p>
            <a:r>
              <a:rPr dirty="0"/>
              <a:t>2022+: Explosion of LLMs</a:t>
            </a:r>
          </a:p>
          <a:p>
            <a:r>
              <a:rPr dirty="0"/>
              <a:t>2024-25: Multimodal &amp; agentic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Transformer architecture</a:t>
            </a:r>
            <a:r>
              <a:rPr lang="en-US" dirty="0"/>
              <a:t>:</a:t>
            </a:r>
          </a:p>
          <a:p>
            <a:r>
              <a:rPr lang="en-IN" dirty="0"/>
              <a:t>attention-based architecture for sequence </a:t>
            </a:r>
            <a:r>
              <a:rPr lang="en-IN" dirty="0" err="1"/>
              <a:t>modeling</a:t>
            </a:r>
            <a:r>
              <a:rPr lang="en-IN" dirty="0"/>
              <a:t> </a:t>
            </a:r>
            <a:endParaRPr dirty="0"/>
          </a:p>
          <a:p>
            <a:r>
              <a:rPr dirty="0"/>
              <a:t>Self-attention mechanism</a:t>
            </a:r>
            <a:endParaRPr lang="en-US" dirty="0"/>
          </a:p>
          <a:p>
            <a:r>
              <a:rPr lang="en-IN" dirty="0"/>
              <a:t>each word understands context from all other words </a:t>
            </a:r>
            <a:endParaRPr dirty="0"/>
          </a:p>
          <a:p>
            <a:r>
              <a:rPr dirty="0"/>
              <a:t>Tokenization process</a:t>
            </a:r>
            <a:endParaRPr lang="en-US" dirty="0"/>
          </a:p>
          <a:p>
            <a:r>
              <a:rPr lang="en-IN" dirty="0"/>
              <a:t>text → tokens (model input units) </a:t>
            </a:r>
            <a:endParaRPr dirty="0"/>
          </a:p>
          <a:p>
            <a:r>
              <a:rPr dirty="0"/>
              <a:t>Parallel processing</a:t>
            </a:r>
            <a:endParaRPr lang="en-US" dirty="0"/>
          </a:p>
          <a:p>
            <a:r>
              <a:rPr lang="en-IN" dirty="0"/>
              <a:t>faster, scalable computation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Captures relationships in data</a:t>
            </a:r>
          </a:p>
          <a:p>
            <a:r>
              <a:t>Attention heads focus on different patterns</a:t>
            </a:r>
          </a:p>
          <a:p>
            <a:r>
              <a:t>Improves contextual understanding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split into tokens</a:t>
            </a:r>
          </a:p>
          <a:p>
            <a:r>
              <a:t>Model processes tokens, not words</a:t>
            </a:r>
          </a:p>
          <a:p>
            <a:r>
              <a:t>Token limits impact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GPT-4o: strong reasoning</a:t>
            </a:r>
          </a:p>
          <a:p>
            <a:r>
              <a:rPr dirty="0"/>
              <a:t>Claude 4: safety + long context</a:t>
            </a:r>
          </a:p>
          <a:p>
            <a:r>
              <a:rPr dirty="0"/>
              <a:t>Llama 3: open-source</a:t>
            </a:r>
          </a:p>
          <a:p>
            <a:r>
              <a:rPr dirty="0"/>
              <a:t>Gemini: multimodal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 representation of text</a:t>
            </a:r>
          </a:p>
          <a:p>
            <a:r>
              <a:t>Used in search, similarity, RAG</a:t>
            </a:r>
          </a:p>
          <a:p>
            <a:r>
              <a:t>Power modern AI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can generate incorrect info</a:t>
            </a:r>
          </a:p>
          <a:p>
            <a:r>
              <a:t>Mitigation: grounding, RAG,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&amp;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from training data</a:t>
            </a:r>
          </a:p>
          <a:p>
            <a:r>
              <a:t>Need fairness, explainability</a:t>
            </a:r>
          </a:p>
          <a:p>
            <a:r>
              <a:t>Use guardrails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GenAI in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cases: data quality, pipelines, SQL generation</a:t>
            </a:r>
          </a:p>
          <a:p>
            <a:r>
              <a:t>Automation opportunities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Claude.ai</a:t>
            </a:r>
          </a:p>
          <a:p>
            <a:r>
              <a:t>ChatGPT</a:t>
            </a:r>
          </a:p>
          <a:p>
            <a:r>
              <a:t>Hugging Face</a:t>
            </a:r>
          </a:p>
          <a:p>
            <a:r>
              <a:t>OpenAI Tokenizer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D9E6-72E6-F167-F8B5-EC8298EE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100709"/>
          </a:xfrm>
        </p:spPr>
        <p:txBody>
          <a:bodyPr/>
          <a:lstStyle/>
          <a:p>
            <a:r>
              <a:rPr lang="en-US" dirty="0"/>
              <a:t>Model Compare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0EE49A-958A-A957-19EE-3074E9D18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420306"/>
              </p:ext>
            </p:extLst>
          </p:nvPr>
        </p:nvGraphicFramePr>
        <p:xfrm>
          <a:off x="647700" y="1959793"/>
          <a:ext cx="8020050" cy="47267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4010">
                  <a:extLst>
                    <a:ext uri="{9D8B030D-6E8A-4147-A177-3AD203B41FA5}">
                      <a16:colId xmlns:a16="http://schemas.microsoft.com/office/drawing/2014/main" val="2872885852"/>
                    </a:ext>
                  </a:extLst>
                </a:gridCol>
                <a:gridCol w="1604010">
                  <a:extLst>
                    <a:ext uri="{9D8B030D-6E8A-4147-A177-3AD203B41FA5}">
                      <a16:colId xmlns:a16="http://schemas.microsoft.com/office/drawing/2014/main" val="2226115275"/>
                    </a:ext>
                  </a:extLst>
                </a:gridCol>
                <a:gridCol w="1604010">
                  <a:extLst>
                    <a:ext uri="{9D8B030D-6E8A-4147-A177-3AD203B41FA5}">
                      <a16:colId xmlns:a16="http://schemas.microsoft.com/office/drawing/2014/main" val="1240508127"/>
                    </a:ext>
                  </a:extLst>
                </a:gridCol>
                <a:gridCol w="1604010">
                  <a:extLst>
                    <a:ext uri="{9D8B030D-6E8A-4147-A177-3AD203B41FA5}">
                      <a16:colId xmlns:a16="http://schemas.microsoft.com/office/drawing/2014/main" val="2386918061"/>
                    </a:ext>
                  </a:extLst>
                </a:gridCol>
                <a:gridCol w="1604010">
                  <a:extLst>
                    <a:ext uri="{9D8B030D-6E8A-4147-A177-3AD203B41FA5}">
                      <a16:colId xmlns:a16="http://schemas.microsoft.com/office/drawing/2014/main" val="860232930"/>
                    </a:ext>
                  </a:extLst>
                </a:gridCol>
              </a:tblGrid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Feature / Capability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GPT-4o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Claude 4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Llama 3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Gemini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3159357928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Model Type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Closed-source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Closed-source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Open-source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Closed-source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1136416320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Core Strength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Reasoning + coding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Safety + long context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Customization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Multimodal + ecosystem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2469084095"/>
                  </a:ext>
                </a:extLst>
              </a:tr>
              <a:tr h="353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Reasoning Ability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Very strong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Strong (sometimes better in logic)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Moderate–High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Strong (especially scientific)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948931892"/>
                  </a:ext>
                </a:extLst>
              </a:tr>
              <a:tr h="369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Coding Capability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Excellent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Excellent (often strong in structured logic)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Good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Good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1317672608"/>
                  </a:ext>
                </a:extLst>
              </a:tr>
              <a:tr h="353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Context Window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Medium–High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Very high (long documents)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Very 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317730304"/>
                  </a:ext>
                </a:extLst>
              </a:tr>
              <a:tr h="353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Multimodal Support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Yes (text, image, audio)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Limited (mostly text-focused)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Limited (depends on setup)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Strong (native multimodal)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1196453999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Speed / Latency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Fast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Fast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Depends on infra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Moderate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1370758773"/>
                  </a:ext>
                </a:extLst>
              </a:tr>
              <a:tr h="353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Cost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Medium–High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Low (self-hosted)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 (often cost-efficient)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2785306604"/>
                  </a:ext>
                </a:extLst>
              </a:tr>
              <a:tr h="353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Customization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Limited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Limited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Very high (fine-tuning possible)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Limited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3323149745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Deployment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API / Cloud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API / Cloud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Local / Cloud / On-prem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API / Google Cloud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955903981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Data Privacy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Vendor-controlled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Vendor-controlled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Full control (self-hosted)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Vendor-controlled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1258319127"/>
                  </a:ext>
                </a:extLst>
              </a:tr>
              <a:tr h="353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Ecosystem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Strong (OpenAI, Azure, tools)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Growing ecosystem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Open ecosystem (Hugging Face)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Strong (Google ecosystem)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1775983733"/>
                  </a:ext>
                </a:extLst>
              </a:tr>
              <a:tr h="353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Best for Data Engineering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Code generation, pipelines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Documentation, analysis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Custom pipelines, private AI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Multimodal data workflows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2924644487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Hallucination Risk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Lower (more cautious)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Medium–High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Medium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3789730282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Safety / Alignment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Good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Very strong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Depends on tuning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Good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3803989335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Enterprise Adoption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Very 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Growing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High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1561092287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Open Source Availability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No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No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Yes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No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37" marR="7437" marT="7437" marB="7437" anchor="ctr"/>
                </a:tc>
                <a:extLst>
                  <a:ext uri="{0D108BD9-81ED-4DB2-BD59-A6C34878D82A}">
                    <a16:rowId xmlns:a16="http://schemas.microsoft.com/office/drawing/2014/main" val="4139816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23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Prompt: detect schema drift in </a:t>
            </a:r>
            <a:r>
              <a:rPr dirty="0" err="1"/>
              <a:t>DataFrames</a:t>
            </a:r>
            <a:endParaRPr dirty="0"/>
          </a:p>
          <a:p>
            <a:r>
              <a:rPr dirty="0"/>
              <a:t>Compare outputs across 3 LLMs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Code quality</a:t>
            </a:r>
          </a:p>
          <a:p>
            <a:r>
              <a:t>Approach</a:t>
            </a:r>
          </a:p>
          <a:p>
            <a:r>
              <a:t>Performance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comparison table</a:t>
            </a:r>
          </a:p>
          <a:p>
            <a:r>
              <a:t>Document findings</a:t>
            </a:r>
          </a:p>
          <a:p>
            <a:r>
              <a:t>Insights on best model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69</TotalTime>
  <Words>723</Words>
  <Application>Microsoft Office PowerPoint</Application>
  <PresentationFormat>On-screen Show (4:3)</PresentationFormat>
  <Paragraphs>209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Tw Cen MT</vt:lpstr>
      <vt:lpstr>Tw Cen MT Condensed</vt:lpstr>
      <vt:lpstr>Wingdings 3</vt:lpstr>
      <vt:lpstr>Integral</vt:lpstr>
      <vt:lpstr>GenAI &amp; LLM Landscape</vt:lpstr>
      <vt:lpstr>PowerPoint Presentation</vt:lpstr>
      <vt:lpstr>What is Generative AI?</vt:lpstr>
      <vt:lpstr>GEN AI</vt:lpstr>
      <vt:lpstr>How it actually works</vt:lpstr>
      <vt:lpstr>Types of Content It Can Generate</vt:lpstr>
      <vt:lpstr>PowerPoint Presentation</vt:lpstr>
      <vt:lpstr>What powers Generative AI?</vt:lpstr>
      <vt:lpstr>Evolutions</vt:lpstr>
      <vt:lpstr>History of GenAI</vt:lpstr>
      <vt:lpstr>LLM Architecture</vt:lpstr>
      <vt:lpstr>Attention Mechanism</vt:lpstr>
      <vt:lpstr>Tokens Explained</vt:lpstr>
      <vt:lpstr>Model Comparison</vt:lpstr>
      <vt:lpstr>Embeddings</vt:lpstr>
      <vt:lpstr>Hallucinations</vt:lpstr>
      <vt:lpstr>Bias &amp; Responsible AI</vt:lpstr>
      <vt:lpstr>GenAI in Data Engineering</vt:lpstr>
      <vt:lpstr>Tools Overview</vt:lpstr>
      <vt:lpstr>Model Compare</vt:lpstr>
      <vt:lpstr>Hands-on Lab</vt:lpstr>
      <vt:lpstr>Evaluation Criteria</vt:lpstr>
      <vt:lpstr>Deliverable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18</cp:revision>
  <dcterms:created xsi:type="dcterms:W3CDTF">2013-01-27T09:14:16Z</dcterms:created>
  <dcterms:modified xsi:type="dcterms:W3CDTF">2026-04-27T05:33:40Z</dcterms:modified>
  <cp:category/>
</cp:coreProperties>
</file>