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84" r:id="rId3"/>
    <p:sldId id="257" r:id="rId4"/>
    <p:sldId id="304" r:id="rId5"/>
    <p:sldId id="258" r:id="rId6"/>
    <p:sldId id="302" r:id="rId7"/>
    <p:sldId id="259" r:id="rId8"/>
    <p:sldId id="260" r:id="rId9"/>
    <p:sldId id="261" r:id="rId10"/>
    <p:sldId id="285" r:id="rId11"/>
    <p:sldId id="312" r:id="rId12"/>
    <p:sldId id="303" r:id="rId13"/>
    <p:sldId id="262" r:id="rId14"/>
    <p:sldId id="286" r:id="rId15"/>
    <p:sldId id="263" r:id="rId16"/>
    <p:sldId id="264" r:id="rId17"/>
    <p:sldId id="287" r:id="rId18"/>
    <p:sldId id="313" r:id="rId19"/>
    <p:sldId id="314" r:id="rId20"/>
    <p:sldId id="315" r:id="rId21"/>
    <p:sldId id="265" r:id="rId22"/>
    <p:sldId id="288" r:id="rId23"/>
    <p:sldId id="266" r:id="rId24"/>
    <p:sldId id="267" r:id="rId25"/>
    <p:sldId id="289" r:id="rId26"/>
    <p:sldId id="290" r:id="rId27"/>
    <p:sldId id="268" r:id="rId28"/>
    <p:sldId id="291" r:id="rId29"/>
    <p:sldId id="308" r:id="rId30"/>
    <p:sldId id="309" r:id="rId31"/>
    <p:sldId id="310" r:id="rId32"/>
    <p:sldId id="311" r:id="rId33"/>
    <p:sldId id="292" r:id="rId34"/>
    <p:sldId id="306" r:id="rId35"/>
    <p:sldId id="307" r:id="rId36"/>
    <p:sldId id="293" r:id="rId37"/>
    <p:sldId id="269" r:id="rId38"/>
    <p:sldId id="294" r:id="rId39"/>
    <p:sldId id="299" r:id="rId40"/>
    <p:sldId id="270" r:id="rId41"/>
    <p:sldId id="295" r:id="rId42"/>
    <p:sldId id="296" r:id="rId43"/>
    <p:sldId id="297" r:id="rId44"/>
    <p:sldId id="298" r:id="rId45"/>
    <p:sldId id="300" r:id="rId46"/>
    <p:sldId id="305" r:id="rId47"/>
    <p:sldId id="301" r:id="rId48"/>
    <p:sldId id="282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648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41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57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1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1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1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3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8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824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66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743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91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4918" y="1105351"/>
            <a:ext cx="4765475" cy="30239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spc="200">
                <a:solidFill>
                  <a:srgbClr val="FFFFFF"/>
                </a:solidFill>
              </a:rPr>
              <a:t>Prompt Engineering for Data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4918" y="4297556"/>
            <a:ext cx="4765476" cy="14333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Practical guide to GenAI for SQL, pipelines, and data quality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32199" y="4214336"/>
            <a:ext cx="38404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32834-DCAF-9468-7F6A-39886DB7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 for Data Engineers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0B8D7-BC36-BFCD-546D-1C978011D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Zero-shot → Few-shot prompting </a:t>
            </a:r>
          </a:p>
          <a:p>
            <a:r>
              <a:rPr lang="en-IN" dirty="0"/>
              <a:t>Reasoning patterns (</a:t>
            </a:r>
            <a:r>
              <a:rPr lang="en-IN" dirty="0" err="1"/>
              <a:t>CoT</a:t>
            </a:r>
            <a:r>
              <a:rPr lang="en-IN" dirty="0"/>
              <a:t>, </a:t>
            </a:r>
            <a:r>
              <a:rPr lang="en-IN" dirty="0" err="1"/>
              <a:t>ReAct</a:t>
            </a:r>
            <a:r>
              <a:rPr lang="en-IN" dirty="0"/>
              <a:t>) </a:t>
            </a:r>
          </a:p>
          <a:p>
            <a:r>
              <a:rPr lang="en-IN" dirty="0"/>
              <a:t>NL ↔ SQL transformations </a:t>
            </a:r>
          </a:p>
          <a:p>
            <a:r>
              <a:rPr lang="en-IN" dirty="0"/>
              <a:t>Structured outputs (JSON/YAML) </a:t>
            </a:r>
          </a:p>
          <a:p>
            <a:r>
              <a:rPr lang="en-IN" dirty="0"/>
              <a:t>Context engineering </a:t>
            </a:r>
          </a:p>
          <a:p>
            <a:r>
              <a:rPr lang="en-IN" dirty="0"/>
              <a:t>Prompt templates &amp; libraries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43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LLMs help generate SQL, docs, and pipelines but require good prompts</a:t>
            </a:r>
            <a:endParaRPr lang="en-US" dirty="0"/>
          </a:p>
          <a:p>
            <a:r>
              <a:rPr lang="en-IN" dirty="0"/>
              <a:t>LLMs are </a:t>
            </a:r>
            <a:r>
              <a:rPr lang="en-IN" b="1" dirty="0"/>
              <a:t>probabilistic, not deterministic</a:t>
            </a:r>
            <a:r>
              <a:rPr lang="en-IN" dirty="0"/>
              <a:t> </a:t>
            </a:r>
          </a:p>
          <a:p>
            <a:r>
              <a:rPr lang="en-IN" dirty="0"/>
              <a:t>Same input → different outputs depending on prompt quality </a:t>
            </a:r>
          </a:p>
          <a:p>
            <a:r>
              <a:rPr lang="en-IN" dirty="0"/>
              <a:t>Prompt = </a:t>
            </a:r>
            <a:r>
              <a:rPr lang="en-IN" b="1" dirty="0"/>
              <a:t>your API contract with AI</a:t>
            </a:r>
            <a:r>
              <a:rPr lang="en-IN" dirty="0"/>
              <a:t> </a:t>
            </a:r>
          </a:p>
          <a:p>
            <a:r>
              <a:rPr lang="en-IN" b="1" dirty="0"/>
              <a:t>For Data Engineers:</a:t>
            </a:r>
            <a:endParaRPr lang="en-IN" dirty="0"/>
          </a:p>
          <a:p>
            <a:r>
              <a:rPr lang="en-IN" dirty="0"/>
              <a:t>Query generation (SQL, </a:t>
            </a:r>
            <a:r>
              <a:rPr lang="en-IN" dirty="0" err="1"/>
              <a:t>PySpark</a:t>
            </a:r>
            <a:r>
              <a:rPr lang="en-IN" dirty="0"/>
              <a:t>) </a:t>
            </a:r>
          </a:p>
          <a:p>
            <a:r>
              <a:rPr lang="en-IN" dirty="0"/>
              <a:t>Pipeline debugging </a:t>
            </a:r>
          </a:p>
          <a:p>
            <a:r>
              <a:rPr lang="en-IN" dirty="0"/>
              <a:t>Documentation automation </a:t>
            </a:r>
          </a:p>
          <a:p>
            <a:r>
              <a:rPr lang="en-IN" dirty="0"/>
              <a:t>Data validation logic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086F-0BA6-F761-2833-9E08C2C4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BBE71DC-6B6C-90A1-F790-F6B5DD31C8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2872727"/>
            <a:ext cx="7289800" cy="2849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35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952625"/>
            <a:ext cx="7290055" cy="4356735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Prompt = Instruction + Context + Constraints</a:t>
            </a:r>
            <a:endParaRPr lang="en-IN" dirty="0"/>
          </a:p>
          <a:p>
            <a:r>
              <a:rPr lang="en-US" b="1" dirty="0"/>
              <a:t>Prompt Design Principles</a:t>
            </a:r>
          </a:p>
          <a:p>
            <a:r>
              <a:rPr lang="en-US" dirty="0"/>
              <a:t>Be </a:t>
            </a:r>
            <a:r>
              <a:rPr lang="en-US" b="1" dirty="0"/>
              <a:t>clear and explicit</a:t>
            </a:r>
            <a:r>
              <a:rPr lang="en-US" dirty="0"/>
              <a:t> </a:t>
            </a:r>
          </a:p>
          <a:p>
            <a:r>
              <a:rPr lang="en-US" dirty="0"/>
              <a:t>Provide </a:t>
            </a:r>
            <a:r>
              <a:rPr lang="en-US" b="1" dirty="0"/>
              <a:t>context</a:t>
            </a:r>
            <a:r>
              <a:rPr lang="en-US" dirty="0"/>
              <a:t> </a:t>
            </a:r>
          </a:p>
          <a:p>
            <a:r>
              <a:rPr lang="en-US" dirty="0"/>
              <a:t>Define </a:t>
            </a:r>
            <a:r>
              <a:rPr lang="en-US" b="1" dirty="0"/>
              <a:t>output format</a:t>
            </a:r>
            <a:r>
              <a:rPr lang="en-US" dirty="0"/>
              <a:t> </a:t>
            </a:r>
          </a:p>
          <a:p>
            <a:r>
              <a:rPr lang="en-US" dirty="0"/>
              <a:t>Use </a:t>
            </a:r>
            <a:r>
              <a:rPr lang="en-US" b="1" dirty="0"/>
              <a:t>examples when needed</a:t>
            </a:r>
            <a:r>
              <a:rPr lang="en-US" dirty="0"/>
              <a:t> </a:t>
            </a:r>
          </a:p>
          <a:p>
            <a:r>
              <a:rPr lang="en-US" dirty="0"/>
              <a:t>Constrain the model </a:t>
            </a:r>
          </a:p>
          <a:p>
            <a:r>
              <a:rPr lang="en-US" b="1" dirty="0"/>
              <a:t>Bad Prompt:</a:t>
            </a:r>
            <a:br>
              <a:rPr lang="en-US" dirty="0"/>
            </a:br>
            <a:r>
              <a:rPr lang="en-US" dirty="0"/>
              <a:t>"Write SQL"</a:t>
            </a:r>
          </a:p>
          <a:p>
            <a:r>
              <a:rPr lang="en-US" b="1" dirty="0"/>
              <a:t>Good Prompt:</a:t>
            </a:r>
            <a:br>
              <a:rPr lang="en-US" dirty="0"/>
            </a:br>
            <a:r>
              <a:rPr lang="en-US" dirty="0"/>
              <a:t>"Generate Snowflake SQL to join orders and customers using </a:t>
            </a:r>
            <a:r>
              <a:rPr lang="en-US" dirty="0" err="1"/>
              <a:t>order_id</a:t>
            </a:r>
            <a:r>
              <a:rPr lang="en-US" dirty="0"/>
              <a:t> with filters on last 30 days"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C82A0-0986-830C-ADD6-D683E74D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Prompting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E3FD6-BA69-451F-8BBC-6B283066F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76425"/>
            <a:ext cx="7290055" cy="481965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Zero-shot prompting</a:t>
            </a:r>
            <a:r>
              <a:rPr lang="en-US" dirty="0"/>
              <a:t> is ideal for quick, low-risk tasks where context is minimal. Think: “Summarize this paragraph.”</a:t>
            </a:r>
          </a:p>
          <a:p>
            <a:r>
              <a:rPr lang="en-US" b="1" dirty="0"/>
              <a:t>Few-shot prompting</a:t>
            </a:r>
            <a:r>
              <a:rPr lang="en-US" dirty="0"/>
              <a:t> helps LLMs match tone and structure by showing a few examples commonly used for report generation or templated emails.</a:t>
            </a:r>
          </a:p>
          <a:p>
            <a:r>
              <a:rPr lang="en-US" b="1" dirty="0"/>
              <a:t>Chain of Thought (</a:t>
            </a:r>
            <a:r>
              <a:rPr lang="en-US" b="1" dirty="0" err="1"/>
              <a:t>CoT</a:t>
            </a:r>
            <a:r>
              <a:rPr lang="en-US" b="1" dirty="0"/>
              <a:t>)</a:t>
            </a:r>
            <a:r>
              <a:rPr lang="en-US" dirty="0"/>
              <a:t> prompts guide the model through step-by-step reasoning  valuable for analytical breakdowns in audits or financial reconciliation.</a:t>
            </a:r>
          </a:p>
          <a:p>
            <a:r>
              <a:rPr lang="en-US" b="1" dirty="0"/>
              <a:t>Role-based prompting</a:t>
            </a:r>
            <a:r>
              <a:rPr lang="en-US" dirty="0"/>
              <a:t> aligns the model’s response tone and depth with a specified persona such as a legal advisor, HR rep, or data analyst.</a:t>
            </a:r>
          </a:p>
          <a:p>
            <a:r>
              <a:rPr lang="en-US" b="1" dirty="0"/>
              <a:t>Instruction-based prompting</a:t>
            </a:r>
            <a:r>
              <a:rPr lang="en-US" dirty="0"/>
              <a:t> excels in structured environments like business reporting, where clear formatting and output control are key.</a:t>
            </a:r>
          </a:p>
          <a:p>
            <a:r>
              <a:rPr lang="en-US" b="1" dirty="0"/>
              <a:t>Iterative prompting</a:t>
            </a:r>
            <a:r>
              <a:rPr lang="en-US" dirty="0"/>
              <a:t> supports complex tasks that require accuracy and refinement, especially when initial outputs fall short.</a:t>
            </a:r>
          </a:p>
          <a:p>
            <a:r>
              <a:rPr lang="en-US" b="1" dirty="0"/>
              <a:t>Contextual prompting</a:t>
            </a:r>
            <a:r>
              <a:rPr lang="en-US" dirty="0"/>
              <a:t> integrates background knowledge or recent updates to improve precision essential in compliance-heavy sectors.</a:t>
            </a:r>
          </a:p>
          <a:p>
            <a:r>
              <a:rPr lang="en-US" b="1" dirty="0"/>
              <a:t>Constraint-based prompting</a:t>
            </a:r>
            <a:r>
              <a:rPr lang="en-US" dirty="0"/>
              <a:t> enforces limits like word count, tone, or schema, ensuring outputs meet formatting and policy expectations.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351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Zero-shot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790700"/>
            <a:ext cx="7290055" cy="451866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No examples, fast but less reliable</a:t>
            </a:r>
            <a:endParaRPr lang="en-IN" dirty="0"/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Generate a SQL query to find top 5 customers by revenue.</a:t>
            </a:r>
          </a:p>
          <a:p>
            <a:r>
              <a:rPr lang="en-US" b="1" dirty="0"/>
              <a:t>Use When:</a:t>
            </a:r>
            <a:endParaRPr lang="en-US" dirty="0"/>
          </a:p>
          <a:p>
            <a:r>
              <a:rPr lang="en-US" dirty="0"/>
              <a:t>Task is simple </a:t>
            </a:r>
          </a:p>
          <a:p>
            <a:r>
              <a:rPr lang="en-US" dirty="0"/>
              <a:t>Model already understands pattern </a:t>
            </a:r>
          </a:p>
          <a:p>
            <a:r>
              <a:rPr lang="en-US" b="1" dirty="0"/>
              <a:t>Pros:</a:t>
            </a:r>
            <a:endParaRPr lang="en-US" dirty="0"/>
          </a:p>
          <a:p>
            <a:r>
              <a:rPr lang="en-US" dirty="0"/>
              <a:t>Fast </a:t>
            </a:r>
          </a:p>
          <a:p>
            <a:r>
              <a:rPr lang="en-US" dirty="0"/>
              <a:t>Minimal tokens </a:t>
            </a:r>
          </a:p>
          <a:p>
            <a:r>
              <a:rPr lang="en-US" b="1" dirty="0"/>
              <a:t>Cons:</a:t>
            </a:r>
            <a:endParaRPr lang="en-US" dirty="0"/>
          </a:p>
          <a:p>
            <a:r>
              <a:rPr lang="en-US" dirty="0"/>
              <a:t>Less control </a:t>
            </a:r>
          </a:p>
          <a:p>
            <a:r>
              <a:rPr lang="en-US" dirty="0"/>
              <a:t>Can hallucinate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One-shot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Single example improves structure</a:t>
            </a:r>
            <a:endParaRPr lang="en-IN" dirty="0"/>
          </a:p>
          <a:p>
            <a:r>
              <a:rPr lang="en-US" dirty="0"/>
              <a:t>*Provide </a:t>
            </a:r>
            <a:r>
              <a:rPr lang="en-US" b="1" dirty="0"/>
              <a:t>one example</a:t>
            </a:r>
            <a:endParaRPr lang="en-US" dirty="0"/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Input: Find total sales per region</a:t>
            </a:r>
            <a:br>
              <a:rPr lang="en-US" dirty="0"/>
            </a:br>
            <a:r>
              <a:rPr lang="en-US" dirty="0"/>
              <a:t>Output: SELECT region, SUM(sales) FROM table GROUP BY region;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Now:</a:t>
            </a:r>
            <a:br>
              <a:rPr lang="en-US" dirty="0"/>
            </a:br>
            <a:r>
              <a:rPr lang="en-US" dirty="0"/>
              <a:t>Input: Find total revenue per product</a:t>
            </a:r>
            <a:br>
              <a:rPr lang="en-US" dirty="0"/>
            </a:br>
            <a:r>
              <a:rPr lang="en-US" dirty="0"/>
              <a:t>Output:</a:t>
            </a:r>
          </a:p>
          <a:p>
            <a:r>
              <a:rPr lang="en-US" b="1" dirty="0"/>
              <a:t>Use When:</a:t>
            </a:r>
            <a:endParaRPr lang="en-US" dirty="0"/>
          </a:p>
          <a:p>
            <a:r>
              <a:rPr lang="en-US" dirty="0"/>
              <a:t>Pattern needs slight guidance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Few-shot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933575"/>
            <a:ext cx="7290055" cy="4724399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Multiple examples improve consistency</a:t>
            </a:r>
            <a:endParaRPr lang="en-IN" dirty="0"/>
          </a:p>
          <a:p>
            <a:r>
              <a:rPr lang="en-US" dirty="0"/>
              <a:t>*Provide multiple examples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Input: Count users</a:t>
            </a:r>
            <a:br>
              <a:rPr lang="en-US" dirty="0"/>
            </a:br>
            <a:r>
              <a:rPr lang="en-US" dirty="0"/>
              <a:t>Output: SELECT COUNT(*) FROM users;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Input: Average salary</a:t>
            </a:r>
            <a:br>
              <a:rPr lang="en-US" dirty="0"/>
            </a:br>
            <a:r>
              <a:rPr lang="en-US" dirty="0"/>
              <a:t>Output: SELECT AVG(salary) FROM employees;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Input: Max order value</a:t>
            </a:r>
            <a:br>
              <a:rPr lang="en-US" dirty="0"/>
            </a:br>
            <a:r>
              <a:rPr lang="en-US" dirty="0"/>
              <a:t>Output:</a:t>
            </a:r>
          </a:p>
          <a:p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Improves accuracy </a:t>
            </a:r>
          </a:p>
          <a:p>
            <a:r>
              <a:rPr lang="en-US" dirty="0"/>
              <a:t>Reduces ambiguity </a:t>
            </a:r>
          </a:p>
          <a:p>
            <a:r>
              <a:rPr lang="en-US" b="1" dirty="0"/>
              <a:t>Tradeoff:</a:t>
            </a:r>
            <a:endParaRPr lang="en-US" dirty="0"/>
          </a:p>
          <a:p>
            <a:r>
              <a:rPr lang="en-US" dirty="0"/>
              <a:t>Higher token cost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BD86-FEF4-39D6-8DB3-8C30D6D2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When to Use Which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E55346-E938-FDDB-7D96-928531AB1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601624"/>
              </p:ext>
            </p:extLst>
          </p:nvPr>
        </p:nvGraphicFramePr>
        <p:xfrm>
          <a:off x="768350" y="2543174"/>
          <a:ext cx="7289800" cy="37296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438434834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823128866"/>
                    </a:ext>
                  </a:extLst>
                </a:gridCol>
              </a:tblGrid>
              <a:tr h="9324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Use Case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66874967"/>
                  </a:ext>
                </a:extLst>
              </a:tr>
              <a:tr h="9324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Zero-shot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Simple queries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26725165"/>
                  </a:ext>
                </a:extLst>
              </a:tr>
              <a:tr h="9324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One-shot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Slight pattern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93355435"/>
                  </a:ext>
                </a:extLst>
              </a:tr>
              <a:tr h="9324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Few-shot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Complex transformations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4312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621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605F-EE44-7D49-3F6C-67CF812C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36F4B-61A8-FEF8-4065-9B5E4EA7E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Zero-shot</a:t>
            </a:r>
            <a:r>
              <a:rPr lang="en-US" dirty="0"/>
              <a:t> is fine for easy tasks but unreliable in nuanced scenarios.</a:t>
            </a:r>
          </a:p>
          <a:p>
            <a:r>
              <a:rPr lang="en-US" b="1" dirty="0"/>
              <a:t>One-shot</a:t>
            </a:r>
            <a:r>
              <a:rPr lang="en-US" dirty="0"/>
              <a:t> gives structure and helps shape output tone.</a:t>
            </a:r>
          </a:p>
          <a:p>
            <a:r>
              <a:rPr lang="en-US" b="1" dirty="0"/>
              <a:t>Few-shot</a:t>
            </a:r>
            <a:r>
              <a:rPr lang="en-US" dirty="0"/>
              <a:t> is ideal for production use where </a:t>
            </a:r>
            <a:r>
              <a:rPr lang="en-US" b="1" dirty="0"/>
              <a:t>consistency, formatting, and control</a:t>
            </a:r>
            <a:r>
              <a:rPr lang="en-US" dirty="0"/>
              <a:t> matter.</a:t>
            </a:r>
          </a:p>
          <a:p>
            <a:r>
              <a:rPr lang="en-US" b="1" dirty="0"/>
              <a:t>Model behavior differs</a:t>
            </a:r>
            <a:r>
              <a:rPr lang="en-US" dirty="0"/>
              <a:t>:</a:t>
            </a:r>
          </a:p>
          <a:p>
            <a:r>
              <a:rPr lang="en-US" dirty="0"/>
              <a:t>- GPT-4o: Balanced and well-structured output with clear formatting.</a:t>
            </a:r>
            <a:br>
              <a:rPr lang="en-US" dirty="0"/>
            </a:br>
            <a:r>
              <a:rPr lang="en-US" dirty="0"/>
              <a:t>- Claude 3.7 Sonnet: Clean, concise, and schema-consistent responses.</a:t>
            </a:r>
            <a:br>
              <a:rPr lang="en-US" dirty="0"/>
            </a:br>
            <a:r>
              <a:rPr lang="en-US" dirty="0"/>
              <a:t>- Gemini 2.0 Flash: More conversational; includes helpful explanations alongside the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558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652CF-27FF-F129-A038-DABA614C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TYPES VS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30B99C3-1AD1-9CDC-A4A9-F351185738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2472830"/>
            <a:ext cx="7289800" cy="364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285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Chain-of-Thought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Step-by-step reasoning for complex queries</a:t>
            </a:r>
            <a:endParaRPr lang="en-IN" dirty="0"/>
          </a:p>
          <a:p>
            <a:r>
              <a:rPr lang="en-US" dirty="0"/>
              <a:t>*Encourage step-by-step reasoning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Explain step by step how to derive this SQL query.</a:t>
            </a:r>
          </a:p>
          <a:p>
            <a:r>
              <a:rPr lang="en-US" b="1" dirty="0"/>
              <a:t>Output:</a:t>
            </a:r>
            <a:endParaRPr lang="en-US" dirty="0"/>
          </a:p>
          <a:p>
            <a:r>
              <a:rPr lang="en-US" dirty="0"/>
              <a:t>Step 1: Identify tables </a:t>
            </a:r>
          </a:p>
          <a:p>
            <a:r>
              <a:rPr lang="en-US" dirty="0"/>
              <a:t>Step 2: Apply filters </a:t>
            </a:r>
          </a:p>
          <a:p>
            <a:r>
              <a:rPr lang="en-US" dirty="0"/>
              <a:t>Step 3: Aggregate </a:t>
            </a:r>
          </a:p>
          <a:p>
            <a:r>
              <a:rPr lang="en-US" b="1" dirty="0"/>
              <a:t>Use Cases:</a:t>
            </a:r>
            <a:endParaRPr lang="en-US" dirty="0"/>
          </a:p>
          <a:p>
            <a:r>
              <a:rPr lang="en-US" dirty="0"/>
              <a:t>Debugging pipelines </a:t>
            </a:r>
          </a:p>
          <a:p>
            <a:r>
              <a:rPr lang="en-US" dirty="0"/>
              <a:t>Complex joins </a:t>
            </a:r>
          </a:p>
          <a:p>
            <a:r>
              <a:rPr lang="en-US" dirty="0"/>
              <a:t>Data transformations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5A505-FC2B-6CCD-8723-6E7AD6B45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CoT</a:t>
            </a:r>
            <a:r>
              <a:rPr lang="en-IN" dirty="0"/>
              <a:t>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7A4A8-258A-9A13-EC12-36F1DAAFC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Forces model to </a:t>
            </a:r>
            <a:r>
              <a:rPr lang="en-US" b="1" dirty="0"/>
              <a:t>reason explicitly</a:t>
            </a:r>
            <a:r>
              <a:rPr lang="en-US" dirty="0"/>
              <a:t> </a:t>
            </a:r>
          </a:p>
          <a:p>
            <a:r>
              <a:rPr lang="en-US" dirty="0"/>
              <a:t>Reduces hallucination </a:t>
            </a:r>
          </a:p>
          <a:p>
            <a:r>
              <a:rPr lang="en-US" dirty="0"/>
              <a:t>Improves correctness </a:t>
            </a:r>
          </a:p>
          <a:p>
            <a:r>
              <a:rPr lang="en-US" b="1" dirty="0"/>
              <a:t>Best for:</a:t>
            </a:r>
            <a:endParaRPr lang="en-US" dirty="0"/>
          </a:p>
          <a:p>
            <a:r>
              <a:rPr lang="en-US" dirty="0"/>
              <a:t>Multi-step logic </a:t>
            </a:r>
          </a:p>
          <a:p>
            <a:r>
              <a:rPr lang="en-US" dirty="0"/>
              <a:t>Business rules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245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Reason + Act pattern for debugging</a:t>
            </a:r>
            <a:endParaRPr lang="en-US" dirty="0"/>
          </a:p>
          <a:p>
            <a:r>
              <a:rPr lang="en-US" b="1" dirty="0"/>
              <a:t>Pattern:</a:t>
            </a:r>
            <a:endParaRPr lang="en-US" dirty="0"/>
          </a:p>
          <a:p>
            <a:r>
              <a:rPr lang="en-US" dirty="0"/>
              <a:t>Thought → Action → Observation → Final Answer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Thought: Need schema</a:t>
            </a:r>
            <a:br>
              <a:rPr lang="en-US" dirty="0"/>
            </a:br>
            <a:r>
              <a:rPr lang="en-US" dirty="0"/>
              <a:t>Action: Fetch schema</a:t>
            </a:r>
            <a:br>
              <a:rPr lang="en-US" dirty="0"/>
            </a:br>
            <a:r>
              <a:rPr lang="en-US" dirty="0"/>
              <a:t>Observation: columns available</a:t>
            </a:r>
            <a:br>
              <a:rPr lang="en-US" dirty="0"/>
            </a:br>
            <a:r>
              <a:rPr lang="en-US" dirty="0"/>
              <a:t>Answer: Generate SQL</a:t>
            </a:r>
          </a:p>
          <a:p>
            <a:r>
              <a:rPr lang="en-US" b="1" dirty="0"/>
              <a:t>Use Case:</a:t>
            </a:r>
            <a:endParaRPr lang="en-US" dirty="0"/>
          </a:p>
          <a:p>
            <a:r>
              <a:rPr lang="en-US" dirty="0"/>
              <a:t>Agents </a:t>
            </a:r>
          </a:p>
          <a:p>
            <a:r>
              <a:rPr lang="en-US" dirty="0"/>
              <a:t>Tool-based workflows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Assign role like 'Senior Data Engineer’</a:t>
            </a:r>
            <a:endParaRPr lang="en-US" dirty="0"/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Act as a senior Data Engineer.</a:t>
            </a:r>
            <a:br>
              <a:rPr lang="en-US" dirty="0"/>
            </a:br>
            <a:r>
              <a:rPr lang="en-US" dirty="0"/>
              <a:t>Generate optimized </a:t>
            </a:r>
            <a:r>
              <a:rPr lang="en-US" dirty="0" err="1"/>
              <a:t>PySpark</a:t>
            </a:r>
            <a:r>
              <a:rPr lang="en-US" dirty="0"/>
              <a:t> code.</a:t>
            </a:r>
          </a:p>
          <a:p>
            <a:r>
              <a:rPr lang="en-US" b="1" dirty="0"/>
              <a:t>Impact:</a:t>
            </a:r>
            <a:endParaRPr lang="en-US" dirty="0"/>
          </a:p>
          <a:p>
            <a:r>
              <a:rPr lang="en-US" dirty="0"/>
              <a:t>Changes tone </a:t>
            </a:r>
          </a:p>
          <a:p>
            <a:r>
              <a:rPr lang="en-US" dirty="0"/>
              <a:t>Changes depth </a:t>
            </a:r>
          </a:p>
          <a:p>
            <a:r>
              <a:rPr lang="en-US" dirty="0"/>
              <a:t>Improves domain relevance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8F43-F4E7-12E3-AF3F-B24089E3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Prompting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85A46-B989-8BDA-49BD-C9E3B9B0A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 as a </a:t>
            </a:r>
            <a:r>
              <a:rPr lang="en-US" b="1" dirty="0"/>
              <a:t>Data Architect</a:t>
            </a:r>
            <a:r>
              <a:rPr lang="en-US" dirty="0"/>
              <a:t> </a:t>
            </a:r>
          </a:p>
          <a:p>
            <a:r>
              <a:rPr lang="en-US" dirty="0"/>
              <a:t>Act as a </a:t>
            </a:r>
            <a:r>
              <a:rPr lang="en-US" b="1" dirty="0"/>
              <a:t>Snowflake expert</a:t>
            </a:r>
            <a:r>
              <a:rPr lang="en-US" dirty="0"/>
              <a:t> </a:t>
            </a:r>
          </a:p>
          <a:p>
            <a:r>
              <a:rPr lang="en-US" dirty="0"/>
              <a:t>Act as a </a:t>
            </a:r>
            <a:r>
              <a:rPr lang="en-US" b="1" dirty="0"/>
              <a:t>Data Quality analyst</a:t>
            </a:r>
            <a:r>
              <a:rPr lang="en-US" dirty="0"/>
              <a:t> </a:t>
            </a:r>
          </a:p>
          <a:p>
            <a:r>
              <a:rPr lang="en-US" b="1" dirty="0"/>
              <a:t>Pro Tip:</a:t>
            </a:r>
            <a:br>
              <a:rPr lang="en-US" dirty="0"/>
            </a:br>
            <a:r>
              <a:rPr lang="en-US" dirty="0"/>
              <a:t>Combine with constraints:</a:t>
            </a:r>
          </a:p>
          <a:p>
            <a:r>
              <a:rPr lang="en-US" dirty="0"/>
              <a:t>Act as a senior DE. Follow best practices and optimize for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904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80F2-C5E1-E4DD-B733-F3150C12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Tree-of-Thought (</a:t>
            </a:r>
            <a:r>
              <a:rPr lang="en-IN" b="1" dirty="0" err="1"/>
              <a:t>ToT</a:t>
            </a:r>
            <a:r>
              <a:rPr lang="en-IN" b="1" dirty="0"/>
              <a:t>) Prompting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9D83D-9B6B-C830-F4C4-3441C3B4F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Simulates multiple reasoning branches before reaching a decision - much like weighing trade-offs or options.</a:t>
            </a:r>
          </a:p>
          <a:p>
            <a:r>
              <a:rPr lang="en-US" b="1" dirty="0"/>
              <a:t>Best for:</a:t>
            </a:r>
            <a:r>
              <a:rPr lang="en-US" dirty="0"/>
              <a:t> Strategic analysis, evaluations, planning, or choices involving pros and cons.</a:t>
            </a:r>
          </a:p>
          <a:p>
            <a:r>
              <a:rPr lang="en-US" b="1" dirty="0"/>
              <a:t>Think:</a:t>
            </a:r>
            <a:r>
              <a:rPr lang="en-US" dirty="0"/>
              <a:t> “Option A: Pros &amp; Cons. Option B: Pros &amp; Cons. Now compare and decide.”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824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7EDD-BB3D-A985-E8B5-349291211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COT </a:t>
            </a:r>
            <a:r>
              <a:rPr lang="en-US" dirty="0" err="1"/>
              <a:t>vS</a:t>
            </a:r>
            <a:r>
              <a:rPr lang="en-US" dirty="0"/>
              <a:t> REACT VS TOT</a:t>
            </a:r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9F3E21F-555F-719B-E59B-D88CD62F32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2697772"/>
            <a:ext cx="7289800" cy="3199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9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24E9B-FA73-2044-13A4-6B9E6636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87733-5C26-5C82-BB7E-8BCCA3ED7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Chain-of-Thought</a:t>
            </a:r>
            <a:r>
              <a:rPr lang="en-US" dirty="0"/>
              <a:t> improves clarity in multi-step logic.</a:t>
            </a:r>
          </a:p>
          <a:p>
            <a:r>
              <a:rPr lang="en-US" b="1" dirty="0" err="1"/>
              <a:t>ReAct</a:t>
            </a:r>
            <a:r>
              <a:rPr lang="en-US" dirty="0"/>
              <a:t> adds tool-like thinking and verification.</a:t>
            </a:r>
          </a:p>
          <a:p>
            <a:r>
              <a:rPr lang="en-US" b="1" dirty="0"/>
              <a:t>Tree-of-Thought</a:t>
            </a:r>
            <a:r>
              <a:rPr lang="en-US" dirty="0"/>
              <a:t> helps in structured decision-making with pros/cons exploration.</a:t>
            </a:r>
          </a:p>
          <a:p>
            <a:r>
              <a:rPr lang="en-US" dirty="0"/>
              <a:t>Each is not just a prompting style — it’s a </a:t>
            </a:r>
            <a:r>
              <a:rPr lang="en-US" b="1" dirty="0"/>
              <a:t>thinking framework</a:t>
            </a:r>
            <a:r>
              <a:rPr lang="en-US" dirty="0"/>
              <a:t> for LLMs.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859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 to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Convert business questions into SQL queries</a:t>
            </a:r>
            <a:endParaRPr lang="en-IN" dirty="0"/>
          </a:p>
          <a:p>
            <a:r>
              <a:rPr lang="en-US" dirty="0"/>
              <a:t>*Convert natural language into SQL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Find top 10 products by sales in last 7 days</a:t>
            </a:r>
          </a:p>
          <a:p>
            <a:r>
              <a:rPr lang="en-US" b="1" dirty="0"/>
              <a:t>Output:</a:t>
            </a:r>
            <a:endParaRPr lang="en-US" dirty="0"/>
          </a:p>
          <a:p>
            <a:r>
              <a:rPr lang="en-US" dirty="0"/>
              <a:t>SELECT product, SUM(sales)</a:t>
            </a:r>
            <a:br>
              <a:rPr lang="en-US" dirty="0"/>
            </a:br>
            <a:r>
              <a:rPr lang="en-US" dirty="0"/>
              <a:t>FROM orders</a:t>
            </a:r>
            <a:br>
              <a:rPr lang="en-US" dirty="0"/>
            </a:br>
            <a:r>
              <a:rPr lang="en-US" dirty="0"/>
              <a:t>WHERE date &gt;= CURRENT_DATE - 7</a:t>
            </a:r>
            <a:br>
              <a:rPr lang="en-US" dirty="0"/>
            </a:br>
            <a:r>
              <a:rPr lang="en-US" dirty="0"/>
              <a:t>GROUP BY product</a:t>
            </a:r>
            <a:br>
              <a:rPr lang="en-US" dirty="0"/>
            </a:br>
            <a:r>
              <a:rPr lang="en-US" dirty="0"/>
              <a:t>ORDER BY SUM(sales) DESC</a:t>
            </a:r>
            <a:br>
              <a:rPr lang="en-US" dirty="0"/>
            </a:br>
            <a:r>
              <a:rPr lang="en-US" dirty="0"/>
              <a:t>LIMIT 10;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86E7-C42E-FCE1-2186-0778EEC8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Improving NL → SQL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B24F8-6DCA-420F-C02A-8A43C9FC6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Include:</a:t>
            </a:r>
          </a:p>
          <a:p>
            <a:r>
              <a:rPr lang="en-US" dirty="0"/>
              <a:t>Schema </a:t>
            </a:r>
          </a:p>
          <a:p>
            <a:r>
              <a:rPr lang="en-US" dirty="0"/>
              <a:t>Table relationships </a:t>
            </a:r>
          </a:p>
          <a:p>
            <a:r>
              <a:rPr lang="en-US" dirty="0"/>
              <a:t>Constraints </a:t>
            </a:r>
          </a:p>
          <a:p>
            <a:r>
              <a:rPr lang="en-US" b="1" dirty="0"/>
              <a:t>Better Prompt:</a:t>
            </a:r>
            <a:endParaRPr lang="en-US" dirty="0"/>
          </a:p>
          <a:p>
            <a:r>
              <a:rPr lang="en-US" dirty="0"/>
              <a:t>Schema:</a:t>
            </a:r>
            <a:br>
              <a:rPr lang="en-US" dirty="0"/>
            </a:br>
            <a:r>
              <a:rPr lang="en-US" dirty="0"/>
              <a:t>orders(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product_id</a:t>
            </a:r>
            <a:r>
              <a:rPr lang="en-US" dirty="0"/>
              <a:t>, sales, date)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Generate SQL for:</a:t>
            </a:r>
            <a:br>
              <a:rPr lang="en-US" dirty="0"/>
            </a:br>
            <a:r>
              <a:rPr lang="en-US" dirty="0"/>
              <a:t>Top 10 products by sales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57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to NL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Explain SQL queries in simple language</a:t>
            </a:r>
            <a:endParaRPr lang="en-US" dirty="0"/>
          </a:p>
          <a:p>
            <a:r>
              <a:rPr lang="en-US" dirty="0"/>
              <a:t>*Explain SQL in plain English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SELECT region, SUM(sales)</a:t>
            </a:r>
            <a:br>
              <a:rPr lang="en-US" dirty="0"/>
            </a:br>
            <a:r>
              <a:rPr lang="en-US" dirty="0"/>
              <a:t>FROM orders</a:t>
            </a:r>
            <a:br>
              <a:rPr lang="en-US" dirty="0"/>
            </a:br>
            <a:r>
              <a:rPr lang="en-US" dirty="0"/>
              <a:t>GROUP BY region;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"Total sales grouped by region"</a:t>
            </a:r>
          </a:p>
          <a:p>
            <a:r>
              <a:rPr lang="en-US" b="1" dirty="0"/>
              <a:t>Use Cases:</a:t>
            </a:r>
            <a:endParaRPr lang="en-US" dirty="0"/>
          </a:p>
          <a:p>
            <a:r>
              <a:rPr lang="en-US" dirty="0"/>
              <a:t>Documentation </a:t>
            </a:r>
          </a:p>
          <a:p>
            <a:r>
              <a:rPr lang="en-US" dirty="0"/>
              <a:t>Data governance </a:t>
            </a:r>
          </a:p>
          <a:p>
            <a:r>
              <a:rPr lang="en-US" dirty="0"/>
              <a:t>Training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JSON/YAML for machine-readable outputs</a:t>
            </a:r>
            <a:endParaRPr lang="en-US" dirty="0"/>
          </a:p>
          <a:p>
            <a:endParaRPr lang="en-IN" dirty="0"/>
          </a:p>
          <a:p>
            <a:r>
              <a:rPr lang="en-US" dirty="0"/>
              <a:t>Force output format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Return output in JSON: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"query": "",</a:t>
            </a:r>
            <a:br>
              <a:rPr lang="en-US" dirty="0"/>
            </a:br>
            <a:r>
              <a:rPr lang="en-US" dirty="0"/>
              <a:t>  "explanation": ""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FAFD-5838-5189-260A-70BCD5B6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JSON Output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25221-047A-72E3-1F54-ADF52C1C4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"query": "SELECT * FROM orders",</a:t>
            </a:r>
            <a:br>
              <a:rPr lang="en-US" dirty="0"/>
            </a:br>
            <a:r>
              <a:rPr lang="en-US" dirty="0"/>
              <a:t>  "explanation": "Fetches all records"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API integration </a:t>
            </a:r>
          </a:p>
          <a:p>
            <a:r>
              <a:rPr lang="en-US" dirty="0"/>
              <a:t>Automation </a:t>
            </a:r>
          </a:p>
          <a:p>
            <a:r>
              <a:rPr lang="en-US" dirty="0"/>
              <a:t>Consistency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433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B5DA-F286-0B94-EB11-BC0D09A6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YAML Output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2693-B815-EF3A-5074-4D7347444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query: SELECT * FROM orders</a:t>
            </a:r>
            <a:br>
              <a:rPr lang="en-US" dirty="0"/>
            </a:br>
            <a:r>
              <a:rPr lang="en-US" dirty="0"/>
              <a:t>explanation: Fetch all records</a:t>
            </a:r>
          </a:p>
          <a:p>
            <a:r>
              <a:rPr lang="en-US" b="1" dirty="0"/>
              <a:t>Use When:</a:t>
            </a:r>
            <a:endParaRPr lang="en-US" dirty="0"/>
          </a:p>
          <a:p>
            <a:r>
              <a:rPr lang="en-US" dirty="0"/>
              <a:t>Config-driven systems </a:t>
            </a:r>
          </a:p>
          <a:p>
            <a:r>
              <a:rPr lang="en-US" dirty="0"/>
              <a:t>Pipelines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983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Manage tokens and relevant schema</a:t>
            </a:r>
            <a:endParaRPr lang="en-IN" dirty="0"/>
          </a:p>
          <a:p>
            <a:r>
              <a:rPr lang="en-US" dirty="0"/>
              <a:t>Managing what the model sees</a:t>
            </a:r>
          </a:p>
          <a:p>
            <a:r>
              <a:rPr lang="en-US" dirty="0"/>
              <a:t>Includes:</a:t>
            </a:r>
          </a:p>
          <a:p>
            <a:r>
              <a:rPr lang="en-US" dirty="0"/>
              <a:t>System prompt </a:t>
            </a:r>
          </a:p>
          <a:p>
            <a:r>
              <a:rPr lang="en-US" dirty="0"/>
              <a:t>User prompt </a:t>
            </a:r>
          </a:p>
          <a:p>
            <a:r>
              <a:rPr lang="en-US" dirty="0"/>
              <a:t>Conversation history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1C80-4BE0-E9CE-C03A-0F267989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05BDB-81D5-0075-643E-8B6F84D08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 has </a:t>
            </a:r>
            <a:r>
              <a:rPr lang="en-US" b="1" dirty="0"/>
              <a:t>context window limit</a:t>
            </a:r>
            <a:r>
              <a:rPr lang="en-US" dirty="0"/>
              <a:t> </a:t>
            </a:r>
          </a:p>
          <a:p>
            <a:r>
              <a:rPr lang="en-US" dirty="0"/>
              <a:t>Tokens = words + </a:t>
            </a:r>
            <a:r>
              <a:rPr lang="en-US" dirty="0" err="1"/>
              <a:t>subwords</a:t>
            </a:r>
            <a:r>
              <a:rPr lang="en-US" dirty="0"/>
              <a:t> </a:t>
            </a:r>
          </a:p>
          <a:p>
            <a:r>
              <a:rPr lang="en-US" b="1" dirty="0"/>
              <a:t>Strategies:</a:t>
            </a:r>
            <a:endParaRPr lang="en-US" dirty="0"/>
          </a:p>
          <a:p>
            <a:r>
              <a:rPr lang="en-US" dirty="0"/>
              <a:t>Trim history </a:t>
            </a:r>
          </a:p>
          <a:p>
            <a:r>
              <a:rPr lang="en-US" dirty="0"/>
              <a:t>Summarize context </a:t>
            </a:r>
          </a:p>
          <a:p>
            <a:r>
              <a:rPr lang="en-US" dirty="0"/>
              <a:t>Use embeddings (RAG)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643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9F8F4-F38B-881B-A011-10B334E2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vs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00F49-4FAB-D07D-6F5C-E4969B52A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Context = Useful Information</a:t>
            </a:r>
          </a:p>
          <a:p>
            <a:r>
              <a:rPr lang="en-IN" dirty="0"/>
              <a:t>Schema </a:t>
            </a:r>
          </a:p>
          <a:p>
            <a:r>
              <a:rPr lang="en-IN" dirty="0"/>
              <a:t>Business rules </a:t>
            </a:r>
          </a:p>
          <a:p>
            <a:r>
              <a:rPr lang="en-IN" dirty="0"/>
              <a:t>Constraints </a:t>
            </a:r>
          </a:p>
          <a:p>
            <a:r>
              <a:rPr lang="en-IN" b="1" dirty="0"/>
              <a:t>Noise = Irrelevant Information</a:t>
            </a:r>
          </a:p>
          <a:p>
            <a:r>
              <a:rPr lang="en-IN" dirty="0"/>
              <a:t>Extra text </a:t>
            </a:r>
          </a:p>
          <a:p>
            <a:r>
              <a:rPr lang="en-IN" dirty="0"/>
              <a:t>Unused columns </a:t>
            </a:r>
          </a:p>
          <a:p>
            <a:r>
              <a:rPr lang="en-IN" dirty="0"/>
              <a:t>Long descriptions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610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C82F3-E9E8-14BD-9182-73B2AA2A7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Example(</a:t>
            </a:r>
            <a:r>
              <a:rPr lang="en-IN" dirty="0"/>
              <a:t>Bad Prompt - Noise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0E73-FB7E-133E-F9FB-A79F5AEAD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SQL.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Here is company history...</a:t>
            </a:r>
            <a:br>
              <a:rPr lang="en-US" dirty="0"/>
            </a:br>
            <a:r>
              <a:rPr lang="en-US" dirty="0"/>
              <a:t>We started in 1990...</a:t>
            </a:r>
            <a:br>
              <a:rPr lang="en-US" dirty="0"/>
            </a:br>
            <a:r>
              <a:rPr lang="en-US" dirty="0"/>
              <a:t>We have many products...</a:t>
            </a:r>
            <a:br>
              <a:rPr lang="en-US" dirty="0"/>
            </a:br>
            <a:r>
              <a:rPr lang="en-US" dirty="0"/>
              <a:t>orders table exists...</a:t>
            </a:r>
            <a:br>
              <a:rPr lang="en-US" dirty="0"/>
            </a:br>
            <a:r>
              <a:rPr lang="en-US" dirty="0"/>
              <a:t>Also marketing data...</a:t>
            </a:r>
          </a:p>
          <a:p>
            <a:r>
              <a:rPr lang="en-US" dirty="0"/>
              <a:t> Problem:</a:t>
            </a:r>
          </a:p>
          <a:p>
            <a:r>
              <a:rPr lang="en-US" dirty="0"/>
              <a:t>Too much noise </a:t>
            </a:r>
          </a:p>
          <a:p>
            <a:r>
              <a:rPr lang="en-US" dirty="0"/>
              <a:t>Model confused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438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9BAE-E702-2F61-73C7-3A8B5E1D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(Good Prompt -Clean Context)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D3726-C2FC-0AC5-5A67-DD053A9EF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 as a Data Engineer.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Schema:</a:t>
            </a:r>
            <a:br>
              <a:rPr lang="en-US" dirty="0"/>
            </a:br>
            <a:r>
              <a:rPr lang="en-US" dirty="0"/>
              <a:t>orders(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customer_id</a:t>
            </a:r>
            <a:r>
              <a:rPr lang="en-US" dirty="0"/>
              <a:t>, amount)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Task:</a:t>
            </a:r>
            <a:br>
              <a:rPr lang="en-US" dirty="0"/>
            </a:br>
            <a:r>
              <a:rPr lang="en-US" dirty="0"/>
              <a:t>Find total revenue</a:t>
            </a:r>
          </a:p>
          <a:p>
            <a:r>
              <a:rPr lang="en-US" dirty="0"/>
              <a:t>Result:</a:t>
            </a:r>
          </a:p>
          <a:p>
            <a:r>
              <a:rPr lang="en-US" dirty="0"/>
              <a:t>Clear </a:t>
            </a:r>
          </a:p>
          <a:p>
            <a:r>
              <a:rPr lang="en-US" dirty="0"/>
              <a:t>Focused </a:t>
            </a:r>
          </a:p>
          <a:p>
            <a:r>
              <a:rPr lang="en-US" dirty="0"/>
              <a:t>Accurate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8030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C30B-984D-9EBD-5B81-09C4BD7E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Engineering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C5AC5-C0DA-4D5A-9E02-BBC055540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“More data ≠ better results</a:t>
            </a:r>
            <a:br>
              <a:rPr lang="en-IN" dirty="0"/>
            </a:br>
            <a:r>
              <a:rPr lang="en-IN" dirty="0"/>
              <a:t>Right data = better results”</a:t>
            </a:r>
          </a:p>
        </p:txBody>
      </p:sp>
    </p:spTree>
    <p:extLst>
      <p:ext uri="{BB962C8B-B14F-4D97-AF65-F5344CB8AC3E}">
        <p14:creationId xmlns:p14="http://schemas.microsoft.com/office/powerpoint/2010/main" val="3948365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7599-650E-BF2F-94BA-8C06E35C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Conversation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BA351-DA49-140D-7852-CB38D632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</a:t>
            </a:r>
          </a:p>
          <a:p>
            <a:r>
              <a:rPr lang="en-US" dirty="0"/>
              <a:t>Model forgets earlier context </a:t>
            </a:r>
          </a:p>
          <a:p>
            <a:r>
              <a:rPr lang="en-US" dirty="0"/>
              <a:t>Solution:</a:t>
            </a:r>
          </a:p>
          <a:p>
            <a:r>
              <a:rPr lang="en-US" dirty="0"/>
              <a:t>Pass history explicitly </a:t>
            </a:r>
          </a:p>
          <a:p>
            <a:r>
              <a:rPr lang="en-US" dirty="0"/>
              <a:t>Maintain state externally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3714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00A49-C3D3-3AA5-9301-825CC620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with Conversation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0D0C1-41D3-97AA-C1AB-5FAEDD0C4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 can get: </a:t>
            </a:r>
          </a:p>
          <a:p>
            <a:pPr lvl="1"/>
            <a:r>
              <a:rPr lang="en-US" dirty="0"/>
              <a:t>Too long </a:t>
            </a:r>
          </a:p>
          <a:p>
            <a:pPr lvl="1"/>
            <a:r>
              <a:rPr lang="en-US" dirty="0"/>
              <a:t>Irrelevant </a:t>
            </a:r>
          </a:p>
          <a:p>
            <a:pPr lvl="1"/>
            <a:r>
              <a:rPr lang="en-US" dirty="0"/>
              <a:t>Confusing </a:t>
            </a:r>
          </a:p>
          <a:p>
            <a:r>
              <a:rPr lang="en-US" b="1" dirty="0"/>
              <a:t>Issues:</a:t>
            </a:r>
          </a:p>
          <a:p>
            <a:r>
              <a:rPr lang="en-US" dirty="0"/>
              <a:t>Wrong answers </a:t>
            </a:r>
          </a:p>
          <a:p>
            <a:r>
              <a:rPr lang="en-US" dirty="0"/>
              <a:t>Lost instructions </a:t>
            </a:r>
          </a:p>
          <a:p>
            <a:r>
              <a:rPr lang="en-US" dirty="0"/>
              <a:t>Token overflow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579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9433-7271-F121-98C5-3BE7BED0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Managing Conversation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34C9C-373E-E6A3-6D30-01D237BBC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Best Practices:</a:t>
            </a:r>
          </a:p>
          <a:p>
            <a:r>
              <a:rPr lang="en-US" dirty="0"/>
              <a:t>Reset when needed </a:t>
            </a:r>
          </a:p>
          <a:p>
            <a:r>
              <a:rPr lang="en-US" dirty="0"/>
              <a:t>Pass only relevant history </a:t>
            </a:r>
          </a:p>
          <a:p>
            <a:r>
              <a:rPr lang="en-US" dirty="0"/>
              <a:t>Summarize previous steps </a:t>
            </a:r>
          </a:p>
          <a:p>
            <a:r>
              <a:rPr lang="en-US" dirty="0"/>
              <a:t>Avoid unnecessary back-and-forth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740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8695-7D4F-07F7-0F95-11EA250F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Engineering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628C-A004-7723-0B69-E9629547F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Bad:</a:t>
            </a:r>
          </a:p>
          <a:p>
            <a:r>
              <a:rPr lang="en-US" dirty="0"/>
              <a:t>Generate SQL</a:t>
            </a:r>
          </a:p>
          <a:p>
            <a:r>
              <a:rPr lang="en-US" dirty="0"/>
              <a:t>Good:</a:t>
            </a:r>
          </a:p>
          <a:p>
            <a:r>
              <a:rPr lang="en-US" dirty="0"/>
              <a:t>Schema:</a:t>
            </a:r>
            <a:br>
              <a:rPr lang="en-US" dirty="0"/>
            </a:br>
            <a:r>
              <a:rPr lang="en-US" dirty="0"/>
              <a:t>orders(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customer_id</a:t>
            </a:r>
            <a:r>
              <a:rPr lang="en-US" dirty="0"/>
              <a:t>, amount)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Task:</a:t>
            </a:r>
            <a:br>
              <a:rPr lang="en-US" dirty="0"/>
            </a:br>
            <a:r>
              <a:rPr lang="en-US" dirty="0"/>
              <a:t>Find top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936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Reusable templates using frameworks</a:t>
            </a:r>
            <a:endParaRPr lang="en-IN" dirty="0"/>
          </a:p>
          <a:p>
            <a:r>
              <a:rPr lang="en-IN" dirty="0"/>
              <a:t>Reusable prompt structure</a:t>
            </a:r>
          </a:p>
          <a:p>
            <a:r>
              <a:rPr lang="en-IN" b="1" dirty="0"/>
              <a:t>Example Template:</a:t>
            </a:r>
            <a:endParaRPr lang="en-IN" dirty="0"/>
          </a:p>
          <a:p>
            <a:r>
              <a:rPr lang="en-IN" dirty="0"/>
              <a:t>Act as a Data Engineer.</a:t>
            </a:r>
            <a:br>
              <a:rPr lang="en-IN" dirty="0"/>
            </a:br>
            <a:r>
              <a:rPr lang="en-IN" dirty="0"/>
              <a:t>Schema: {schema}</a:t>
            </a:r>
            <a:br>
              <a:rPr lang="en-IN" dirty="0"/>
            </a:br>
            <a:r>
              <a:rPr lang="en-IN" dirty="0"/>
              <a:t>Task: {task}</a:t>
            </a:r>
            <a:br>
              <a:rPr lang="en-IN" dirty="0"/>
            </a:br>
            <a:r>
              <a:rPr lang="en-IN" dirty="0"/>
              <a:t>Output format: JSON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AB67-13B2-B49D-F6E6-9D7149F0F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4B6F-547E-3FCF-8CBB-D7E2AAEE9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Standardization </a:t>
            </a:r>
          </a:p>
          <a:p>
            <a:r>
              <a:rPr lang="en-US" dirty="0"/>
              <a:t>Reusability </a:t>
            </a:r>
          </a:p>
          <a:p>
            <a:r>
              <a:rPr lang="en-US" dirty="0"/>
              <a:t>Scalability </a:t>
            </a:r>
          </a:p>
          <a:p>
            <a:r>
              <a:rPr lang="en-US" dirty="0"/>
              <a:t>Reduced errors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5479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966BD-6160-CD01-3067-80A10A52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Framework's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419A79-AAA6-87EE-835A-C5BBFBC74F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2685275"/>
            <a:ext cx="7289800" cy="322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6759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Centralized reusable prompts</a:t>
            </a:r>
            <a:endParaRPr lang="en-IN" dirty="0"/>
          </a:p>
          <a:p>
            <a:r>
              <a:rPr lang="en-IN" dirty="0"/>
              <a:t>Store prompts for:</a:t>
            </a:r>
          </a:p>
          <a:p>
            <a:r>
              <a:rPr lang="en-IN" dirty="0"/>
              <a:t>SQL generation </a:t>
            </a:r>
          </a:p>
          <a:p>
            <a:r>
              <a:rPr lang="en-IN" dirty="0"/>
              <a:t>Data validation </a:t>
            </a:r>
          </a:p>
          <a:p>
            <a:r>
              <a:rPr lang="en-IN" dirty="0"/>
              <a:t>Schema explanation </a:t>
            </a:r>
          </a:p>
          <a:p>
            <a:r>
              <a:rPr lang="en-IN" dirty="0"/>
              <a:t>Pipeline debugging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63ED-3E7F-2894-D816-6309D918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Prompt Library Entry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83688-A322-900B-E6A9-5C0FDB63D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Name: SQL Generator</a:t>
            </a:r>
            <a:br>
              <a:rPr lang="en-US" dirty="0"/>
            </a:br>
            <a:r>
              <a:rPr lang="en-US" dirty="0"/>
              <a:t>Input: Natural language</a:t>
            </a:r>
            <a:br>
              <a:rPr lang="en-US" dirty="0"/>
            </a:br>
            <a:r>
              <a:rPr lang="en-US" dirty="0"/>
              <a:t>Output: SQL + explanation</a:t>
            </a:r>
            <a:br>
              <a:rPr lang="en-US" dirty="0"/>
            </a:br>
            <a:r>
              <a:rPr lang="en-US" dirty="0"/>
              <a:t>Constraints: Use Snowflake syntax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326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2C34-0A4A-742C-159E-2D4B188C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DDA05-35E6-6AF4-CB25-862EA3A61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define output format</a:t>
            </a:r>
          </a:p>
          <a:p>
            <a:r>
              <a:rPr lang="en-US" dirty="0"/>
              <a:t>Provide schema for SQL tasks</a:t>
            </a:r>
          </a:p>
          <a:p>
            <a:r>
              <a:rPr lang="en-US" dirty="0"/>
              <a:t>Use few-shot for complex logic</a:t>
            </a:r>
          </a:p>
          <a:p>
            <a:r>
              <a:rPr lang="en-US" dirty="0"/>
              <a:t>Combine role + constraints</a:t>
            </a:r>
          </a:p>
          <a:p>
            <a:r>
              <a:rPr lang="en-US" dirty="0"/>
              <a:t>Test prompts iteratively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9851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0D5D-A730-AD01-184C-321D3585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0E4F4-5E23-8A2D-B41B-AE7531D76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Vague prompts </a:t>
            </a:r>
          </a:p>
          <a:p>
            <a:r>
              <a:rPr lang="en-US" dirty="0"/>
              <a:t>No output structure </a:t>
            </a:r>
          </a:p>
          <a:p>
            <a:r>
              <a:rPr lang="en-US" dirty="0"/>
              <a:t>Ignoring schema </a:t>
            </a:r>
          </a:p>
          <a:p>
            <a:r>
              <a:rPr lang="en-US" dirty="0"/>
              <a:t>Overloading context </a:t>
            </a:r>
          </a:p>
          <a:p>
            <a:r>
              <a:rPr lang="en-US" dirty="0"/>
              <a:t>Not validating output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518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B9C9-B93C-215C-26CD-69ADBF70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End-to-End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3B8C1-C549-83C2-31C6-B740DC9F0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Act as a senior Data Engineer.</a:t>
            </a:r>
          </a:p>
          <a:p>
            <a:r>
              <a:rPr lang="en-US" dirty="0"/>
              <a:t>Schema:</a:t>
            </a:r>
          </a:p>
          <a:p>
            <a:r>
              <a:rPr lang="en-US" dirty="0"/>
              <a:t>orders(</a:t>
            </a:r>
            <a:r>
              <a:rPr lang="en-US" dirty="0" err="1"/>
              <a:t>order_id</a:t>
            </a:r>
            <a:r>
              <a:rPr lang="en-US" dirty="0"/>
              <a:t>, amount, date)</a:t>
            </a:r>
          </a:p>
          <a:p>
            <a:r>
              <a:rPr lang="en-US" dirty="0"/>
              <a:t>Task:</a:t>
            </a:r>
          </a:p>
          <a:p>
            <a:r>
              <a:rPr lang="en-US" dirty="0"/>
              <a:t>Top 5 days by revenue</a:t>
            </a:r>
          </a:p>
          <a:p>
            <a:r>
              <a:rPr lang="en-US" dirty="0"/>
              <a:t>Output JSON: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"query": "",</a:t>
            </a:r>
          </a:p>
          <a:p>
            <a:r>
              <a:rPr lang="en-US" dirty="0"/>
              <a:t> "explanation": ""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92822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F72F-0410-0499-DA2C-24CC6C15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</a:t>
            </a:r>
            <a:endParaRPr lang="en-IN" dirty="0"/>
          </a:p>
        </p:txBody>
      </p:sp>
      <p:pic>
        <p:nvPicPr>
          <p:cNvPr id="2050" name="Picture 2" descr="Prompt Management &amp; Prompt Versioning in AI Applications | by Noel Moreno Lemus | Medium">
            <a:extLst>
              <a:ext uri="{FF2B5EF4-FFF2-40B4-BE49-F238E27FC236}">
                <a16:creationId xmlns:a16="http://schemas.microsoft.com/office/drawing/2014/main" id="{59347F20-F56F-57D8-4A71-56439021BC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722" y="2286000"/>
            <a:ext cx="5171056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703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7F43-4196-7EA3-6B43-1CB8B19D1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Methods</a:t>
            </a: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4BC34AC-C8B8-23DC-D3E1-26D2F64388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2585301"/>
            <a:ext cx="7289800" cy="342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4267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2D10-B843-6232-CB15-3A71F53B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40A142C-408A-45A2-1BB6-DDCEC0F26E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2597798"/>
            <a:ext cx="7289800" cy="339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55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 = control mechanism</a:t>
            </a:r>
          </a:p>
          <a:p>
            <a:r>
              <a:rPr lang="en-US" dirty="0"/>
              <a:t>Use:</a:t>
            </a:r>
          </a:p>
          <a:p>
            <a:r>
              <a:rPr lang="en-US" dirty="0"/>
              <a:t>Zero/One/Few-shot</a:t>
            </a:r>
          </a:p>
          <a:p>
            <a:r>
              <a:rPr lang="en-US" dirty="0" err="1"/>
              <a:t>CoT</a:t>
            </a:r>
            <a:r>
              <a:rPr lang="en-US" dirty="0"/>
              <a:t> &amp; </a:t>
            </a:r>
            <a:r>
              <a:rPr lang="en-US" dirty="0" err="1"/>
              <a:t>ReAct</a:t>
            </a:r>
            <a:endParaRPr lang="en-US" dirty="0"/>
          </a:p>
          <a:p>
            <a:r>
              <a:rPr lang="en-US" dirty="0"/>
              <a:t>Role prompting</a:t>
            </a:r>
          </a:p>
          <a:p>
            <a:r>
              <a:rPr lang="en-US" dirty="0"/>
              <a:t>Structured output</a:t>
            </a:r>
          </a:p>
          <a:p>
            <a:r>
              <a:rPr lang="en-US" dirty="0"/>
              <a:t>Context engineering</a:t>
            </a:r>
          </a:p>
          <a:p>
            <a:r>
              <a:rPr lang="en-US" dirty="0"/>
              <a:t>Build reusable prompt libraries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329</TotalTime>
  <Words>1592</Words>
  <Application>Microsoft Office PowerPoint</Application>
  <PresentationFormat>On-screen Show (4:3)</PresentationFormat>
  <Paragraphs>296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Calibri</vt:lpstr>
      <vt:lpstr>Tw Cen MT</vt:lpstr>
      <vt:lpstr>Tw Cen MT Condensed</vt:lpstr>
      <vt:lpstr>Wingdings 3</vt:lpstr>
      <vt:lpstr>Integral</vt:lpstr>
      <vt:lpstr>Prompt Engineering for Data Engineers</vt:lpstr>
      <vt:lpstr>Prompt Engineering for Data Engineers</vt:lpstr>
      <vt:lpstr>Why It Matters</vt:lpstr>
      <vt:lpstr>Approaches</vt:lpstr>
      <vt:lpstr>Core Concepts</vt:lpstr>
      <vt:lpstr>Prompting Types</vt:lpstr>
      <vt:lpstr>Zero-shot Prompting</vt:lpstr>
      <vt:lpstr>One-shot Prompting</vt:lpstr>
      <vt:lpstr>Few-shot Prompting</vt:lpstr>
      <vt:lpstr>When to Use Which</vt:lpstr>
      <vt:lpstr>Take Away</vt:lpstr>
      <vt:lpstr>Prompt TYPES VS</vt:lpstr>
      <vt:lpstr>Chain-of-Thought</vt:lpstr>
      <vt:lpstr>Why CoT Works</vt:lpstr>
      <vt:lpstr>ReAct Prompting</vt:lpstr>
      <vt:lpstr>Role Prompting</vt:lpstr>
      <vt:lpstr>Role Prompting Variants</vt:lpstr>
      <vt:lpstr>Tree-of-Thought (ToT) Prompting</vt:lpstr>
      <vt:lpstr>COT vS REACT VS TOT</vt:lpstr>
      <vt:lpstr>ConCLUSION</vt:lpstr>
      <vt:lpstr>NL to SQL</vt:lpstr>
      <vt:lpstr>Improving NL → SQL Accuracy</vt:lpstr>
      <vt:lpstr>SQL to NL</vt:lpstr>
      <vt:lpstr>Structured Output</vt:lpstr>
      <vt:lpstr>JSON Output Example</vt:lpstr>
      <vt:lpstr>YAML Output Example</vt:lpstr>
      <vt:lpstr>Context Engineering</vt:lpstr>
      <vt:lpstr>Token Management</vt:lpstr>
      <vt:lpstr>Context vs Noise</vt:lpstr>
      <vt:lpstr>Example(Bad Prompt - Noise)</vt:lpstr>
      <vt:lpstr>Example (Good Prompt -Clean Context)</vt:lpstr>
      <vt:lpstr>Context Engineering Principle</vt:lpstr>
      <vt:lpstr>Conversation State</vt:lpstr>
      <vt:lpstr>Problem with Conversation State</vt:lpstr>
      <vt:lpstr>Managing Conversation State</vt:lpstr>
      <vt:lpstr>Context Engineering Example</vt:lpstr>
      <vt:lpstr>Prompt Templates</vt:lpstr>
      <vt:lpstr>Benefits of Templates</vt:lpstr>
      <vt:lpstr>Framework's</vt:lpstr>
      <vt:lpstr>Prompt Library</vt:lpstr>
      <vt:lpstr>Example Prompt Library Entry</vt:lpstr>
      <vt:lpstr>Best Practices</vt:lpstr>
      <vt:lpstr>Common Mistakes</vt:lpstr>
      <vt:lpstr>End-to-End Example</vt:lpstr>
      <vt:lpstr>FLOW</vt:lpstr>
      <vt:lpstr>Testing Methods</vt:lpstr>
      <vt:lpstr>Use Cases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112</cp:revision>
  <dcterms:created xsi:type="dcterms:W3CDTF">2013-01-27T09:14:16Z</dcterms:created>
  <dcterms:modified xsi:type="dcterms:W3CDTF">2026-04-28T11:38:16Z</dcterms:modified>
  <cp:category/>
</cp:coreProperties>
</file>