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8" r:id="rId5"/>
    <p:sldId id="300" r:id="rId6"/>
    <p:sldId id="259" r:id="rId7"/>
    <p:sldId id="269" r:id="rId8"/>
    <p:sldId id="270" r:id="rId9"/>
    <p:sldId id="271" r:id="rId10"/>
    <p:sldId id="295" r:id="rId11"/>
    <p:sldId id="296" r:id="rId12"/>
    <p:sldId id="297" r:id="rId13"/>
    <p:sldId id="298" r:id="rId14"/>
    <p:sldId id="299" r:id="rId15"/>
    <p:sldId id="260" r:id="rId16"/>
    <p:sldId id="301" r:id="rId17"/>
    <p:sldId id="302" r:id="rId18"/>
    <p:sldId id="303" r:id="rId19"/>
    <p:sldId id="272" r:id="rId20"/>
    <p:sldId id="273" r:id="rId21"/>
    <p:sldId id="274" r:id="rId22"/>
    <p:sldId id="304" r:id="rId23"/>
    <p:sldId id="305" r:id="rId24"/>
    <p:sldId id="306" r:id="rId25"/>
    <p:sldId id="307" r:id="rId26"/>
    <p:sldId id="308" r:id="rId27"/>
    <p:sldId id="275" r:id="rId28"/>
    <p:sldId id="261" r:id="rId29"/>
    <p:sldId id="276" r:id="rId30"/>
    <p:sldId id="277" r:id="rId31"/>
    <p:sldId id="278" r:id="rId32"/>
    <p:sldId id="309" r:id="rId33"/>
    <p:sldId id="310" r:id="rId34"/>
    <p:sldId id="323" r:id="rId35"/>
    <p:sldId id="311" r:id="rId36"/>
    <p:sldId id="312" r:id="rId37"/>
    <p:sldId id="313" r:id="rId38"/>
    <p:sldId id="262" r:id="rId39"/>
    <p:sldId id="314" r:id="rId40"/>
    <p:sldId id="279" r:id="rId41"/>
    <p:sldId id="280" r:id="rId42"/>
    <p:sldId id="281" r:id="rId43"/>
    <p:sldId id="315" r:id="rId44"/>
    <p:sldId id="263" r:id="rId45"/>
    <p:sldId id="282" r:id="rId46"/>
    <p:sldId id="316" r:id="rId47"/>
    <p:sldId id="283" r:id="rId48"/>
    <p:sldId id="317" r:id="rId49"/>
    <p:sldId id="318" r:id="rId50"/>
    <p:sldId id="319" r:id="rId51"/>
    <p:sldId id="284" r:id="rId52"/>
    <p:sldId id="320" r:id="rId53"/>
    <p:sldId id="321" r:id="rId54"/>
    <p:sldId id="322" r:id="rId55"/>
    <p:sldId id="285" r:id="rId56"/>
    <p:sldId id="264" r:id="rId57"/>
    <p:sldId id="286" r:id="rId58"/>
    <p:sldId id="287" r:id="rId59"/>
    <p:sldId id="265" r:id="rId60"/>
    <p:sldId id="288" r:id="rId61"/>
    <p:sldId id="289" r:id="rId62"/>
    <p:sldId id="290" r:id="rId63"/>
    <p:sldId id="291" r:id="rId64"/>
    <p:sldId id="292" r:id="rId65"/>
    <p:sldId id="293" r:id="rId66"/>
    <p:sldId id="294" r:id="rId67"/>
    <p:sldId id="266" r:id="rId6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29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7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806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68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14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49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1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35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335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6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917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99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572" y="977900"/>
            <a:ext cx="4904668" cy="3327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700" spc="200"/>
              <a:t>Retrieval-Augmented Generation (RAG) &amp; Enterprise 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572" y="4621235"/>
            <a:ext cx="4904668" cy="12250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>
                <a:solidFill>
                  <a:schemeClr val="tx1">
                    <a:lumMod val="95000"/>
                    <a:lumOff val="5000"/>
                  </a:schemeClr>
                </a:solidFill>
              </a:rPr>
              <a:t>Concepts, Architectures, and Azure Integration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What is RAG?</a:t>
            </a:r>
          </a:p>
          <a:p>
            <a:r>
              <a:t>RAG Architecture</a:t>
            </a:r>
          </a:p>
          <a:p>
            <a:r>
              <a:t>Chunking Strategies</a:t>
            </a:r>
          </a:p>
          <a:p>
            <a:r>
              <a:t>Embeddings</a:t>
            </a:r>
          </a:p>
          <a:p>
            <a:r>
              <a:t>Vector DB</a:t>
            </a:r>
          </a:p>
          <a:p>
            <a:r>
              <a:t>RAG Types</a:t>
            </a:r>
          </a:p>
          <a:p>
            <a:r>
              <a:t>RAG in DE</a:t>
            </a:r>
          </a:p>
          <a:p>
            <a:r>
              <a:t>Azure AI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RAG =&gt;(Retrieval-Augmented Generation)</a:t>
            </a:r>
          </a:p>
          <a:p>
            <a:r>
              <a:rPr lang="en-US" dirty="0"/>
              <a:t>What is RAG?</a:t>
            </a:r>
          </a:p>
          <a:p>
            <a:pPr lvl="1"/>
            <a:r>
              <a:rPr lang="en-US" dirty="0"/>
              <a:t>Combines Information Retrieval + LLM Generation</a:t>
            </a:r>
          </a:p>
          <a:p>
            <a:pPr lvl="1"/>
            <a:r>
              <a:rPr lang="en-US" dirty="0"/>
              <a:t>Uses real data to generate accurate responses</a:t>
            </a:r>
          </a:p>
          <a:p>
            <a:r>
              <a:rPr lang="en-US" dirty="0"/>
              <a:t>How it Works</a:t>
            </a:r>
          </a:p>
          <a:p>
            <a:pPr lvl="1"/>
            <a:r>
              <a:rPr lang="en-US" dirty="0"/>
              <a:t>Retrieve relevant data</a:t>
            </a:r>
          </a:p>
          <a:p>
            <a:pPr lvl="1"/>
            <a:r>
              <a:rPr lang="en-US" dirty="0"/>
              <a:t>Add as context</a:t>
            </a:r>
          </a:p>
          <a:p>
            <a:pPr lvl="1"/>
            <a:r>
              <a:rPr lang="en-US" dirty="0"/>
              <a:t>Generate answer using LLM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8635-E8EA-334C-626A-FEBB0B3EA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RAG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106E0-5ACA-D80A-E283-870BC5830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</a:t>
            </a:r>
            <a:r>
              <a:rPr lang="en-US" b="1" dirty="0"/>
              <a:t>real-time knowledge retrieval</a:t>
            </a:r>
            <a:r>
              <a:rPr lang="en-US" dirty="0"/>
              <a:t> </a:t>
            </a:r>
          </a:p>
          <a:p>
            <a:r>
              <a:rPr lang="en-US" dirty="0"/>
              <a:t>Improves </a:t>
            </a:r>
            <a:r>
              <a:rPr lang="en-US" b="1" dirty="0"/>
              <a:t>accuracy &amp; trust</a:t>
            </a:r>
            <a:r>
              <a:rPr lang="en-US" dirty="0"/>
              <a:t> </a:t>
            </a:r>
          </a:p>
          <a:p>
            <a:r>
              <a:rPr lang="en-US" dirty="0"/>
              <a:t>Supports </a:t>
            </a:r>
            <a:r>
              <a:rPr lang="en-US" b="1" dirty="0"/>
              <a:t>enterprise use cases</a:t>
            </a:r>
            <a:r>
              <a:rPr lang="en-US" dirty="0"/>
              <a:t> </a:t>
            </a:r>
          </a:p>
          <a:p>
            <a:r>
              <a:rPr lang="en-US" dirty="0"/>
              <a:t>Reduces dependency on fine-tuning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681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6D7DD-8071-F046-869D-B82469982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724363-7A3C-FD41-9DFA-C0FAD316A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8350" y="3018334"/>
            <a:ext cx="7289800" cy="255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993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Retrieve → Augment → Generate</a:t>
            </a:r>
            <a:endParaRPr lang="en-US" dirty="0"/>
          </a:p>
          <a:p>
            <a:endParaRPr lang="en-IN" dirty="0"/>
          </a:p>
          <a:p>
            <a:r>
              <a:rPr lang="en-IN" b="1" dirty="0"/>
              <a:t>Pipeline:</a:t>
            </a:r>
            <a:endParaRPr lang="en-IN" dirty="0"/>
          </a:p>
          <a:p>
            <a:r>
              <a:rPr lang="en-IN" dirty="0"/>
              <a:t>Retrieve relevant documents </a:t>
            </a:r>
          </a:p>
          <a:p>
            <a:r>
              <a:rPr lang="en-IN" dirty="0"/>
              <a:t>Augment prompt with context </a:t>
            </a:r>
          </a:p>
          <a:p>
            <a:r>
              <a:rPr lang="en-IN" dirty="0"/>
              <a:t>Generate response using LLM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7FA26-C4EC-6ED5-301D-EDD0853B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1 - Retrieve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01F0-2298-6FE1-0014-E6724055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Input query is converted into embedding </a:t>
            </a:r>
          </a:p>
          <a:p>
            <a:r>
              <a:rPr lang="en-IN" dirty="0"/>
              <a:t>Vector DB searched using similarity </a:t>
            </a:r>
          </a:p>
          <a:p>
            <a:r>
              <a:rPr lang="en-IN" dirty="0"/>
              <a:t>Top-K relevant documents fetched </a:t>
            </a:r>
          </a:p>
          <a:p>
            <a:r>
              <a:rPr lang="en-IN" dirty="0"/>
              <a:t>Techniques: </a:t>
            </a:r>
          </a:p>
          <a:p>
            <a:pPr lvl="1"/>
            <a:r>
              <a:rPr lang="en-IN" dirty="0"/>
              <a:t>Dense retrieval </a:t>
            </a:r>
          </a:p>
          <a:p>
            <a:pPr lvl="1"/>
            <a:r>
              <a:rPr lang="en-IN" dirty="0"/>
              <a:t>Sparse retrieval (BM25)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892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0C0D-CF15-816E-A08E-AD2B55373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2 - Augment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7C421-7771-F4A5-4A89-B7532BF2B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Retrieved documents are injected into prompt</a:t>
            </a:r>
          </a:p>
          <a:p>
            <a:r>
              <a:rPr lang="en-US" dirty="0"/>
              <a:t>Context window management is critical</a:t>
            </a:r>
          </a:p>
          <a:p>
            <a:r>
              <a:rPr lang="en-US" dirty="0"/>
              <a:t>Prompt structure:</a:t>
            </a:r>
          </a:p>
          <a:p>
            <a:r>
              <a:rPr lang="en-IN" dirty="0"/>
              <a:t>Question: {</a:t>
            </a:r>
            <a:r>
              <a:rPr lang="en-IN" dirty="0" err="1"/>
              <a:t>user_query</a:t>
            </a: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Context: {</a:t>
            </a:r>
            <a:r>
              <a:rPr lang="en-IN" dirty="0" err="1"/>
              <a:t>retrieved_docs</a:t>
            </a: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Answer: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903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F869-2AB2-3BC9-5346-21E3471C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3 - Generate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44980-CC1B-12BB-70D6-494AC6C1B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LLM processes: </a:t>
            </a:r>
          </a:p>
          <a:p>
            <a:pPr lvl="1"/>
            <a:r>
              <a:rPr lang="en-IN" dirty="0"/>
              <a:t>Query + Context </a:t>
            </a:r>
          </a:p>
          <a:p>
            <a:r>
              <a:rPr lang="en-IN" dirty="0"/>
              <a:t>Produces: </a:t>
            </a:r>
          </a:p>
          <a:p>
            <a:pPr lvl="1"/>
            <a:r>
              <a:rPr lang="en-IN" dirty="0"/>
              <a:t>Accurate, grounded response </a:t>
            </a:r>
          </a:p>
          <a:p>
            <a:r>
              <a:rPr lang="en-IN" dirty="0"/>
              <a:t>Example: </a:t>
            </a:r>
          </a:p>
          <a:p>
            <a:pPr lvl="1"/>
            <a:r>
              <a:rPr lang="en-IN" dirty="0"/>
              <a:t>“Based on documentation…”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971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063F7-F92B-346C-A8C0-D352FCA83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vs RAG</a:t>
            </a:r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F1A15AD-D7A7-E39D-EE97-B5CD2D55A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E388F-8233-3EC1-C4AC-91E911B43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 = Notes you give a student</a:t>
            </a:r>
          </a:p>
          <a:p>
            <a:r>
              <a:rPr lang="en-US" dirty="0"/>
              <a:t>RAG = A librarian who finds the right notes before answering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43F6A0-3DB5-3EB6-7E96-608D1B18B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218571"/>
              </p:ext>
            </p:extLst>
          </p:nvPr>
        </p:nvGraphicFramePr>
        <p:xfrm>
          <a:off x="768350" y="3295650"/>
          <a:ext cx="7289799" cy="33337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2138050440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1175178007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4290489417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Aspect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Context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RAG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1449622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What it is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Input data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System/architecture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62432889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Source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Manually provided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Automatically retrieved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0010545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Dynamic?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85374237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Scalability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Limited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8003697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Use case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Simple prompts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Enterprise systems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1847616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91BF322B-2DC9-B5D3-2C8F-18A4C4C96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36957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477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2474-18DE-A091-F4D4-16611735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They Work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0076-CC29-73B8-4138-39991ED7B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RAG is useless without context.</a:t>
            </a:r>
          </a:p>
          <a:p>
            <a:endParaRPr lang="en-US" dirty="0"/>
          </a:p>
          <a:p>
            <a:r>
              <a:rPr lang="en-US" dirty="0"/>
              <a:t>Flow:</a:t>
            </a:r>
          </a:p>
          <a:p>
            <a:r>
              <a:rPr lang="en-US" dirty="0"/>
              <a:t>RAG retrieves → creates context → sends to LLM</a:t>
            </a:r>
          </a:p>
          <a:p>
            <a:r>
              <a:rPr lang="en-US" dirty="0"/>
              <a:t>So:</a:t>
            </a:r>
          </a:p>
          <a:p>
            <a:r>
              <a:rPr lang="en-US" dirty="0"/>
              <a:t>Context = </a:t>
            </a:r>
            <a:r>
              <a:rPr lang="en-US" b="1" dirty="0"/>
              <a:t>fuel</a:t>
            </a:r>
            <a:r>
              <a:rPr lang="en-US" dirty="0"/>
              <a:t> </a:t>
            </a:r>
          </a:p>
          <a:p>
            <a:r>
              <a:rPr lang="en-US" dirty="0"/>
              <a:t>RAG = </a:t>
            </a:r>
            <a:r>
              <a:rPr lang="en-US" b="1" dirty="0"/>
              <a:t>engine that fetches fuel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5503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CC2F-DE9B-9E90-3F5D-34299967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006F4-0951-5622-7D3C-497CCF8ED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781175"/>
            <a:ext cx="7290055" cy="4914900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Without RAG (Static Context)</a:t>
            </a:r>
          </a:p>
          <a:p>
            <a:r>
              <a:rPr lang="en-IN" dirty="0"/>
              <a:t>Context:</a:t>
            </a:r>
            <a:br>
              <a:rPr lang="en-IN" dirty="0"/>
            </a:br>
            <a:r>
              <a:rPr lang="en-IN" dirty="0"/>
              <a:t>Table customers contains name, email.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Question:</a:t>
            </a:r>
            <a:br>
              <a:rPr lang="en-IN" dirty="0"/>
            </a:br>
            <a:r>
              <a:rPr lang="en-IN" dirty="0"/>
              <a:t>Which table has PII?</a:t>
            </a:r>
          </a:p>
          <a:p>
            <a:r>
              <a:rPr lang="en-IN" dirty="0"/>
              <a:t>Problem:</a:t>
            </a:r>
          </a:p>
          <a:p>
            <a:pPr lvl="1"/>
            <a:r>
              <a:rPr lang="en-IN" dirty="0"/>
              <a:t>Limited knowledge </a:t>
            </a:r>
          </a:p>
          <a:p>
            <a:pPr lvl="1"/>
            <a:r>
              <a:rPr lang="en-IN" dirty="0"/>
              <a:t>Not scalable </a:t>
            </a:r>
          </a:p>
          <a:p>
            <a:r>
              <a:rPr lang="en-IN" b="1" dirty="0"/>
              <a:t>With RAG (Dynamic Context)</a:t>
            </a:r>
          </a:p>
          <a:p>
            <a:r>
              <a:rPr lang="en-IN" dirty="0"/>
              <a:t>User Query → Search DB → Get relevant tables → Pass as context → Answer</a:t>
            </a:r>
          </a:p>
          <a:p>
            <a:r>
              <a:rPr lang="en-IN" dirty="0"/>
              <a:t>Result:</a:t>
            </a:r>
          </a:p>
          <a:p>
            <a:pPr lvl="1"/>
            <a:r>
              <a:rPr lang="en-IN" dirty="0"/>
              <a:t>Accurate </a:t>
            </a:r>
          </a:p>
          <a:p>
            <a:pPr lvl="1"/>
            <a:r>
              <a:rPr lang="en-IN" dirty="0"/>
              <a:t>Real-time </a:t>
            </a:r>
          </a:p>
          <a:p>
            <a:pPr lvl="1"/>
            <a:r>
              <a:rPr lang="en-IN" dirty="0"/>
              <a:t>Scalable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0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4B85-D312-F9FD-4664-AAE8A2470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2AFD3-A9BD-BCCA-B61D-92B955308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Use Context Only</a:t>
            </a:r>
          </a:p>
          <a:p>
            <a:r>
              <a:rPr lang="en-US" dirty="0"/>
              <a:t>Small data </a:t>
            </a:r>
          </a:p>
          <a:p>
            <a:r>
              <a:rPr lang="en-US" dirty="0"/>
              <a:t>Static prompts </a:t>
            </a:r>
          </a:p>
          <a:p>
            <a:r>
              <a:rPr lang="en-US" dirty="0"/>
              <a:t>Quick demos </a:t>
            </a:r>
          </a:p>
          <a:p>
            <a:endParaRPr lang="en-US" dirty="0"/>
          </a:p>
          <a:p>
            <a:r>
              <a:rPr lang="en-US" b="1" dirty="0"/>
              <a:t>Use RAG</a:t>
            </a:r>
          </a:p>
          <a:p>
            <a:r>
              <a:rPr lang="en-US" dirty="0"/>
              <a:t>Large datasets </a:t>
            </a:r>
          </a:p>
          <a:p>
            <a:r>
              <a:rPr lang="en-US" dirty="0"/>
              <a:t>Enterprise systems </a:t>
            </a:r>
          </a:p>
          <a:p>
            <a:r>
              <a:rPr lang="en-US" dirty="0"/>
              <a:t>Data engineering use cases </a:t>
            </a:r>
          </a:p>
          <a:p>
            <a:r>
              <a:rPr lang="en-US" dirty="0"/>
              <a:t>Real-time querying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2986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EC97-3F85-2A89-4DD8-88C1750A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Prompting VS RAG VS </a:t>
            </a:r>
            <a:r>
              <a:rPr lang="en-US" dirty="0" err="1"/>
              <a:t>FINE-Tuning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CE6DB-B54C-D766-15E5-C73E77308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Prompting</a:t>
            </a:r>
            <a:r>
              <a:rPr lang="en-US" dirty="0"/>
              <a:t> → How you </a:t>
            </a:r>
            <a:r>
              <a:rPr lang="en-US" i="1" dirty="0"/>
              <a:t>ask</a:t>
            </a:r>
            <a:r>
              <a:rPr lang="en-US" dirty="0"/>
              <a:t> the model </a:t>
            </a:r>
          </a:p>
          <a:p>
            <a:r>
              <a:rPr lang="en-US" b="1" dirty="0"/>
              <a:t>RAG</a:t>
            </a:r>
            <a:r>
              <a:rPr lang="en-US" dirty="0"/>
              <a:t> → How you </a:t>
            </a:r>
            <a:r>
              <a:rPr lang="en-US" i="1" dirty="0"/>
              <a:t>give external knowledge</a:t>
            </a:r>
            <a:r>
              <a:rPr lang="en-US" dirty="0"/>
              <a:t> to the model </a:t>
            </a:r>
          </a:p>
          <a:p>
            <a:r>
              <a:rPr lang="en-US" b="1" dirty="0"/>
              <a:t>Fine-tuning</a:t>
            </a:r>
            <a:r>
              <a:rPr lang="en-US" dirty="0"/>
              <a:t> → How you </a:t>
            </a:r>
            <a:r>
              <a:rPr lang="en-US" i="1" dirty="0"/>
              <a:t>change the model itself</a:t>
            </a:r>
            <a:r>
              <a:rPr lang="en-US" dirty="0"/>
              <a:t> 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6BC020-D4DD-623E-8EAF-557156BB6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107495"/>
              </p:ext>
            </p:extLst>
          </p:nvPr>
        </p:nvGraphicFramePr>
        <p:xfrm>
          <a:off x="768350" y="3595497"/>
          <a:ext cx="7289800" cy="29150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2450">
                  <a:extLst>
                    <a:ext uri="{9D8B030D-6E8A-4147-A177-3AD203B41FA5}">
                      <a16:colId xmlns:a16="http://schemas.microsoft.com/office/drawing/2014/main" val="3715506828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4221051011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3095828889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3026056519"/>
                    </a:ext>
                  </a:extLst>
                </a:gridCol>
              </a:tblGrid>
              <a:tr h="416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Prompting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RAG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Fine-Tuning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8554860"/>
                  </a:ext>
                </a:extLst>
              </a:tr>
              <a:tr h="416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Changes model?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48022167"/>
                  </a:ext>
                </a:extLst>
              </a:tr>
              <a:tr h="416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Uses external data?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06017950"/>
                  </a:ext>
                </a:extLst>
              </a:tr>
              <a:tr h="416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Real-time knowledge?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2175153"/>
                  </a:ext>
                </a:extLst>
              </a:tr>
              <a:tr h="416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Cost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8854849"/>
                  </a:ext>
                </a:extLst>
              </a:tr>
              <a:tr h="416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Complexity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55402968"/>
                  </a:ext>
                </a:extLst>
              </a:tr>
              <a:tr h="416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Best for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Instructions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Knowledge retrieval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 err="1">
                          <a:effectLst/>
                        </a:rPr>
                        <a:t>Behavior</a:t>
                      </a:r>
                      <a:r>
                        <a:rPr lang="en-IN" sz="1100" dirty="0">
                          <a:effectLst/>
                        </a:rPr>
                        <a:t> learning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184935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D9D583-6EE2-6E17-9DCC-BF049DC7A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35956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337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Document chunking</a:t>
            </a:r>
            <a:r>
              <a:rPr lang="en-US" dirty="0"/>
              <a:t> is the process of </a:t>
            </a:r>
            <a:r>
              <a:rPr lang="en-US" b="1" dirty="0"/>
              <a:t>breaking large documents into smaller pieces (chunks)</a:t>
            </a:r>
            <a:r>
              <a:rPr lang="en-US" dirty="0"/>
              <a:t> so they can be:</a:t>
            </a:r>
          </a:p>
          <a:p>
            <a:r>
              <a:rPr lang="en-US" dirty="0"/>
              <a:t>Embedded (converted to vectors) </a:t>
            </a:r>
          </a:p>
          <a:p>
            <a:r>
              <a:rPr lang="en-US" dirty="0"/>
              <a:t>Stored in a vector database </a:t>
            </a:r>
          </a:p>
          <a:p>
            <a:r>
              <a:rPr lang="en-US" dirty="0"/>
              <a:t>Retrieved efficiently in RAG systems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FFE56-A256-6A80-C6D7-15F13381C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Chunking is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10BCE-AAD6-E459-8BA2-EB5BADC2B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LLMs and vector search systems:</a:t>
            </a:r>
          </a:p>
          <a:p>
            <a:pPr lvl="1"/>
            <a:r>
              <a:rPr lang="en-US" dirty="0"/>
              <a:t>Cannot handle very large documents at once </a:t>
            </a:r>
          </a:p>
          <a:p>
            <a:pPr lvl="1"/>
            <a:r>
              <a:rPr lang="en-US" dirty="0"/>
              <a:t>Work better with </a:t>
            </a:r>
            <a:r>
              <a:rPr lang="en-US" b="1" dirty="0"/>
              <a:t>small, meaningful pieces of text</a:t>
            </a:r>
          </a:p>
          <a:p>
            <a:r>
              <a:rPr lang="en-US" b="1" dirty="0"/>
              <a:t>Without Chunking </a:t>
            </a:r>
          </a:p>
          <a:p>
            <a:pPr lvl="1"/>
            <a:r>
              <a:rPr lang="en-US" dirty="0"/>
              <a:t>Entire document is too large </a:t>
            </a:r>
          </a:p>
          <a:p>
            <a:pPr lvl="1"/>
            <a:r>
              <a:rPr lang="en-US" dirty="0"/>
              <a:t>Poor retrieval accuracy </a:t>
            </a:r>
          </a:p>
          <a:p>
            <a:pPr lvl="1"/>
            <a:r>
              <a:rPr lang="en-US" dirty="0"/>
              <a:t>Irrelevant results</a:t>
            </a:r>
          </a:p>
          <a:p>
            <a:r>
              <a:rPr lang="en-US" b="1" dirty="0"/>
              <a:t>With Chunking </a:t>
            </a:r>
          </a:p>
          <a:p>
            <a:pPr lvl="1"/>
            <a:r>
              <a:rPr lang="en-US" dirty="0"/>
              <a:t>Each piece is searchable </a:t>
            </a:r>
          </a:p>
          <a:p>
            <a:pPr lvl="1"/>
            <a:r>
              <a:rPr lang="en-US" dirty="0"/>
              <a:t>Better matching with user queries </a:t>
            </a:r>
          </a:p>
          <a:p>
            <a:pPr lvl="1"/>
            <a:r>
              <a:rPr lang="en-US" dirty="0"/>
              <a:t>More accurate RAG responses</a:t>
            </a:r>
          </a:p>
          <a:p>
            <a:pPr marL="128016" lvl="1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0049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94C2-7229-DFA0-323D-6AC7FE05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2DA3-8264-5257-8DC6-C441BEF99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Original Document:</a:t>
            </a:r>
          </a:p>
          <a:p>
            <a:r>
              <a:rPr lang="en-IN" dirty="0"/>
              <a:t>Customer table contains id, name, email.</a:t>
            </a:r>
            <a:br>
              <a:rPr lang="en-IN" dirty="0"/>
            </a:br>
            <a:r>
              <a:rPr lang="en-IN" dirty="0" err="1"/>
              <a:t>Customer_status</a:t>
            </a:r>
            <a:r>
              <a:rPr lang="en-IN" dirty="0"/>
              <a:t> indicates active/inactive.</a:t>
            </a:r>
            <a:br>
              <a:rPr lang="en-IN" dirty="0"/>
            </a:br>
            <a:r>
              <a:rPr lang="en-IN" dirty="0" err="1"/>
              <a:t>Last_updated</a:t>
            </a:r>
            <a:r>
              <a:rPr lang="en-IN" dirty="0"/>
              <a:t> stores timestamp.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After Chunking:</a:t>
            </a:r>
          </a:p>
          <a:p>
            <a:r>
              <a:rPr lang="en-IN" dirty="0"/>
              <a:t>Chunk 1: Customer table contains id, name, email  </a:t>
            </a:r>
            <a:br>
              <a:rPr lang="en-IN" dirty="0"/>
            </a:br>
            <a:r>
              <a:rPr lang="en-IN" dirty="0"/>
              <a:t>Chunk 2: </a:t>
            </a:r>
            <a:r>
              <a:rPr lang="en-IN" dirty="0" err="1"/>
              <a:t>Customer_status</a:t>
            </a:r>
            <a:r>
              <a:rPr lang="en-IN" dirty="0"/>
              <a:t> indicates active/inactive  </a:t>
            </a:r>
            <a:br>
              <a:rPr lang="en-IN" dirty="0"/>
            </a:br>
            <a:r>
              <a:rPr lang="en-IN" dirty="0"/>
              <a:t>Chunk 3: </a:t>
            </a:r>
            <a:r>
              <a:rPr lang="en-IN" dirty="0" err="1"/>
              <a:t>Last_updated</a:t>
            </a:r>
            <a:r>
              <a:rPr lang="en-IN" dirty="0"/>
              <a:t> stores timestamp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4916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F0602-CC2D-2370-5E6E-CC6B2B3A3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Chunking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AFAF7-113D-B117-B9D7-8A7B4BBC3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Fixed Chunking</a:t>
            </a:r>
          </a:p>
          <a:p>
            <a:pPr lvl="1"/>
            <a:r>
              <a:rPr lang="en-US" dirty="0"/>
              <a:t>Split by size (e.g., 500 tokens)</a:t>
            </a:r>
            <a:endParaRPr lang="en-IN" dirty="0"/>
          </a:p>
          <a:p>
            <a:r>
              <a:rPr lang="en-IN" dirty="0"/>
              <a:t>Semantic Chunking</a:t>
            </a:r>
          </a:p>
          <a:p>
            <a:pPr lvl="1"/>
            <a:r>
              <a:rPr lang="en-US" dirty="0"/>
              <a:t>Split based on meaning (sentences/paragraphs)</a:t>
            </a:r>
            <a:endParaRPr lang="en-IN" dirty="0"/>
          </a:p>
          <a:p>
            <a:r>
              <a:rPr lang="en-IN" dirty="0"/>
              <a:t>Hierarchical Chunking</a:t>
            </a:r>
          </a:p>
          <a:p>
            <a:pPr lvl="1"/>
            <a:r>
              <a:rPr lang="en-IN" dirty="0"/>
              <a:t>Multi-level:</a:t>
            </a:r>
          </a:p>
          <a:p>
            <a:pPr lvl="2"/>
            <a:r>
              <a:rPr lang="en-IN" dirty="0"/>
              <a:t>Document → Section → Paragraph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564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40DB-D03D-2FF9-85AC-89C60DA85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Fixed Chunking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099C1-CCD9-F348-B5E0-A02328EE3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by:</a:t>
            </a:r>
          </a:p>
          <a:p>
            <a:r>
              <a:rPr lang="en-US" dirty="0"/>
              <a:t>Characters (e.g., 500 tokens)</a:t>
            </a:r>
          </a:p>
          <a:p>
            <a:r>
              <a:rPr lang="en-US" dirty="0"/>
              <a:t>Words</a:t>
            </a:r>
          </a:p>
          <a:p>
            <a:r>
              <a:rPr lang="en-US" dirty="0"/>
              <a:t>Pros:</a:t>
            </a:r>
          </a:p>
          <a:p>
            <a:pPr lvl="1"/>
            <a:r>
              <a:rPr lang="en-US" dirty="0"/>
              <a:t>Simple</a:t>
            </a:r>
          </a:p>
          <a:p>
            <a:pPr lvl="1"/>
            <a:r>
              <a:rPr lang="en-IN" dirty="0"/>
              <a:t>Fast</a:t>
            </a:r>
            <a:endParaRPr lang="en-US" dirty="0"/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May break meaning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0189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F99C-494A-498E-2033-044FE70CB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Semantic Chunking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9B8AA-2849-F51B-5D26-536F417AD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based on:</a:t>
            </a:r>
          </a:p>
          <a:p>
            <a:pPr lvl="1"/>
            <a:r>
              <a:rPr lang="en-US" dirty="0"/>
              <a:t>Sentence meaning</a:t>
            </a:r>
          </a:p>
          <a:p>
            <a:pPr lvl="1"/>
            <a:r>
              <a:rPr lang="en-US" dirty="0"/>
              <a:t>Paragraph boundaries</a:t>
            </a:r>
          </a:p>
          <a:p>
            <a:pPr lvl="1"/>
            <a:r>
              <a:rPr lang="en-US" dirty="0"/>
              <a:t>Uses NLP models</a:t>
            </a:r>
          </a:p>
          <a:p>
            <a:r>
              <a:rPr lang="en-US" dirty="0"/>
              <a:t>Pros:</a:t>
            </a:r>
          </a:p>
          <a:p>
            <a:pPr lvl="1"/>
            <a:r>
              <a:rPr lang="en-US" dirty="0"/>
              <a:t>Better context preservation</a:t>
            </a:r>
          </a:p>
          <a:p>
            <a:pPr lvl="1"/>
            <a:r>
              <a:rPr lang="en-IN" dirty="0"/>
              <a:t>More accurate retrieval</a:t>
            </a:r>
            <a:endParaRPr lang="en-US" dirty="0"/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More compute intensive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160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735D-81C4-96E1-1F95-C129679E8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Hierarchical Chunking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494D7-CBCB-AB14-17BF-FBBA545AD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Multi-level structure:</a:t>
            </a:r>
          </a:p>
          <a:p>
            <a:pPr lvl="1"/>
            <a:r>
              <a:rPr lang="en-IN" dirty="0"/>
              <a:t>Document → Section → Paragraph</a:t>
            </a:r>
          </a:p>
          <a:p>
            <a:r>
              <a:rPr lang="en-IN" dirty="0"/>
              <a:t>Retrieval:</a:t>
            </a:r>
          </a:p>
          <a:p>
            <a:r>
              <a:rPr lang="en-IN" dirty="0"/>
              <a:t>First coarse → then fine</a:t>
            </a:r>
          </a:p>
          <a:p>
            <a:r>
              <a:rPr lang="en-IN" dirty="0"/>
              <a:t>Pros:</a:t>
            </a:r>
          </a:p>
          <a:p>
            <a:r>
              <a:rPr lang="en-IN" dirty="0"/>
              <a:t>Scalable</a:t>
            </a:r>
          </a:p>
          <a:p>
            <a:r>
              <a:rPr lang="en-IN" dirty="0"/>
              <a:t>Cons:</a:t>
            </a:r>
          </a:p>
          <a:p>
            <a:r>
              <a:rPr lang="en-IN" dirty="0"/>
              <a:t>Complex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150522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DF149-F011-7F4C-63C3-0473C2A35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Chunking Works in RAG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F987E-147D-B2D3-1E23-34D63026D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Document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Chunking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Embeddings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Vector DB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Search → Retrieve relevant chunks</a:t>
            </a:r>
          </a:p>
        </p:txBody>
      </p:sp>
    </p:spTree>
    <p:extLst>
      <p:ext uri="{BB962C8B-B14F-4D97-AF65-F5344CB8AC3E}">
        <p14:creationId xmlns:p14="http://schemas.microsoft.com/office/powerpoint/2010/main" val="1427262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1A17-2E24-5665-B951-E0FD4014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ECF37-9051-D1B9-D888-C38C3134A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chunk overlap (20–50 tokens)</a:t>
            </a:r>
          </a:p>
          <a:p>
            <a:r>
              <a:rPr lang="en-IN" dirty="0"/>
              <a:t>Keep chunks meaningful, not random</a:t>
            </a:r>
          </a:p>
          <a:p>
            <a:r>
              <a:rPr lang="en-IN" dirty="0"/>
              <a:t>Add metadata for filtering</a:t>
            </a:r>
          </a:p>
          <a:p>
            <a:r>
              <a:rPr lang="en-IN" dirty="0"/>
              <a:t>Test retrieval quality</a:t>
            </a:r>
          </a:p>
        </p:txBody>
      </p:sp>
    </p:spTree>
    <p:extLst>
      <p:ext uri="{BB962C8B-B14F-4D97-AF65-F5344CB8AC3E}">
        <p14:creationId xmlns:p14="http://schemas.microsoft.com/office/powerpoint/2010/main" val="1433192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103BF-9B1E-107E-48EC-E5C240430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Embeddings?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5C5AB-8FA8-A102-B612-FA523B2C2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Embeddings are numerical vector representations of text that capture its meaning (semantics).</a:t>
            </a:r>
            <a:endParaRPr lang="en-US" dirty="0"/>
          </a:p>
          <a:p>
            <a:r>
              <a:rPr lang="en-US" dirty="0"/>
              <a:t>Convert text → numbers </a:t>
            </a:r>
          </a:p>
          <a:p>
            <a:r>
              <a:rPr lang="en-US" dirty="0"/>
              <a:t>Similar meaning → similar vectors</a:t>
            </a:r>
          </a:p>
          <a:p>
            <a:endParaRPr lang="en-US" dirty="0"/>
          </a:p>
          <a:p>
            <a:r>
              <a:rPr lang="en-US" b="1" dirty="0"/>
              <a:t>Idea</a:t>
            </a:r>
          </a:p>
          <a:p>
            <a:r>
              <a:rPr lang="en-US" dirty="0"/>
              <a:t>Words that mean similar things are </a:t>
            </a:r>
            <a:r>
              <a:rPr lang="en-US" b="1" dirty="0"/>
              <a:t>close in vector space</a:t>
            </a:r>
            <a:r>
              <a:rPr lang="en-US" dirty="0"/>
              <a:t>:</a:t>
            </a:r>
          </a:p>
          <a:p>
            <a:r>
              <a:rPr lang="en-US" dirty="0"/>
              <a:t>“customer data” ≈ “client information” → close </a:t>
            </a:r>
          </a:p>
          <a:p>
            <a:r>
              <a:rPr lang="en-US" dirty="0"/>
              <a:t>“customer data” vs “weather forecast” → far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9910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BD02E-A1E7-484C-B0DD-4F66EF09E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E7C3-6790-1FF4-D14E-283140EA9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Text:</a:t>
            </a:r>
          </a:p>
          <a:p>
            <a:r>
              <a:rPr lang="en-US" dirty="0"/>
              <a:t>Customer contains name and email</a:t>
            </a:r>
          </a:p>
          <a:p>
            <a:r>
              <a:rPr lang="en-US" dirty="0"/>
              <a:t>Embedding (vector):</a:t>
            </a:r>
          </a:p>
          <a:p>
            <a:r>
              <a:rPr lang="en-US" dirty="0"/>
              <a:t>[0.21, -0.45, 0.78, 0.11, ...]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652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62E05-DA2A-8613-F33E-8400D3D2E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Embeddings are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BD61C-FD86-6549-4EF8-5861589B3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They enable:</a:t>
            </a:r>
          </a:p>
          <a:p>
            <a:pPr lvl="1"/>
            <a:r>
              <a:rPr lang="en-US" dirty="0"/>
              <a:t>Semantic search </a:t>
            </a:r>
          </a:p>
          <a:p>
            <a:pPr lvl="1"/>
            <a:r>
              <a:rPr lang="en-US" dirty="0"/>
              <a:t>Similarity matching </a:t>
            </a:r>
          </a:p>
          <a:p>
            <a:pPr lvl="1"/>
            <a:r>
              <a:rPr lang="en-US" dirty="0"/>
              <a:t>RAG retrieval </a:t>
            </a:r>
          </a:p>
          <a:p>
            <a:r>
              <a:rPr lang="en-US" dirty="0"/>
              <a:t>Without embeddings:</a:t>
            </a:r>
          </a:p>
          <a:p>
            <a:pPr lvl="1"/>
            <a:r>
              <a:rPr lang="en-US" dirty="0"/>
              <a:t>Search = keyword matching </a:t>
            </a:r>
            <a:br>
              <a:rPr lang="en-US" dirty="0"/>
            </a:br>
            <a:r>
              <a:rPr lang="en-US" dirty="0"/>
              <a:t>With embeddings: </a:t>
            </a:r>
          </a:p>
          <a:p>
            <a:pPr lvl="1"/>
            <a:r>
              <a:rPr lang="en-US" dirty="0"/>
              <a:t>Search = meaning-based matching </a:t>
            </a:r>
          </a:p>
          <a:p>
            <a:pPr marL="128016" lvl="1" indent="0">
              <a:buNone/>
            </a:pPr>
            <a:endParaRPr lang="en-US" dirty="0"/>
          </a:p>
          <a:p>
            <a:pPr marL="128016" lvl="1" indent="0">
              <a:buNone/>
            </a:pPr>
            <a:r>
              <a:rPr lang="en-US" dirty="0"/>
              <a:t>User Query</a:t>
            </a:r>
          </a:p>
          <a:p>
            <a:pPr marL="128016" lvl="1" indent="0">
              <a:buNone/>
            </a:pPr>
            <a:r>
              <a:rPr lang="en-US" dirty="0"/>
              <a:t>   ↓</a:t>
            </a:r>
          </a:p>
          <a:p>
            <a:pPr marL="128016" lvl="1" indent="0">
              <a:buNone/>
            </a:pPr>
            <a:r>
              <a:rPr lang="en-US" dirty="0"/>
              <a:t>Convert to embedding</a:t>
            </a:r>
          </a:p>
          <a:p>
            <a:pPr marL="128016" lvl="1" indent="0">
              <a:buNone/>
            </a:pPr>
            <a:r>
              <a:rPr lang="en-US" dirty="0"/>
              <a:t>   ↓</a:t>
            </a:r>
          </a:p>
          <a:p>
            <a:pPr marL="128016" lvl="1" indent="0">
              <a:buNone/>
            </a:pPr>
            <a:r>
              <a:rPr lang="en-US" dirty="0"/>
              <a:t>Compare with stored embeddings</a:t>
            </a:r>
          </a:p>
          <a:p>
            <a:pPr marL="128016" lvl="1" indent="0">
              <a:buNone/>
            </a:pPr>
            <a:r>
              <a:rPr lang="en-US" dirty="0"/>
              <a:t>   ↓</a:t>
            </a:r>
          </a:p>
          <a:p>
            <a:pPr marL="128016" lvl="1" indent="0">
              <a:buNone/>
            </a:pPr>
            <a:r>
              <a:rPr lang="en-US" dirty="0"/>
              <a:t>Retrieve similar chunks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9486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E8654-1B1B-0AF3-C4E0-7C886A206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Embedding Models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1C6A7-702D-9B2C-7B7A-FF738D739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Convert text → vectors </a:t>
            </a:r>
          </a:p>
          <a:p>
            <a:r>
              <a:rPr lang="en-IN" dirty="0"/>
              <a:t>Enable similarity search </a:t>
            </a:r>
          </a:p>
          <a:p>
            <a:r>
              <a:rPr lang="en-IN" dirty="0"/>
              <a:t>Types: </a:t>
            </a:r>
          </a:p>
          <a:p>
            <a:pPr lvl="1"/>
            <a:r>
              <a:rPr lang="en-IN" dirty="0"/>
              <a:t>OpenAI embeddings </a:t>
            </a:r>
          </a:p>
          <a:p>
            <a:pPr lvl="1"/>
            <a:r>
              <a:rPr lang="en-IN" dirty="0"/>
              <a:t>Sentence-transformers </a:t>
            </a:r>
          </a:p>
          <a:p>
            <a:pPr lvl="1"/>
            <a:r>
              <a:rPr lang="en-IN" dirty="0"/>
              <a:t>BGE models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224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OpenAI ada-002</a:t>
            </a:r>
          </a:p>
          <a:p>
            <a:r>
              <a:t>Sentence Transformers</a:t>
            </a:r>
          </a:p>
          <a:p>
            <a:r>
              <a:t>BGE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3118-4A36-405B-8C3B-0E78F22CA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OpenAI Embeddings (ada-002)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4555F-38FB-DBB5-F0C6-15110A813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Model: text-embedding-ada-002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High-quality embeddings</a:t>
            </a:r>
          </a:p>
          <a:p>
            <a:pPr lvl="1"/>
            <a:r>
              <a:rPr lang="en-US" dirty="0"/>
              <a:t>General-purpose</a:t>
            </a:r>
          </a:p>
          <a:p>
            <a:r>
              <a:rPr lang="en-US" dirty="0"/>
              <a:t>Use cases:</a:t>
            </a:r>
          </a:p>
          <a:p>
            <a:r>
              <a:rPr lang="en-US" dirty="0"/>
              <a:t>Search, clustering, RAG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204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01F8-36ED-DF84-0124-963C2D1A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Sentence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8DBA0-76B8-B495-85AD-C0E1FAAA2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Open-source models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all-MiniLM-L6-v2</a:t>
            </a:r>
          </a:p>
          <a:p>
            <a:r>
              <a:rPr lang="en-US" dirty="0"/>
              <a:t>Pros:</a:t>
            </a:r>
          </a:p>
          <a:p>
            <a:r>
              <a:rPr lang="en-US" dirty="0"/>
              <a:t>Fast, lightweight</a:t>
            </a:r>
          </a:p>
          <a:p>
            <a:r>
              <a:rPr lang="en-US" dirty="0"/>
              <a:t>Cons:</a:t>
            </a:r>
          </a:p>
          <a:p>
            <a:r>
              <a:rPr lang="en-US" dirty="0"/>
              <a:t>Slightly lower accuracy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496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EC8C-4254-BF86-466D-782CEEAFE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BGE (BAAI General Embeddings)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EBF5F-4AA3-4399-8DB5-283042C54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BGE (BAAI General Embeddings)</a:t>
            </a:r>
            <a:r>
              <a:rPr lang="en-US" dirty="0"/>
              <a:t> is a family of </a:t>
            </a:r>
            <a:r>
              <a:rPr lang="en-US" b="1" dirty="0"/>
              <a:t>high-performance embedding models</a:t>
            </a:r>
            <a:r>
              <a:rPr lang="en-US" dirty="0"/>
              <a:t> developed by the </a:t>
            </a:r>
            <a:r>
              <a:rPr lang="en-US" b="1" dirty="0"/>
              <a:t>Beijing Academy of Artificial Intelligence (BAAI)</a:t>
            </a:r>
            <a:r>
              <a:rPr lang="en-US" dirty="0"/>
              <a:t>.</a:t>
            </a:r>
          </a:p>
          <a:p>
            <a:r>
              <a:rPr lang="en-US" dirty="0"/>
              <a:t>Converts text → vectors</a:t>
            </a:r>
          </a:p>
          <a:p>
            <a:r>
              <a:rPr lang="en-US" dirty="0"/>
              <a:t>Designed for semantic search &amp; retrieval (RAG)</a:t>
            </a:r>
          </a:p>
          <a:p>
            <a:r>
              <a:rPr lang="en-US" dirty="0"/>
              <a:t>Open-source and widely used</a:t>
            </a:r>
          </a:p>
          <a:p>
            <a:r>
              <a:rPr lang="en-US" dirty="0"/>
              <a:t>State-of-the-art embeddings </a:t>
            </a:r>
          </a:p>
          <a:p>
            <a:r>
              <a:rPr lang="en-US" dirty="0"/>
              <a:t>Strong semantic understanding </a:t>
            </a:r>
          </a:p>
          <a:p>
            <a:r>
              <a:rPr lang="en-US" dirty="0"/>
              <a:t>Variants: </a:t>
            </a:r>
          </a:p>
          <a:p>
            <a:pPr lvl="1"/>
            <a:r>
              <a:rPr lang="en-US" dirty="0" err="1"/>
              <a:t>bge</a:t>
            </a:r>
            <a:r>
              <a:rPr lang="en-US" dirty="0"/>
              <a:t>-small </a:t>
            </a:r>
          </a:p>
          <a:p>
            <a:pPr lvl="1"/>
            <a:r>
              <a:rPr lang="en-US" dirty="0" err="1"/>
              <a:t>bge</a:t>
            </a:r>
            <a:r>
              <a:rPr lang="en-US" dirty="0"/>
              <a:t>-large </a:t>
            </a:r>
          </a:p>
          <a:p>
            <a:r>
              <a:rPr lang="en-US" dirty="0"/>
              <a:t>Great for: </a:t>
            </a:r>
          </a:p>
          <a:p>
            <a:pPr lvl="1"/>
            <a:r>
              <a:rPr lang="en-US" dirty="0"/>
              <a:t>Enterprise RAG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399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C2CA-E609-2411-F507-F5FD7A237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E6A7B-BE66-703C-3F40-0AE820DF8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Query:</a:t>
            </a:r>
          </a:p>
          <a:p>
            <a:r>
              <a:rPr lang="en-US" dirty="0"/>
              <a:t>“Which tables contain customer PII?”</a:t>
            </a:r>
          </a:p>
          <a:p>
            <a:r>
              <a:rPr lang="en-US" b="1" dirty="0"/>
              <a:t>System:</a:t>
            </a:r>
          </a:p>
          <a:p>
            <a:r>
              <a:rPr lang="en-US" dirty="0"/>
              <a:t>Converts query → embedding </a:t>
            </a:r>
          </a:p>
          <a:p>
            <a:r>
              <a:rPr lang="en-US" dirty="0"/>
              <a:t>Matches with stored table descriptions </a:t>
            </a:r>
          </a:p>
          <a:p>
            <a:r>
              <a:rPr lang="en-US" dirty="0"/>
              <a:t>Retrieves relevant tables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9694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235E-B2BA-84A6-FC7A-4D780392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Search vs Embedding Search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B732DE-10E2-1C50-0F27-E5B2E63655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194298"/>
              </p:ext>
            </p:extLst>
          </p:nvPr>
        </p:nvGraphicFramePr>
        <p:xfrm>
          <a:off x="768350" y="2419350"/>
          <a:ext cx="7289800" cy="35718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4900">
                  <a:extLst>
                    <a:ext uri="{9D8B030D-6E8A-4147-A177-3AD203B41FA5}">
                      <a16:colId xmlns:a16="http://schemas.microsoft.com/office/drawing/2014/main" val="1028454967"/>
                    </a:ext>
                  </a:extLst>
                </a:gridCol>
                <a:gridCol w="3644900">
                  <a:extLst>
                    <a:ext uri="{9D8B030D-6E8A-4147-A177-3AD203B41FA5}">
                      <a16:colId xmlns:a16="http://schemas.microsoft.com/office/drawing/2014/main" val="2810055581"/>
                    </a:ext>
                  </a:extLst>
                </a:gridCol>
              </a:tblGrid>
              <a:tr h="1190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Behavior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76365275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Keyword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Exact match only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32700529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Embedding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Meaning-based match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291596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ECE5ABF-77A9-F9D4-FD4D-30A92CC62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822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3807F-7741-73AC-8D77-B45BC71B0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</a:t>
            </a:r>
            <a:r>
              <a:rPr lang="en-US"/>
              <a:t>Comparisions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244407-C3B3-434B-CADE-63508E10CF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5129278"/>
              </p:ext>
            </p:extLst>
          </p:nvPr>
        </p:nvGraphicFramePr>
        <p:xfrm>
          <a:off x="768350" y="2476500"/>
          <a:ext cx="7289800" cy="3619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2450">
                  <a:extLst>
                    <a:ext uri="{9D8B030D-6E8A-4147-A177-3AD203B41FA5}">
                      <a16:colId xmlns:a16="http://schemas.microsoft.com/office/drawing/2014/main" val="3546402125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3727374126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094685419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1765259239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OpenAI ada-002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MiniLM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570146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Accuracy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Very 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23178415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Cost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Paid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Free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Free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1099938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Speed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Fast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5111745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Best for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General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Lightweight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RAG systems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06185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7566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7B4D-1150-C00D-A1B5-39F898AE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Vector Database?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0D93C-2BD1-DD66-661E-56B083FAC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43243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Vector Database (Vector DB)</a:t>
            </a:r>
            <a:r>
              <a:rPr lang="en-US" dirty="0"/>
              <a:t> stores </a:t>
            </a:r>
            <a:r>
              <a:rPr lang="en-US" b="1" dirty="0"/>
              <a:t>embeddings (vectors)</a:t>
            </a:r>
            <a:r>
              <a:rPr lang="en-US" dirty="0"/>
              <a:t> and enables </a:t>
            </a:r>
            <a:r>
              <a:rPr lang="en-US" b="1" dirty="0"/>
              <a:t>fast similarity search</a:t>
            </a:r>
            <a:r>
              <a:rPr lang="en-US" dirty="0"/>
              <a:t>.</a:t>
            </a:r>
          </a:p>
          <a:p>
            <a:r>
              <a:rPr lang="en-US" dirty="0"/>
              <a:t>Instead of searching text → it searches </a:t>
            </a:r>
            <a:r>
              <a:rPr lang="en-US" b="1" dirty="0"/>
              <a:t>meaning</a:t>
            </a:r>
            <a:r>
              <a:rPr lang="en-US" dirty="0"/>
              <a:t> </a:t>
            </a:r>
          </a:p>
          <a:p>
            <a:r>
              <a:rPr lang="en-US" dirty="0"/>
              <a:t>Core for </a:t>
            </a:r>
            <a:r>
              <a:rPr lang="en-US" b="1" dirty="0"/>
              <a:t>RAG systems</a:t>
            </a:r>
            <a:r>
              <a:rPr lang="en-US" dirty="0"/>
              <a:t> </a:t>
            </a:r>
          </a:p>
          <a:p>
            <a:r>
              <a:rPr lang="en-US" b="1" dirty="0"/>
              <a:t>Core IDEA:</a:t>
            </a:r>
          </a:p>
          <a:p>
            <a:r>
              <a:rPr lang="en-US" dirty="0"/>
              <a:t>Traditional DB:</a:t>
            </a:r>
          </a:p>
          <a:p>
            <a:r>
              <a:rPr lang="en-US" dirty="0"/>
              <a:t>Searches exact values </a:t>
            </a:r>
          </a:p>
          <a:p>
            <a:r>
              <a:rPr lang="en-US" dirty="0"/>
              <a:t>Example: WHERE name = 'John' </a:t>
            </a:r>
          </a:p>
          <a:p>
            <a:r>
              <a:rPr lang="en-US" dirty="0"/>
              <a:t>Vector DB:</a:t>
            </a:r>
          </a:p>
          <a:p>
            <a:r>
              <a:rPr lang="en-US" dirty="0"/>
              <a:t>Searches </a:t>
            </a:r>
            <a:r>
              <a:rPr lang="en-US" b="1" dirty="0"/>
              <a:t>similar meaning</a:t>
            </a:r>
            <a:r>
              <a:rPr lang="en-US" dirty="0"/>
              <a:t> </a:t>
            </a:r>
          </a:p>
          <a:p>
            <a:r>
              <a:rPr lang="en-US" dirty="0"/>
              <a:t>Example: “customer data” ≈ “client information”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1344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1C57-9D8A-ADB4-46AA-EDB552A78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125C8-A009-03FF-7415-A7DC3E055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5999"/>
            <a:ext cx="7290055" cy="4448175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Text → Embedding → Store in Vector DB</a:t>
            </a:r>
          </a:p>
          <a:p>
            <a:r>
              <a:rPr lang="en-IN" dirty="0"/>
              <a:t>Query → Embedding → Search similar vectors → Return results</a:t>
            </a:r>
          </a:p>
          <a:p>
            <a:r>
              <a:rPr lang="en-US" b="1" dirty="0"/>
              <a:t>Key Components</a:t>
            </a:r>
          </a:p>
          <a:p>
            <a:r>
              <a:rPr lang="en-US" dirty="0"/>
              <a:t>1. Embeddings</a:t>
            </a:r>
          </a:p>
          <a:p>
            <a:r>
              <a:rPr lang="en-US" dirty="0"/>
              <a:t>Numerical representation of text</a:t>
            </a:r>
          </a:p>
          <a:p>
            <a:r>
              <a:rPr lang="en-US" dirty="0"/>
              <a:t>Stored in the DB</a:t>
            </a:r>
          </a:p>
          <a:p>
            <a:r>
              <a:rPr lang="en-US" dirty="0"/>
              <a:t>2. Index (HNSW, IVF)</a:t>
            </a:r>
          </a:p>
          <a:p>
            <a:r>
              <a:rPr lang="en-US" dirty="0"/>
              <a:t>Organizes vectors for fast search</a:t>
            </a:r>
          </a:p>
          <a:p>
            <a:r>
              <a:rPr lang="en-US" dirty="0"/>
              <a:t>Avoids scanning all data</a:t>
            </a:r>
          </a:p>
          <a:p>
            <a:r>
              <a:rPr lang="en-US" dirty="0"/>
              <a:t>3. Similarity Search</a:t>
            </a:r>
          </a:p>
          <a:p>
            <a:r>
              <a:rPr lang="en-US" dirty="0"/>
              <a:t>Finds closest vectors</a:t>
            </a:r>
          </a:p>
          <a:p>
            <a:r>
              <a:rPr lang="en-US" dirty="0"/>
              <a:t>Uses cosine similarity / dot product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705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5FC17-ED7D-3731-264F-CAC251BA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97CD8-CFA7-3876-69E8-45B7C87CA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Stored Data:</a:t>
            </a:r>
          </a:p>
          <a:p>
            <a:r>
              <a:rPr lang="en-US" dirty="0"/>
              <a:t>Table descriptions embedded </a:t>
            </a:r>
          </a:p>
          <a:p>
            <a:r>
              <a:rPr lang="en-US" b="1" dirty="0"/>
              <a:t>Query:</a:t>
            </a:r>
          </a:p>
          <a:p>
            <a:r>
              <a:rPr lang="en-US" dirty="0"/>
              <a:t>“Which tables contain customer PII?”</a:t>
            </a:r>
          </a:p>
          <a:p>
            <a:r>
              <a:rPr lang="en-US" b="1" dirty="0"/>
              <a:t>Flow:</a:t>
            </a:r>
          </a:p>
          <a:p>
            <a:r>
              <a:rPr lang="en-US" dirty="0"/>
              <a:t>Convert query → vector </a:t>
            </a:r>
          </a:p>
          <a:p>
            <a:r>
              <a:rPr lang="en-US" dirty="0"/>
              <a:t>Compare with stored vectors </a:t>
            </a:r>
          </a:p>
          <a:p>
            <a:r>
              <a:rPr lang="en-US" dirty="0"/>
              <a:t>Return matching tables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7322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Popular Vector Databases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Open Source</a:t>
            </a:r>
          </a:p>
          <a:p>
            <a:r>
              <a:rPr lang="en-US" dirty="0"/>
              <a:t>FAISS </a:t>
            </a:r>
          </a:p>
          <a:p>
            <a:r>
              <a:rPr lang="en-US" dirty="0" err="1"/>
              <a:t>ChromaDB</a:t>
            </a:r>
            <a:r>
              <a:rPr lang="en-US" dirty="0"/>
              <a:t> </a:t>
            </a:r>
          </a:p>
          <a:p>
            <a:r>
              <a:rPr lang="en-US" b="1" dirty="0"/>
              <a:t>Managed</a:t>
            </a:r>
          </a:p>
          <a:p>
            <a:r>
              <a:rPr lang="en-US" dirty="0"/>
              <a:t>Pinecone </a:t>
            </a:r>
          </a:p>
          <a:p>
            <a:r>
              <a:rPr lang="en-US" dirty="0" err="1"/>
              <a:t>Weaviate</a:t>
            </a:r>
            <a:r>
              <a:rPr lang="en-US" dirty="0"/>
              <a:t> </a:t>
            </a:r>
          </a:p>
          <a:p>
            <a:r>
              <a:rPr lang="en-US" b="1" dirty="0"/>
              <a:t>Enterprise</a:t>
            </a:r>
          </a:p>
          <a:p>
            <a:r>
              <a:rPr lang="en-US" dirty="0"/>
              <a:t>Azure AI Search </a:t>
            </a:r>
          </a:p>
          <a:p>
            <a:r>
              <a:rPr lang="en-US" dirty="0"/>
              <a:t>Elasticsearch (vector support)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B244-D096-F8E3-3267-A1A3AB03D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vs Vector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84009D-C6CC-91E5-674E-E81CF45DBD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9471708"/>
              </p:ext>
            </p:extLst>
          </p:nvPr>
        </p:nvGraphicFramePr>
        <p:xfrm>
          <a:off x="768350" y="2486026"/>
          <a:ext cx="7289799" cy="3786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3121023229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3327530152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449107533"/>
                    </a:ext>
                  </a:extLst>
                </a:gridCol>
              </a:tblGrid>
              <a:tr h="757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Traditional DB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Vector DB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3515264"/>
                  </a:ext>
                </a:extLst>
              </a:tr>
              <a:tr h="757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Data 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Structured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Embeddings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44310432"/>
                  </a:ext>
                </a:extLst>
              </a:tr>
              <a:tr h="757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Search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Exact match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Similarity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83513305"/>
                  </a:ext>
                </a:extLst>
              </a:tr>
              <a:tr h="757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Use case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Transactions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AI search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86980557"/>
                  </a:ext>
                </a:extLst>
              </a:tr>
              <a:tr h="757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Speed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Fast (exact)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Fast (approximate)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2390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0530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37D0-BDA0-8D23-72DA-79E69A546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HNSW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BFC6-B772-11B1-A262-C171B2A7C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Navigable Small World</a:t>
            </a:r>
          </a:p>
          <a:p>
            <a:r>
              <a:rPr lang="en-US" dirty="0"/>
              <a:t>Graph-based indexing</a:t>
            </a:r>
          </a:p>
          <a:p>
            <a:r>
              <a:rPr lang="en-US" dirty="0"/>
              <a:t>Fast nearest neighbor search</a:t>
            </a:r>
          </a:p>
          <a:p>
            <a:r>
              <a:rPr lang="en-US" dirty="0"/>
              <a:t>Key idea:</a:t>
            </a:r>
          </a:p>
          <a:p>
            <a:r>
              <a:rPr lang="en-US" dirty="0"/>
              <a:t>Multi-layer graph traversal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45649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46B6-D400-C063-B72C-0FC645D0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Cosine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21E3D-2922-3789-B3A4-6B3F23840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Measures similarity between vectors</a:t>
            </a:r>
          </a:p>
          <a:p>
            <a:r>
              <a:rPr lang="en-US" dirty="0"/>
              <a:t>Formula:</a:t>
            </a:r>
          </a:p>
          <a:p>
            <a:r>
              <a:rPr lang="en-US" dirty="0"/>
              <a:t>Cos(θ) = (A·B) / (|A||B|)</a:t>
            </a:r>
          </a:p>
          <a:p>
            <a:r>
              <a:rPr lang="en-US" dirty="0"/>
              <a:t>Range:</a:t>
            </a:r>
          </a:p>
          <a:p>
            <a:r>
              <a:rPr lang="en-US" dirty="0"/>
              <a:t>-1 to 1</a:t>
            </a:r>
          </a:p>
          <a:p>
            <a:r>
              <a:rPr lang="en-US" dirty="0"/>
              <a:t>Used in:</a:t>
            </a:r>
          </a:p>
          <a:p>
            <a:r>
              <a:rPr lang="en-US" dirty="0"/>
              <a:t>Most RAG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69766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D035-D49A-2E95-0FB8-07DF0EF28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 Search (Approximate Nearest Neighbor)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82255-2A32-3687-1DD4-8FCCA9967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than exact search</a:t>
            </a:r>
          </a:p>
          <a:p>
            <a:r>
              <a:rPr lang="en-US" dirty="0"/>
              <a:t>Trade-off:</a:t>
            </a:r>
          </a:p>
          <a:p>
            <a:r>
              <a:rPr lang="en-US" dirty="0"/>
              <a:t>Speed vs Accuracy</a:t>
            </a:r>
          </a:p>
          <a:p>
            <a:r>
              <a:rPr lang="en-US" dirty="0"/>
              <a:t>Algorithms:</a:t>
            </a:r>
          </a:p>
          <a:p>
            <a:r>
              <a:rPr lang="en-US" dirty="0"/>
              <a:t>HNSW</a:t>
            </a:r>
          </a:p>
          <a:p>
            <a:r>
              <a:rPr lang="en-US" dirty="0"/>
              <a:t>IVF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00704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1BB3-82B1-6397-8477-0A7FD6B71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8C8E2-33DC-6227-6B0C-065A97B18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Documents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Chunking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Embeddings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Vector DB (store)  </a:t>
            </a:r>
            <a:r>
              <a:rPr lang="en-IN" dirty="0">
                <a:sym typeface="Wingdings" panose="05000000000000000000" pitchFamily="2" charset="2"/>
              </a:rPr>
              <a:t> Here we are </a:t>
            </a:r>
            <a:endParaRPr lang="en-IN" dirty="0"/>
          </a:p>
          <a:p>
            <a:r>
              <a:rPr lang="en-IN" dirty="0"/>
              <a:t>   ↓</a:t>
            </a:r>
          </a:p>
          <a:p>
            <a:r>
              <a:rPr lang="en-IN" dirty="0"/>
              <a:t>Query → retrieve relevant chunks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LLM generates answer</a:t>
            </a:r>
          </a:p>
        </p:txBody>
      </p:sp>
    </p:spTree>
    <p:extLst>
      <p:ext uri="{BB962C8B-B14F-4D97-AF65-F5344CB8AC3E}">
        <p14:creationId xmlns:p14="http://schemas.microsoft.com/office/powerpoint/2010/main" val="21735485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Naïve RAG</a:t>
            </a:r>
          </a:p>
          <a:p>
            <a:r>
              <a:rPr dirty="0"/>
              <a:t>Hybrid RAG</a:t>
            </a:r>
          </a:p>
          <a:p>
            <a:r>
              <a:rPr dirty="0"/>
              <a:t>Corrective RAG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Naïve RAG → Google search without filtering</a:t>
            </a:r>
          </a:p>
          <a:p>
            <a:r>
              <a:rPr lang="en-IN" dirty="0"/>
              <a:t>Hybrid RAG → Google + exact keyword match</a:t>
            </a:r>
          </a:p>
          <a:p>
            <a:r>
              <a:rPr lang="en-IN" dirty="0"/>
              <a:t>Corrective RAG → Google + ranking + fact-check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C3D0-2F70-821C-CB35-C273965E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Naïve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FEF60-AE36-0A54-EF95-0B3CA06A2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Basic pipeline: </a:t>
            </a:r>
          </a:p>
          <a:p>
            <a:pPr lvl="1"/>
            <a:r>
              <a:rPr lang="en-IN" dirty="0"/>
              <a:t>Query → Retrieve → Generate </a:t>
            </a:r>
          </a:p>
          <a:p>
            <a:r>
              <a:rPr lang="en-IN" dirty="0"/>
              <a:t>Limitations: </a:t>
            </a:r>
          </a:p>
          <a:p>
            <a:pPr lvl="1"/>
            <a:r>
              <a:rPr lang="en-IN" dirty="0"/>
              <a:t>Irrelevant context </a:t>
            </a:r>
          </a:p>
          <a:p>
            <a:pPr lvl="1"/>
            <a:r>
              <a:rPr lang="en-IN" dirty="0"/>
              <a:t>No validation </a:t>
            </a:r>
          </a:p>
          <a:p>
            <a:r>
              <a:rPr lang="en-US" b="1" dirty="0"/>
              <a:t>How it works</a:t>
            </a:r>
          </a:p>
          <a:p>
            <a:r>
              <a:rPr lang="en-US" dirty="0"/>
              <a:t>Convert query → embedding </a:t>
            </a:r>
          </a:p>
          <a:p>
            <a:r>
              <a:rPr lang="en-US" dirty="0"/>
              <a:t>Retrieve top-K documents from vector DB </a:t>
            </a:r>
          </a:p>
          <a:p>
            <a:r>
              <a:rPr lang="en-US" dirty="0"/>
              <a:t>Pass to LLM → generate answer</a:t>
            </a:r>
            <a:endParaRPr lang="en-IN" dirty="0"/>
          </a:p>
          <a:p>
            <a:r>
              <a:rPr lang="en-US" b="1" dirty="0"/>
              <a:t>Example</a:t>
            </a:r>
          </a:p>
          <a:p>
            <a:r>
              <a:rPr lang="en-US" dirty="0"/>
              <a:t>Query:</a:t>
            </a:r>
            <a:br>
              <a:rPr lang="en-US" dirty="0"/>
            </a:br>
            <a:r>
              <a:rPr lang="en-US" dirty="0"/>
              <a:t>“Which tables contain customer PII?”</a:t>
            </a:r>
          </a:p>
          <a:p>
            <a:r>
              <a:rPr lang="en-US" dirty="0"/>
              <a:t>Retrieves 3 chunks </a:t>
            </a:r>
          </a:p>
          <a:p>
            <a:r>
              <a:rPr lang="en-US" dirty="0"/>
              <a:t>LLM answers based on them</a:t>
            </a:r>
          </a:p>
          <a:p>
            <a:pPr marL="128016" lvl="1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693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A63C-9DBF-9B26-55D4-7BDE4761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Naïve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2776-489A-655A-F770-4448C993F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Problems</a:t>
            </a:r>
          </a:p>
          <a:p>
            <a:r>
              <a:rPr lang="en-US" dirty="0"/>
              <a:t>May retrieve irrelevant data </a:t>
            </a:r>
          </a:p>
          <a:p>
            <a:r>
              <a:rPr lang="en-US" dirty="0"/>
              <a:t>No validation </a:t>
            </a:r>
          </a:p>
          <a:p>
            <a:r>
              <a:rPr lang="en-US" dirty="0"/>
              <a:t>No ranking improvement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Use Case</a:t>
            </a:r>
          </a:p>
          <a:p>
            <a:r>
              <a:rPr lang="en-US" dirty="0"/>
              <a:t>Prototypes </a:t>
            </a:r>
          </a:p>
          <a:p>
            <a:r>
              <a:rPr lang="en-US" dirty="0"/>
              <a:t>Small datasets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7018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9DCF-33F4-EF33-D38D-0FD05B19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Hybrid RAG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27BB6-34A9-176F-3481-78AAAF3F1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Combines:</a:t>
            </a:r>
          </a:p>
          <a:p>
            <a:r>
              <a:rPr lang="en-US" dirty="0"/>
              <a:t>Dense search (embeddings)</a:t>
            </a:r>
          </a:p>
          <a:p>
            <a:r>
              <a:rPr lang="en-US" dirty="0"/>
              <a:t>Sparse search (keywords)</a:t>
            </a:r>
          </a:p>
          <a:p>
            <a:r>
              <a:rPr lang="en-US" dirty="0"/>
              <a:t>Improves:</a:t>
            </a:r>
          </a:p>
          <a:p>
            <a:r>
              <a:rPr lang="en-US" dirty="0"/>
              <a:t>Recall + precision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1971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F5C08-7AD6-73A6-476E-DBB3305B3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F12EA-8F60-1090-8177-CC05EE230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Vector Search (semantic)</a:t>
            </a:r>
          </a:p>
          <a:p>
            <a:r>
              <a:rPr lang="en-US" dirty="0"/>
              <a:t>+</a:t>
            </a:r>
          </a:p>
          <a:p>
            <a:r>
              <a:rPr lang="en-US" dirty="0"/>
              <a:t>Keyword Search (exact)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Combine results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LLM generates answer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0167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B5F0C-1C92-40BB-DC6F-7FB6F05D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Hybrid RAG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340C9-6E67-BFBC-5AA6-20F5F0B4F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needed</a:t>
            </a:r>
          </a:p>
          <a:p>
            <a:r>
              <a:rPr lang="en-US" dirty="0"/>
              <a:t>Embeddings capture meaning </a:t>
            </a:r>
          </a:p>
          <a:p>
            <a:r>
              <a:rPr lang="en-US" dirty="0"/>
              <a:t>Keywords capture exact matches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Example</a:t>
            </a:r>
          </a:p>
          <a:p>
            <a:r>
              <a:rPr lang="en-US" dirty="0"/>
              <a:t>Query:</a:t>
            </a:r>
            <a:br>
              <a:rPr lang="en-US" dirty="0"/>
            </a:br>
            <a:r>
              <a:rPr lang="en-US" dirty="0"/>
              <a:t>“customer PII tables”</a:t>
            </a:r>
          </a:p>
          <a:p>
            <a:r>
              <a:rPr lang="en-US" dirty="0"/>
              <a:t>Vector search → finds semantic matches </a:t>
            </a:r>
          </a:p>
          <a:p>
            <a:r>
              <a:rPr lang="en-US" dirty="0"/>
              <a:t>Keyword search → ensures exact “PII” matches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14334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4E3B9-617F-8E78-C6C6-930BB520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RAG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1C088-C6CC-3CE0-4365-644173071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Benefits</a:t>
            </a:r>
          </a:p>
          <a:p>
            <a:r>
              <a:rPr lang="en-US" dirty="0"/>
              <a:t>Better recall </a:t>
            </a:r>
          </a:p>
          <a:p>
            <a:r>
              <a:rPr lang="en-US" dirty="0"/>
              <a:t>Better precision </a:t>
            </a:r>
          </a:p>
          <a:p>
            <a:r>
              <a:rPr lang="en-US" dirty="0"/>
              <a:t>Works well in real-world data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Use Case</a:t>
            </a:r>
          </a:p>
          <a:p>
            <a:r>
              <a:rPr lang="en-US" dirty="0"/>
              <a:t>Enterprise search </a:t>
            </a:r>
          </a:p>
          <a:p>
            <a:r>
              <a:rPr lang="en-US" dirty="0"/>
              <a:t>Data catalog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85986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21EB1-F52B-507B-7A75-35A7185A3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Corrective RAG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B89A6-013D-3CBF-7BD6-877602E14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Adds validation layer:</a:t>
            </a:r>
          </a:p>
          <a:p>
            <a:r>
              <a:rPr lang="en-US" dirty="0"/>
              <a:t>Re-ranking</a:t>
            </a:r>
          </a:p>
          <a:p>
            <a:r>
              <a:rPr lang="en-US" dirty="0"/>
              <a:t>Feedback loops</a:t>
            </a:r>
          </a:p>
          <a:p>
            <a:r>
              <a:rPr lang="en-US" dirty="0"/>
              <a:t>Techniques:</a:t>
            </a:r>
          </a:p>
          <a:p>
            <a:r>
              <a:rPr lang="en-US" dirty="0"/>
              <a:t>LLM-based filtering</a:t>
            </a:r>
          </a:p>
          <a:p>
            <a:r>
              <a:rPr lang="en-US" dirty="0"/>
              <a:t>Confidence scoring</a:t>
            </a:r>
          </a:p>
          <a:p>
            <a:r>
              <a:rPr lang="en-US" dirty="0"/>
              <a:t>Most advanced approach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1088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44AB-5DFB-84B5-A504-68E494FBA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7C6E3-9079-8D27-A459-2C9AEB395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Retrieve documents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Re-rank / Filter / Validate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LLM generates answer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4372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C68E-3351-3742-156B-CC7DED468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Corrective RAG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6CE56-8B5D-B9B1-F2B0-79969D80B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Enhancements</a:t>
            </a:r>
          </a:p>
          <a:p>
            <a:r>
              <a:rPr lang="en-IN" dirty="0"/>
              <a:t>Re-ranking (most relevant first) </a:t>
            </a:r>
          </a:p>
          <a:p>
            <a:r>
              <a:rPr lang="en-IN" dirty="0"/>
              <a:t>Filtering irrelevant chunks </a:t>
            </a:r>
          </a:p>
          <a:p>
            <a:r>
              <a:rPr lang="en-IN" dirty="0"/>
              <a:t>LLM-based validation </a:t>
            </a:r>
          </a:p>
          <a:p>
            <a:r>
              <a:rPr lang="en-IN" dirty="0"/>
              <a:t>Feedback loops </a:t>
            </a:r>
          </a:p>
          <a:p>
            <a:r>
              <a:rPr lang="en-IN" b="1" dirty="0"/>
              <a:t>Example</a:t>
            </a:r>
          </a:p>
          <a:p>
            <a:r>
              <a:rPr lang="en-IN" dirty="0"/>
              <a:t>Retrieved 5 chunks </a:t>
            </a:r>
          </a:p>
          <a:p>
            <a:r>
              <a:rPr lang="en-IN" dirty="0"/>
              <a:t>System removes irrelevant ones </a:t>
            </a:r>
          </a:p>
          <a:p>
            <a:r>
              <a:rPr lang="en-IN" dirty="0"/>
              <a:t>Keeps only high-confidence data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33774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EC18D-73D3-BB0D-FB47-D0EF221A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Corrective RAG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BE0F5-B396-356B-6A6C-875C25D87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br>
              <a:rPr lang="en-IN" dirty="0"/>
            </a:br>
            <a:endParaRPr lang="en-IN" dirty="0"/>
          </a:p>
          <a:p>
            <a:r>
              <a:rPr lang="en-IN" b="1" dirty="0"/>
              <a:t>Benefits</a:t>
            </a:r>
          </a:p>
          <a:p>
            <a:r>
              <a:rPr lang="en-IN" dirty="0"/>
              <a:t>High accuracy </a:t>
            </a:r>
          </a:p>
          <a:p>
            <a:r>
              <a:rPr lang="en-IN" dirty="0"/>
              <a:t>Reduced hallucination </a:t>
            </a:r>
          </a:p>
          <a:p>
            <a:r>
              <a:rPr lang="en-IN" dirty="0"/>
              <a:t>More reliable answers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Use Case</a:t>
            </a:r>
          </a:p>
          <a:p>
            <a:r>
              <a:rPr lang="en-IN" dirty="0"/>
              <a:t>Production systems </a:t>
            </a:r>
          </a:p>
          <a:p>
            <a:r>
              <a:rPr lang="en-IN" dirty="0"/>
              <a:t>Enterprise AI </a:t>
            </a:r>
          </a:p>
          <a:p>
            <a:r>
              <a:rPr lang="en-IN" dirty="0"/>
              <a:t>Critical decision systems</a:t>
            </a:r>
          </a:p>
        </p:txBody>
      </p:sp>
    </p:spTree>
    <p:extLst>
      <p:ext uri="{BB962C8B-B14F-4D97-AF65-F5344CB8AC3E}">
        <p14:creationId xmlns:p14="http://schemas.microsoft.com/office/powerpoint/2010/main" val="30355281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B6FB-1515-1A02-8B27-9340F627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of RAG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D79626-13AD-4412-8E8C-178DCFAD83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5669869"/>
              </p:ext>
            </p:extLst>
          </p:nvPr>
        </p:nvGraphicFramePr>
        <p:xfrm>
          <a:off x="768350" y="2667000"/>
          <a:ext cx="7289800" cy="36057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2450">
                  <a:extLst>
                    <a:ext uri="{9D8B030D-6E8A-4147-A177-3AD203B41FA5}">
                      <a16:colId xmlns:a16="http://schemas.microsoft.com/office/drawing/2014/main" val="3121779273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773432262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1714594181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843890297"/>
                    </a:ext>
                  </a:extLst>
                </a:gridCol>
              </a:tblGrid>
              <a:tr h="9014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Accuracy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Complexity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Use Case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73227914"/>
                  </a:ext>
                </a:extLst>
              </a:tr>
              <a:tr h="9014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Naïve RAG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Basic apps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25027097"/>
                  </a:ext>
                </a:extLst>
              </a:tr>
              <a:tr h="9014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Hybrid RAG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Search systems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9503511"/>
                  </a:ext>
                </a:extLst>
              </a:tr>
              <a:tr h="9014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Corrective RAG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Enterprise AI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8113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1198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for 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Query data dictionaries</a:t>
            </a:r>
          </a:p>
          <a:p>
            <a:r>
              <a:rPr dirty="0"/>
              <a:t>Pipeline docs</a:t>
            </a:r>
          </a:p>
          <a:p>
            <a:r>
              <a:rPr dirty="0"/>
              <a:t>Metadata search</a:t>
            </a:r>
            <a:endParaRPr lang="en-US" dirty="0"/>
          </a:p>
          <a:p>
            <a:r>
              <a:rPr lang="en-IN" dirty="0"/>
              <a:t>Query: </a:t>
            </a:r>
          </a:p>
          <a:p>
            <a:pPr lvl="1"/>
            <a:r>
              <a:rPr lang="en-IN" dirty="0"/>
              <a:t>Data dictionaries </a:t>
            </a:r>
          </a:p>
          <a:p>
            <a:pPr lvl="1"/>
            <a:r>
              <a:rPr lang="en-IN" dirty="0"/>
              <a:t>Schema definitions </a:t>
            </a:r>
          </a:p>
          <a:p>
            <a:pPr lvl="1"/>
            <a:r>
              <a:rPr lang="en-IN" dirty="0"/>
              <a:t>Pipeline documentation </a:t>
            </a:r>
          </a:p>
          <a:p>
            <a:r>
              <a:rPr lang="en-IN" dirty="0"/>
              <a:t>Enables: </a:t>
            </a:r>
          </a:p>
          <a:p>
            <a:pPr lvl="1"/>
            <a:r>
              <a:rPr lang="en-IN" dirty="0"/>
              <a:t>Self-service analytics </a:t>
            </a:r>
          </a:p>
          <a:p>
            <a:pPr lvl="1"/>
            <a:r>
              <a:rPr lang="en-IN" dirty="0"/>
              <a:t>Faster debugging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A2AA5-90A7-B4CC-1F2F-A49BD0B1C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 in 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77B8-A365-8167-649D-EBF2934A2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Metadata search</a:t>
            </a:r>
          </a:p>
          <a:p>
            <a:r>
              <a:rPr lang="en-IN" dirty="0"/>
              <a:t>SQL generation</a:t>
            </a:r>
          </a:p>
          <a:p>
            <a:r>
              <a:rPr lang="en-IN" dirty="0"/>
              <a:t>Pipeline troubleshooting</a:t>
            </a:r>
          </a:p>
          <a:p>
            <a:r>
              <a:rPr lang="en-IN" dirty="0"/>
              <a:t>Data </a:t>
            </a:r>
            <a:r>
              <a:rPr lang="en-IN" dirty="0" err="1"/>
              <a:t>catalog</a:t>
            </a:r>
            <a:r>
              <a:rPr lang="en-IN" dirty="0"/>
              <a:t> querying</a:t>
            </a:r>
          </a:p>
        </p:txBody>
      </p:sp>
    </p:spTree>
    <p:extLst>
      <p:ext uri="{BB962C8B-B14F-4D97-AF65-F5344CB8AC3E}">
        <p14:creationId xmlns:p14="http://schemas.microsoft.com/office/powerpoint/2010/main" val="34034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5AAE-6E75-8666-23F9-ED0E2948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Data Dictionary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D654F-961F-7F41-ABDB-CE0EF4803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Query:</a:t>
            </a:r>
            <a:br>
              <a:rPr lang="en-US" dirty="0"/>
            </a:br>
            <a:r>
              <a:rPr lang="en-US" dirty="0"/>
              <a:t>“What does </a:t>
            </a:r>
            <a:r>
              <a:rPr lang="en-US" dirty="0" err="1"/>
              <a:t>customer_status</a:t>
            </a:r>
            <a:r>
              <a:rPr lang="en-US" dirty="0"/>
              <a:t> mean?”</a:t>
            </a:r>
          </a:p>
          <a:p>
            <a:r>
              <a:rPr lang="en-US" dirty="0"/>
              <a:t>RAG Flow:</a:t>
            </a:r>
          </a:p>
          <a:p>
            <a:r>
              <a:rPr lang="en-US" dirty="0"/>
              <a:t>Retrieve schema docs </a:t>
            </a:r>
          </a:p>
          <a:p>
            <a:r>
              <a:rPr lang="en-US" dirty="0"/>
              <a:t>Augment context </a:t>
            </a:r>
          </a:p>
          <a:p>
            <a:r>
              <a:rPr lang="en-US" dirty="0"/>
              <a:t>Generate explanation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9928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AI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Vector + Full-text search</a:t>
            </a:r>
          </a:p>
          <a:p>
            <a:r>
              <a:rPr dirty="0"/>
              <a:t>Hybrid retrieval</a:t>
            </a:r>
          </a:p>
          <a:p>
            <a:r>
              <a:rPr dirty="0"/>
              <a:t>Enterprise-ready</a:t>
            </a:r>
            <a:endParaRPr lang="en-US" dirty="0"/>
          </a:p>
          <a:p>
            <a:endParaRPr lang="en-IN" dirty="0"/>
          </a:p>
          <a:p>
            <a:r>
              <a:rPr lang="en-US" dirty="0"/>
              <a:t>Microsoft’s search + vector DB</a:t>
            </a:r>
          </a:p>
          <a:p>
            <a:r>
              <a:rPr lang="en-US" dirty="0"/>
              <a:t>Supports:</a:t>
            </a:r>
          </a:p>
          <a:p>
            <a:pPr lvl="1"/>
            <a:r>
              <a:rPr lang="en-US" dirty="0"/>
              <a:t>Full-text search</a:t>
            </a:r>
          </a:p>
          <a:p>
            <a:pPr lvl="1"/>
            <a:r>
              <a:rPr lang="en-US" dirty="0"/>
              <a:t>Vector search</a:t>
            </a:r>
          </a:p>
          <a:p>
            <a:pPr lvl="1"/>
            <a:r>
              <a:rPr lang="en-US" dirty="0"/>
              <a:t>Hybrid search</a:t>
            </a: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3A1C0-BF25-DDFD-F6CA-3188B7434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AI Search + RAG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465C5-73BA-917C-24FA-975C5DE45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ingestion </a:t>
            </a:r>
          </a:p>
          <a:p>
            <a:r>
              <a:rPr lang="en-US" dirty="0"/>
              <a:t>Index creation </a:t>
            </a:r>
          </a:p>
          <a:p>
            <a:r>
              <a:rPr lang="en-US" dirty="0"/>
              <a:t>Embedding generation </a:t>
            </a:r>
          </a:p>
          <a:p>
            <a:r>
              <a:rPr lang="en-US" dirty="0"/>
              <a:t>Query processing </a:t>
            </a:r>
          </a:p>
          <a:p>
            <a:r>
              <a:rPr lang="en-US" dirty="0"/>
              <a:t>LLM response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6607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4A51C-1843-0B7A-B4C2-ACEBE84F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Azure AI Search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51DD-83CD-F202-385A-F073547C7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Built-in vector indexing</a:t>
            </a:r>
          </a:p>
          <a:p>
            <a:r>
              <a:rPr lang="en-US" dirty="0"/>
              <a:t>Hybrid search capability</a:t>
            </a:r>
          </a:p>
          <a:p>
            <a:r>
              <a:rPr lang="en-US" dirty="0"/>
              <a:t>Security &amp; RBAC</a:t>
            </a:r>
          </a:p>
          <a:p>
            <a:r>
              <a:rPr lang="en-US" dirty="0"/>
              <a:t>Scalable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2764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E830-7676-CFFC-7646-A7B9DAC62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Integration Flow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ECF2A-BB71-9792-E16A-8FFA8D8AF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Upload documents</a:t>
            </a:r>
          </a:p>
          <a:p>
            <a:r>
              <a:rPr lang="en-IN" dirty="0"/>
              <a:t>Chunk + embed</a:t>
            </a:r>
          </a:p>
          <a:p>
            <a:r>
              <a:rPr lang="en-IN" dirty="0"/>
              <a:t>Store in Azure AI Search</a:t>
            </a:r>
          </a:p>
          <a:p>
            <a:r>
              <a:rPr lang="en-IN" dirty="0"/>
              <a:t>Query → retrieve → LLM</a:t>
            </a:r>
          </a:p>
        </p:txBody>
      </p:sp>
    </p:spTree>
    <p:extLst>
      <p:ext uri="{BB962C8B-B14F-4D97-AF65-F5344CB8AC3E}">
        <p14:creationId xmlns:p14="http://schemas.microsoft.com/office/powerpoint/2010/main" val="13277726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166FE-DA8A-1879-7E49-60C89E24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Architecture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33E2D-180D-B1A6-C026-9EEB2EF08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User → API → Azure Search → LLM → Response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6778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4E36-4CD2-1DA0-C6A1-93D066CAB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in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E2051-2AE5-0AB1-0321-DA3C04E67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Chunking strategy</a:t>
            </a:r>
          </a:p>
          <a:p>
            <a:r>
              <a:rPr lang="en-US" dirty="0"/>
              <a:t>Context window limits</a:t>
            </a:r>
          </a:p>
          <a:p>
            <a:r>
              <a:rPr lang="en-US" dirty="0"/>
              <a:t>Latency</a:t>
            </a:r>
          </a:p>
          <a:p>
            <a:r>
              <a:rPr lang="en-US" dirty="0"/>
              <a:t>Data freshness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2740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6AD24-2F8A-4F02-8A38-07B850992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530A6-4C58-159F-F91A-73CDD3EC9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hybrid retrieval </a:t>
            </a:r>
          </a:p>
          <a:p>
            <a:r>
              <a:rPr lang="en-IN" dirty="0"/>
              <a:t>Optimize chunk size </a:t>
            </a:r>
          </a:p>
          <a:p>
            <a:r>
              <a:rPr lang="en-IN" dirty="0"/>
              <a:t>Cache embeddings </a:t>
            </a:r>
          </a:p>
          <a:p>
            <a:r>
              <a:rPr lang="en-IN" dirty="0"/>
              <a:t>Monitor retrieval quality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5571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FA4A-1A97-1349-6011-8DFC62F5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of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4A2B0-61BB-8ACD-333A-C2ECFBA2D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Agentic RAG</a:t>
            </a:r>
          </a:p>
          <a:p>
            <a:r>
              <a:rPr lang="en-US" dirty="0"/>
              <a:t>Self-healing pipelines</a:t>
            </a:r>
          </a:p>
          <a:p>
            <a:r>
              <a:rPr lang="en-US" dirty="0"/>
              <a:t>Multi-modal RAG</a:t>
            </a:r>
          </a:p>
          <a:p>
            <a:r>
              <a:rPr lang="en-US" dirty="0"/>
              <a:t>Real-time streaming RAG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3788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RAG </a:t>
            </a:r>
            <a:r>
              <a:rPr lang="en-US" dirty="0"/>
              <a:t>is essential for enterprise AI</a:t>
            </a:r>
          </a:p>
          <a:p>
            <a:r>
              <a:rPr lang="en-US" dirty="0"/>
              <a:t>Improves reliability of LLMs</a:t>
            </a:r>
          </a:p>
          <a:p>
            <a:r>
              <a:rPr lang="en-US" dirty="0"/>
              <a:t>Critical for Data Engineering workflows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78</TotalTime>
  <Words>1903</Words>
  <Application>Microsoft Office PowerPoint</Application>
  <PresentationFormat>On-screen Show (4:3)</PresentationFormat>
  <Paragraphs>591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Retrieval-Augmented Generation (RAG) &amp; Enterprise Data Engineering</vt:lpstr>
      <vt:lpstr>Agenda</vt:lpstr>
      <vt:lpstr>What is RAG?</vt:lpstr>
      <vt:lpstr>Why RAG is Important</vt:lpstr>
      <vt:lpstr>RAG</vt:lpstr>
      <vt:lpstr>RAG Architecture</vt:lpstr>
      <vt:lpstr>Step 1 - Retrieve</vt:lpstr>
      <vt:lpstr>Step 2 - Augment</vt:lpstr>
      <vt:lpstr>Step 3 - Generate</vt:lpstr>
      <vt:lpstr>Context vs RAG</vt:lpstr>
      <vt:lpstr>How They Work Together</vt:lpstr>
      <vt:lpstr>Example</vt:lpstr>
      <vt:lpstr>When to Use What</vt:lpstr>
      <vt:lpstr>Prompting VS RAG VS FINE-Tuning</vt:lpstr>
      <vt:lpstr>Document Chunking</vt:lpstr>
      <vt:lpstr>Why Chunking is Needed</vt:lpstr>
      <vt:lpstr>Example</vt:lpstr>
      <vt:lpstr>Types of Chunking</vt:lpstr>
      <vt:lpstr>Fixed Chunking</vt:lpstr>
      <vt:lpstr>Semantic Chunking</vt:lpstr>
      <vt:lpstr>Hierarchical Chunking</vt:lpstr>
      <vt:lpstr>How Chunking Works in RAG</vt:lpstr>
      <vt:lpstr>Best Practices</vt:lpstr>
      <vt:lpstr>What are Embeddings?</vt:lpstr>
      <vt:lpstr>Example</vt:lpstr>
      <vt:lpstr>Why Embeddings are Important</vt:lpstr>
      <vt:lpstr>Embedding Models Overview</vt:lpstr>
      <vt:lpstr>Embedding Models</vt:lpstr>
      <vt:lpstr>OpenAI Embeddings (ada-002)</vt:lpstr>
      <vt:lpstr>Sentence Transformers</vt:lpstr>
      <vt:lpstr>BGE (BAAI General Embeddings)</vt:lpstr>
      <vt:lpstr>Real Example </vt:lpstr>
      <vt:lpstr>Keyword Search vs Embedding Search</vt:lpstr>
      <vt:lpstr>Models Comparisions</vt:lpstr>
      <vt:lpstr>What is a Vector Database?</vt:lpstr>
      <vt:lpstr>How It Works</vt:lpstr>
      <vt:lpstr>Example </vt:lpstr>
      <vt:lpstr>Popular Vector Databases</vt:lpstr>
      <vt:lpstr>Traditional vs Vector</vt:lpstr>
      <vt:lpstr>HNSW Index</vt:lpstr>
      <vt:lpstr>Cosine Similarity</vt:lpstr>
      <vt:lpstr>ANN Search (Approximate Nearest Neighbor)</vt:lpstr>
      <vt:lpstr>FLOW</vt:lpstr>
      <vt:lpstr>RAG Types</vt:lpstr>
      <vt:lpstr>Naïve RAG</vt:lpstr>
      <vt:lpstr>Naïve RAG</vt:lpstr>
      <vt:lpstr>Hybrid RAG</vt:lpstr>
      <vt:lpstr>How it works</vt:lpstr>
      <vt:lpstr>Hybrid RAG</vt:lpstr>
      <vt:lpstr>Hybrid RAG</vt:lpstr>
      <vt:lpstr>Corrective RAG</vt:lpstr>
      <vt:lpstr>How it works</vt:lpstr>
      <vt:lpstr>Corrective RAG</vt:lpstr>
      <vt:lpstr>Corrective RAG</vt:lpstr>
      <vt:lpstr>Comparison of RAG Types</vt:lpstr>
      <vt:lpstr>RAG for Data Engineering</vt:lpstr>
      <vt:lpstr>Use Cases in DE</vt:lpstr>
      <vt:lpstr>Example - Data Dictionary Query</vt:lpstr>
      <vt:lpstr>Azure AI Search</vt:lpstr>
      <vt:lpstr>Azure AI Search + RAG Architecture</vt:lpstr>
      <vt:lpstr>Key Features of Azure AI Search</vt:lpstr>
      <vt:lpstr>Integration Flow </vt:lpstr>
      <vt:lpstr>Sample Architecture Diagram</vt:lpstr>
      <vt:lpstr>Challenges in RAG</vt:lpstr>
      <vt:lpstr>Best Practices</vt:lpstr>
      <vt:lpstr>Future of RAG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202</cp:revision>
  <dcterms:created xsi:type="dcterms:W3CDTF">2013-01-27T09:14:16Z</dcterms:created>
  <dcterms:modified xsi:type="dcterms:W3CDTF">2026-04-30T05:40:29Z</dcterms:modified>
  <cp:category/>
</cp:coreProperties>
</file>