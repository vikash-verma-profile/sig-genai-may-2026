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78" r:id="rId10"/>
    <p:sldId id="276" r:id="rId11"/>
    <p:sldId id="275" r:id="rId12"/>
    <p:sldId id="279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23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9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053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47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8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8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8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9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45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4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304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53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437E-E3E1-FEFF-BEC7-9B11C4D486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Model Context Protocol (MCP) &amp; AI Tool Integration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47044-6D59-B87E-DC76-3756791F8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Verma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241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MCP Overview</a:t>
            </a:r>
          </a:p>
          <a:p>
            <a:r>
              <a:rPr dirty="0"/>
              <a:t>• Tool/Function Calling</a:t>
            </a:r>
          </a:p>
          <a:p>
            <a:r>
              <a:rPr dirty="0"/>
              <a:t>• MCP Servers</a:t>
            </a:r>
          </a:p>
          <a:p>
            <a:r>
              <a:rPr dirty="0"/>
              <a:t>• </a:t>
            </a:r>
            <a:r>
              <a:t>API Integration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Standard for connecting LLMs with tools</a:t>
            </a:r>
          </a:p>
          <a:p>
            <a:r>
              <a:rPr dirty="0"/>
              <a:t>• Enables structured communication</a:t>
            </a:r>
          </a:p>
          <a:p>
            <a:r>
              <a:rPr dirty="0"/>
              <a:t>• Improves reliability of AI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MCP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hallucinations</a:t>
            </a:r>
          </a:p>
          <a:p>
            <a:r>
              <a:t>• Enables real-world automation</a:t>
            </a:r>
          </a:p>
          <a:p>
            <a:r>
              <a:t>• Standardizes integrations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 (LLM)</a:t>
            </a:r>
          </a:p>
          <a:p>
            <a:r>
              <a:t>• MCP Server</a:t>
            </a:r>
          </a:p>
          <a:p>
            <a:r>
              <a:t>• Tools/Resources</a:t>
            </a:r>
          </a:p>
          <a:p>
            <a:r>
              <a:t>• Communication via JSON-RPC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Tool/Function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LLM calls predefined functions</a:t>
            </a:r>
          </a:p>
          <a:p>
            <a:r>
              <a:t>• Structured inputs/outputs</a:t>
            </a:r>
          </a:p>
          <a:p>
            <a:r>
              <a:t>• Supported by OpenAI, Claude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LLM → Function Call → Tool Execution →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8DC2-3CC6-ED91-F5EE-41379CA75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vs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FF2E-C692-BAA8-7691-C7893035D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447675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HTTP (</a:t>
            </a:r>
            <a:r>
              <a:rPr lang="en-US" b="1" dirty="0" err="1"/>
              <a:t>HyperText</a:t>
            </a:r>
            <a:r>
              <a:rPr lang="en-US" b="1" dirty="0"/>
              <a:t> Transfer Protocol)</a:t>
            </a:r>
          </a:p>
          <a:p>
            <a:r>
              <a:rPr lang="en-US" dirty="0"/>
              <a:t>A </a:t>
            </a:r>
            <a:r>
              <a:rPr lang="en-US" b="1" dirty="0"/>
              <a:t>network protocol</a:t>
            </a:r>
            <a:r>
              <a:rPr lang="en-US" dirty="0"/>
              <a:t> </a:t>
            </a:r>
          </a:p>
          <a:p>
            <a:r>
              <a:rPr lang="en-US" dirty="0"/>
              <a:t>Used to send data between: </a:t>
            </a:r>
          </a:p>
          <a:p>
            <a:pPr lvl="1"/>
            <a:r>
              <a:rPr lang="en-US" dirty="0"/>
              <a:t>Client ↔ Server </a:t>
            </a:r>
          </a:p>
          <a:p>
            <a:r>
              <a:rPr lang="en-US" dirty="0"/>
              <a:t>Works via: </a:t>
            </a:r>
          </a:p>
          <a:p>
            <a:pPr lvl="1"/>
            <a:r>
              <a:rPr lang="en-US" dirty="0"/>
              <a:t>GET, POST, PUT, DELETE</a:t>
            </a:r>
          </a:p>
          <a:p>
            <a:r>
              <a:rPr lang="en-US" b="1" dirty="0"/>
              <a:t>MCP (Model Context Protocol)</a:t>
            </a:r>
          </a:p>
          <a:p>
            <a:r>
              <a:rPr lang="en-US" dirty="0"/>
              <a:t>An </a:t>
            </a:r>
            <a:r>
              <a:rPr lang="en-US" b="1" dirty="0"/>
              <a:t>AI interaction protocol</a:t>
            </a:r>
            <a:r>
              <a:rPr lang="en-US" dirty="0"/>
              <a:t> </a:t>
            </a:r>
          </a:p>
          <a:p>
            <a:r>
              <a:rPr lang="en-US" dirty="0"/>
              <a:t>Defines: </a:t>
            </a:r>
          </a:p>
          <a:p>
            <a:pPr lvl="1"/>
            <a:r>
              <a:rPr lang="en-US" dirty="0"/>
              <a:t>How LLM chooses tools </a:t>
            </a:r>
          </a:p>
          <a:p>
            <a:pPr lvl="1"/>
            <a:r>
              <a:rPr lang="en-US" dirty="0"/>
              <a:t>How tool calls are structured </a:t>
            </a:r>
          </a:p>
          <a:p>
            <a:pPr lvl="1"/>
            <a:r>
              <a:rPr lang="en-US" dirty="0"/>
              <a:t>How results are returned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16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5715-5F5A-642D-A98A-9B1BFD3E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vs HTTP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1986D8-57D5-0865-A908-4DD98560BC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260353"/>
              </p:ext>
            </p:extLst>
          </p:nvPr>
        </p:nvGraphicFramePr>
        <p:xfrm>
          <a:off x="768350" y="2752726"/>
          <a:ext cx="7289799" cy="3520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4279529364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3178640220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3165220429"/>
                    </a:ext>
                  </a:extLst>
                </a:gridCol>
              </a:tblGrid>
              <a:tr h="704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Layer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MCP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HTTP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20789951"/>
                  </a:ext>
                </a:extLst>
              </a:tr>
              <a:tr h="704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AI protocol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Network protocol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7920745"/>
                  </a:ext>
                </a:extLst>
              </a:tr>
              <a:tr h="704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Level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Application logic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Transport layer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85299643"/>
                  </a:ext>
                </a:extLst>
              </a:tr>
              <a:tr h="704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Tool interaction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Data transfer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4150167"/>
                  </a:ext>
                </a:extLst>
              </a:tr>
              <a:tr h="704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Understands intent?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8914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818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813F-948E-D46C-6231-9F62A9926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vs </a:t>
            </a:r>
            <a:r>
              <a:rPr lang="en-IN" dirty="0" err="1"/>
              <a:t>LangChain</a:t>
            </a:r>
            <a:r>
              <a:rPr lang="en-IN" dirty="0"/>
              <a:t>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CCD55-F2A5-903B-E578-F260C0D66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MCP = a protocol (standard)</a:t>
            </a:r>
            <a:br>
              <a:rPr lang="en-US" dirty="0"/>
            </a:br>
            <a:r>
              <a:rPr lang="en-US" b="1" dirty="0" err="1"/>
              <a:t>LangChain</a:t>
            </a:r>
            <a:r>
              <a:rPr lang="en-US" b="1" dirty="0"/>
              <a:t> Tools = a framework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098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6321-01C8-A2F6-4054-B556A1E3B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vs </a:t>
            </a:r>
            <a:r>
              <a:rPr lang="en-US" dirty="0" err="1"/>
              <a:t>LaNGCHAIN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7DDDB5-F2CD-E121-16C8-677DF6308B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110399"/>
              </p:ext>
            </p:extLst>
          </p:nvPr>
        </p:nvGraphicFramePr>
        <p:xfrm>
          <a:off x="768350" y="2876551"/>
          <a:ext cx="7289799" cy="3095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770186469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2995551752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1872998349"/>
                    </a:ext>
                  </a:extLst>
                </a:gridCol>
              </a:tblGrid>
              <a:tr h="442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Feature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MCP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LangChain Tools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19938172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Protocol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Framework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23360527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Standardized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58148900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Language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Any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Mostly Python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27524148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Execution Layer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External (API/server)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Inside app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9802701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Flexibility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Medium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4543331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Industry Adoption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Growing fast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Already popular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3945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824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C31F-FD00-821E-C582-C199BA02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43434D-8BEA-12EC-095D-ED36504C5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7425319"/>
              </p:ext>
            </p:extLst>
          </p:nvPr>
        </p:nvGraphicFramePr>
        <p:xfrm>
          <a:off x="768350" y="2590800"/>
          <a:ext cx="7289800" cy="36819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1474819543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212027618"/>
                    </a:ext>
                  </a:extLst>
                </a:gridCol>
              </a:tblGrid>
              <a:tr h="7363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Concept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Real Life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9714492"/>
                  </a:ext>
                </a:extLst>
              </a:tr>
              <a:tr h="7363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HTTP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Road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97890956"/>
                  </a:ext>
                </a:extLst>
              </a:tr>
              <a:tr h="7363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MCP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Driving rules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95838032"/>
                  </a:ext>
                </a:extLst>
              </a:tr>
              <a:tr h="7363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Tool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Destination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77550060"/>
                  </a:ext>
                </a:extLst>
              </a:tr>
              <a:tr h="7363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LLM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Driver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9567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4279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Snowflake</a:t>
            </a:r>
          </a:p>
          <a:p>
            <a:r>
              <a:t>• PostgreSQL</a:t>
            </a:r>
          </a:p>
          <a:p>
            <a:r>
              <a:t>• File Systems</a:t>
            </a:r>
          </a:p>
          <a:p>
            <a:r>
              <a:t>• Custom APIs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MCP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Query data using natural language</a:t>
            </a:r>
          </a:p>
          <a:p>
            <a:r>
              <a:t>• Generate SQL automatically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PostgreSQL MCP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CRUD operations via LLM</a:t>
            </a:r>
          </a:p>
          <a:p>
            <a:r>
              <a:t>• Data exploration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System MCP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Read/write files</a:t>
            </a:r>
          </a:p>
          <a:p>
            <a:r>
              <a:t>• Automate document workflows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Connect external services</a:t>
            </a:r>
          </a:p>
          <a:p>
            <a:r>
              <a:t>• REST APIs</a:t>
            </a:r>
          </a:p>
          <a:p>
            <a:r>
              <a:t>• Authentication handling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asks → LLM → API call → Data retrieved → Answer generated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 clear schemas</a:t>
            </a:r>
          </a:p>
          <a:p>
            <a:r>
              <a:t>• Validate inputs</a:t>
            </a:r>
          </a:p>
          <a:p>
            <a:r>
              <a:t>• Handle errors gracefully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API keys management</a:t>
            </a:r>
          </a:p>
          <a:p>
            <a:r>
              <a:t>• Role-based access</a:t>
            </a:r>
          </a:p>
          <a:p>
            <a:r>
              <a:t>• Data privacy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113</TotalTime>
  <Words>369</Words>
  <Application>Microsoft Office PowerPoint</Application>
  <PresentationFormat>On-screen Show (4:3)</PresentationFormat>
  <Paragraphs>118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Tw Cen MT</vt:lpstr>
      <vt:lpstr>Tw Cen MT Condensed</vt:lpstr>
      <vt:lpstr>Wingdings 3</vt:lpstr>
      <vt:lpstr>Integral</vt:lpstr>
      <vt:lpstr>Model Context Protocol (MCP) &amp; AI Tool Integration</vt:lpstr>
      <vt:lpstr>Agenda</vt:lpstr>
      <vt:lpstr>What is MCP?</vt:lpstr>
      <vt:lpstr>Why MCP Matters</vt:lpstr>
      <vt:lpstr>MCP Architecture</vt:lpstr>
      <vt:lpstr>Tool/Function Calling</vt:lpstr>
      <vt:lpstr>Example Flow</vt:lpstr>
      <vt:lpstr>MCP vs HTTP</vt:lpstr>
      <vt:lpstr>MCP vs HTTP</vt:lpstr>
      <vt:lpstr>MCP vs LangChain Tools</vt:lpstr>
      <vt:lpstr>MCP vs LaNGCHAIN</vt:lpstr>
      <vt:lpstr>Concepts</vt:lpstr>
      <vt:lpstr>MCP Servers</vt:lpstr>
      <vt:lpstr>Snowflake MCP Use Case</vt:lpstr>
      <vt:lpstr>PostgreSQL MCP Use Case</vt:lpstr>
      <vt:lpstr>File System MCP Use Case</vt:lpstr>
      <vt:lpstr>API Integration</vt:lpstr>
      <vt:lpstr>Workflow Example</vt:lpstr>
      <vt:lpstr>Best Practices</vt:lpstr>
      <vt:lpstr>Security Considerations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14</cp:revision>
  <dcterms:created xsi:type="dcterms:W3CDTF">2013-01-27T09:14:16Z</dcterms:created>
  <dcterms:modified xsi:type="dcterms:W3CDTF">2026-05-04T05:44:28Z</dcterms:modified>
  <cp:category/>
</cp:coreProperties>
</file>