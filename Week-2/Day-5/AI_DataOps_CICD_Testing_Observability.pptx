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87" r:id="rId4"/>
    <p:sldId id="258" r:id="rId5"/>
    <p:sldId id="288" r:id="rId6"/>
    <p:sldId id="259" r:id="rId7"/>
    <p:sldId id="289" r:id="rId8"/>
    <p:sldId id="260" r:id="rId9"/>
    <p:sldId id="290" r:id="rId10"/>
    <p:sldId id="291" r:id="rId11"/>
    <p:sldId id="262" r:id="rId12"/>
    <p:sldId id="263" r:id="rId13"/>
    <p:sldId id="264" r:id="rId14"/>
    <p:sldId id="292" r:id="rId15"/>
    <p:sldId id="265" r:id="rId16"/>
    <p:sldId id="266" r:id="rId17"/>
    <p:sldId id="267" r:id="rId18"/>
    <p:sldId id="293" r:id="rId19"/>
    <p:sldId id="268" r:id="rId20"/>
    <p:sldId id="294" r:id="rId21"/>
    <p:sldId id="269" r:id="rId22"/>
    <p:sldId id="270" r:id="rId23"/>
    <p:sldId id="271" r:id="rId24"/>
    <p:sldId id="295" r:id="rId25"/>
    <p:sldId id="272" r:id="rId26"/>
    <p:sldId id="296" r:id="rId27"/>
    <p:sldId id="273" r:id="rId28"/>
    <p:sldId id="274" r:id="rId29"/>
    <p:sldId id="275" r:id="rId30"/>
    <p:sldId id="297" r:id="rId31"/>
    <p:sldId id="276" r:id="rId32"/>
    <p:sldId id="277" r:id="rId33"/>
    <p:sldId id="278" r:id="rId34"/>
    <p:sldId id="298" r:id="rId35"/>
    <p:sldId id="279" r:id="rId36"/>
    <p:sldId id="280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4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6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81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4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0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0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7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4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66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3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25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13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DataOps: CI/CD, Testing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testing, observability, and automation for modern DataOps platforms</a:t>
            </a:r>
          </a:p>
          <a:p>
            <a:r>
              <a:t>Focus on pytest, GitHub Actions, Great Expectations, Azure Monitor, Grafana AI Assist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unit &amp; integration tests</a:t>
            </a:r>
          </a:p>
          <a:p>
            <a:r>
              <a:t>GitHub Actions &amp; Azure DevOps YAML generation</a:t>
            </a:r>
          </a:p>
          <a:p>
            <a:r>
              <a:t>Schema contract testing</a:t>
            </a:r>
          </a:p>
          <a:p>
            <a:r>
              <a:t>Observability automation</a:t>
            </a:r>
          </a:p>
          <a:p>
            <a:r>
              <a:t>LLM-based log analysis</a:t>
            </a:r>
          </a:p>
          <a:p>
            <a:r>
              <a:t>RAG chatbot over pipeline logs</a:t>
            </a:r>
          </a:p>
          <a:p>
            <a:r>
              <a:t>AI-generated KPI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E0A6-C79A-3698-B323-57883056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AI in </a:t>
            </a:r>
            <a:r>
              <a:rPr lang="en-IN" dirty="0" err="1"/>
              <a:t>DataOps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8717-D5DE-DFF1-83C6-65CD52E3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448175"/>
          </a:xfrm>
        </p:spPr>
        <p:txBody>
          <a:bodyPr>
            <a:normAutofit/>
          </a:bodyPr>
          <a:lstStyle/>
          <a:p>
            <a:r>
              <a:rPr lang="en-IN" b="1" dirty="0"/>
              <a:t>Traditional </a:t>
            </a:r>
            <a:r>
              <a:rPr lang="en-IN" b="1" dirty="0" err="1"/>
              <a:t>DataOps</a:t>
            </a:r>
            <a:r>
              <a:rPr lang="en-IN" b="1" dirty="0"/>
              <a:t> Challenges</a:t>
            </a:r>
          </a:p>
          <a:p>
            <a:pPr lvl="1"/>
            <a:r>
              <a:rPr lang="en-IN" dirty="0"/>
              <a:t>Manual testing takes time </a:t>
            </a:r>
          </a:p>
          <a:p>
            <a:pPr lvl="1"/>
            <a:r>
              <a:rPr lang="en-IN" dirty="0"/>
              <a:t>CI/CD pipelines are complex </a:t>
            </a:r>
          </a:p>
          <a:p>
            <a:pPr lvl="1"/>
            <a:r>
              <a:rPr lang="en-IN" dirty="0"/>
              <a:t>Schema drift causes failures </a:t>
            </a:r>
          </a:p>
          <a:p>
            <a:pPr lvl="1"/>
            <a:r>
              <a:rPr lang="en-IN" dirty="0"/>
              <a:t>Monitoring is reactive </a:t>
            </a:r>
          </a:p>
          <a:p>
            <a:pPr lvl="1"/>
            <a:r>
              <a:rPr lang="en-IN" dirty="0"/>
              <a:t>Root cause analysis is slow </a:t>
            </a:r>
          </a:p>
          <a:p>
            <a:pPr lvl="1"/>
            <a:r>
              <a:rPr lang="en-IN" dirty="0"/>
              <a:t>Large log volumes are difficult to </a:t>
            </a:r>
            <a:r>
              <a:rPr lang="en-IN" dirty="0" err="1"/>
              <a:t>analyze</a:t>
            </a:r>
            <a:r>
              <a:rPr lang="en-IN" dirty="0"/>
              <a:t> </a:t>
            </a:r>
          </a:p>
          <a:p>
            <a:r>
              <a:rPr lang="en-IN" b="1" dirty="0"/>
              <a:t>AI-Powered Benefits</a:t>
            </a:r>
          </a:p>
          <a:p>
            <a:pPr lvl="1"/>
            <a:r>
              <a:rPr lang="en-IN" dirty="0"/>
              <a:t>Faster development </a:t>
            </a:r>
          </a:p>
          <a:p>
            <a:pPr lvl="1"/>
            <a:r>
              <a:rPr lang="en-IN" dirty="0"/>
              <a:t>Automated governance </a:t>
            </a:r>
          </a:p>
          <a:p>
            <a:pPr lvl="1"/>
            <a:r>
              <a:rPr lang="en-IN" dirty="0"/>
              <a:t>Intelligent observability </a:t>
            </a:r>
          </a:p>
          <a:p>
            <a:pPr lvl="1"/>
            <a:r>
              <a:rPr lang="en-IN" dirty="0"/>
              <a:t>Reduced operational overhead </a:t>
            </a:r>
          </a:p>
          <a:p>
            <a:pPr lvl="1"/>
            <a:r>
              <a:rPr lang="en-IN" dirty="0"/>
              <a:t>Proactive anomaly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06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DataOps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pipeline failures</a:t>
            </a:r>
          </a:p>
          <a:p>
            <a:r>
              <a:t>Lack of automated testing</a:t>
            </a:r>
          </a:p>
          <a:p>
            <a:r>
              <a:t>Manual CI/CD management</a:t>
            </a:r>
          </a:p>
          <a:p>
            <a:r>
              <a:t>Schema drift issues</a:t>
            </a:r>
          </a:p>
          <a:p>
            <a:r>
              <a:t>Poor observability</a:t>
            </a:r>
          </a:p>
          <a:p>
            <a:r>
              <a:t>Delayed incident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A245-573E-0B51-2D5C-CA2F9A6D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99466"/>
            <a:ext cx="7290054" cy="1499616"/>
          </a:xfrm>
        </p:spPr>
        <p:txBody>
          <a:bodyPr/>
          <a:lstStyle/>
          <a:p>
            <a:r>
              <a:rPr lang="en-IN" dirty="0"/>
              <a:t>AI in Modern </a:t>
            </a:r>
            <a:r>
              <a:rPr lang="en-IN" dirty="0" err="1"/>
              <a:t>DataOps</a:t>
            </a:r>
            <a:r>
              <a:rPr lang="en-IN" dirty="0"/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6DD59-BAFD-7F93-7336-E7FD62E8C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799082"/>
            <a:ext cx="7290055" cy="451027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AI Integration Areas</a:t>
            </a:r>
          </a:p>
          <a:p>
            <a:r>
              <a:rPr lang="en-IN" b="1" dirty="0"/>
              <a:t>Development</a:t>
            </a:r>
          </a:p>
          <a:p>
            <a:pPr lvl="1"/>
            <a:r>
              <a:rPr lang="en-IN" dirty="0"/>
              <a:t>AI-generated code </a:t>
            </a:r>
          </a:p>
          <a:p>
            <a:pPr lvl="1"/>
            <a:r>
              <a:rPr lang="en-IN" dirty="0"/>
              <a:t>AI-generated tests </a:t>
            </a:r>
          </a:p>
          <a:p>
            <a:pPr lvl="1"/>
            <a:r>
              <a:rPr lang="en-IN" dirty="0"/>
              <a:t>Documentation generation </a:t>
            </a:r>
          </a:p>
          <a:p>
            <a:r>
              <a:rPr lang="en-IN" b="1" dirty="0"/>
              <a:t>CI/CD</a:t>
            </a:r>
          </a:p>
          <a:p>
            <a:pPr lvl="1"/>
            <a:r>
              <a:rPr lang="en-IN" dirty="0"/>
              <a:t>Automated YAML creation </a:t>
            </a:r>
          </a:p>
          <a:p>
            <a:pPr lvl="1"/>
            <a:r>
              <a:rPr lang="en-IN" dirty="0"/>
              <a:t>AI-assisted deployments </a:t>
            </a:r>
          </a:p>
          <a:p>
            <a:pPr lvl="1"/>
            <a:r>
              <a:rPr lang="en-IN" dirty="0"/>
              <a:t>Security scanning </a:t>
            </a:r>
          </a:p>
          <a:p>
            <a:r>
              <a:rPr lang="en-IN" b="1" dirty="0"/>
              <a:t>Observability</a:t>
            </a:r>
          </a:p>
          <a:p>
            <a:pPr lvl="1"/>
            <a:r>
              <a:rPr lang="en-IN" dirty="0"/>
              <a:t>Smart alerts </a:t>
            </a:r>
          </a:p>
          <a:p>
            <a:pPr lvl="1"/>
            <a:r>
              <a:rPr lang="en-IN" dirty="0"/>
              <a:t>Incident summarization </a:t>
            </a:r>
          </a:p>
          <a:p>
            <a:pPr lvl="1"/>
            <a:r>
              <a:rPr lang="en-IN" dirty="0"/>
              <a:t>Root cause analysis </a:t>
            </a:r>
          </a:p>
          <a:p>
            <a:r>
              <a:rPr lang="en-IN" b="1" dirty="0"/>
              <a:t>Operations</a:t>
            </a:r>
          </a:p>
          <a:p>
            <a:pPr lvl="1"/>
            <a:r>
              <a:rPr lang="en-IN" dirty="0"/>
              <a:t>RAG assistants </a:t>
            </a:r>
          </a:p>
          <a:p>
            <a:pPr lvl="1"/>
            <a:r>
              <a:rPr lang="en-IN" dirty="0"/>
              <a:t>KPI dashboards </a:t>
            </a:r>
          </a:p>
          <a:p>
            <a:pPr lvl="1"/>
            <a:r>
              <a:rPr lang="en-IN" dirty="0"/>
              <a:t>Self-healing workflows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91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Use Copilot/Claude Code to generate </a:t>
            </a:r>
            <a:r>
              <a:rPr dirty="0" err="1"/>
              <a:t>pytest</a:t>
            </a:r>
            <a:r>
              <a:rPr dirty="0"/>
              <a:t> suites</a:t>
            </a:r>
          </a:p>
          <a:p>
            <a:r>
              <a:rPr dirty="0"/>
              <a:t>Automate edge-case testing</a:t>
            </a:r>
          </a:p>
          <a:p>
            <a:r>
              <a:rPr dirty="0"/>
              <a:t>Generate mocks and fixtures</a:t>
            </a:r>
          </a:p>
          <a:p>
            <a:r>
              <a:rPr dirty="0"/>
              <a:t>Improve code coverage automatically</a:t>
            </a:r>
            <a:endParaRPr lang="en-US" dirty="0"/>
          </a:p>
          <a:p>
            <a:endParaRPr lang="en-IN" dirty="0"/>
          </a:p>
          <a:p>
            <a:r>
              <a:rPr lang="en-US" b="1" dirty="0"/>
              <a:t>Benefits</a:t>
            </a:r>
          </a:p>
          <a:p>
            <a:r>
              <a:rPr lang="en-US" dirty="0"/>
              <a:t>Faster testing implementation </a:t>
            </a:r>
          </a:p>
          <a:p>
            <a:r>
              <a:rPr lang="en-US" dirty="0"/>
              <a:t>Improved quality </a:t>
            </a:r>
          </a:p>
          <a:p>
            <a:r>
              <a:rPr lang="en-US" dirty="0"/>
              <a:t>Reduced manual coding </a:t>
            </a:r>
          </a:p>
          <a:p>
            <a:r>
              <a:rPr lang="en-US" dirty="0"/>
              <a:t>Better regression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E05C-7C1A-653C-BE19-1E21A2E1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Architecture for Data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9543-150A-4452-9DE6-386ECAE3B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39216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Pipeline Components to Test</a:t>
            </a:r>
          </a:p>
          <a:p>
            <a:r>
              <a:rPr lang="en-IN" b="1" dirty="0"/>
              <a:t>Ingestion Layer</a:t>
            </a:r>
          </a:p>
          <a:p>
            <a:pPr lvl="1"/>
            <a:r>
              <a:rPr lang="en-IN" dirty="0"/>
              <a:t>File ingestion </a:t>
            </a:r>
          </a:p>
          <a:p>
            <a:pPr lvl="1"/>
            <a:r>
              <a:rPr lang="en-IN" dirty="0"/>
              <a:t>API extraction </a:t>
            </a:r>
          </a:p>
          <a:p>
            <a:pPr lvl="1"/>
            <a:r>
              <a:rPr lang="en-IN" dirty="0"/>
              <a:t>Kafka streams </a:t>
            </a:r>
          </a:p>
          <a:p>
            <a:r>
              <a:rPr lang="en-IN" b="1" dirty="0"/>
              <a:t>Transformation Layer</a:t>
            </a:r>
          </a:p>
          <a:p>
            <a:pPr lvl="1"/>
            <a:r>
              <a:rPr lang="en-IN" dirty="0"/>
              <a:t>Business logic </a:t>
            </a:r>
          </a:p>
          <a:p>
            <a:pPr lvl="1"/>
            <a:r>
              <a:rPr lang="en-IN" dirty="0"/>
              <a:t>Data cleaning </a:t>
            </a:r>
          </a:p>
          <a:p>
            <a:pPr lvl="1"/>
            <a:r>
              <a:rPr lang="en-IN" dirty="0"/>
              <a:t>Aggregations </a:t>
            </a:r>
          </a:p>
          <a:p>
            <a:r>
              <a:rPr lang="en-IN" b="1" dirty="0"/>
              <a:t>Validation Layer</a:t>
            </a:r>
          </a:p>
          <a:p>
            <a:pPr lvl="1"/>
            <a:r>
              <a:rPr lang="en-IN" dirty="0"/>
              <a:t>Null checks </a:t>
            </a:r>
          </a:p>
          <a:p>
            <a:pPr lvl="1"/>
            <a:r>
              <a:rPr lang="en-IN" dirty="0"/>
              <a:t>Duplicate checks </a:t>
            </a:r>
          </a:p>
          <a:p>
            <a:pPr lvl="1"/>
            <a:r>
              <a:rPr lang="en-IN" dirty="0"/>
              <a:t>Schema validation </a:t>
            </a:r>
          </a:p>
          <a:p>
            <a:r>
              <a:rPr lang="en-IN" b="1" dirty="0"/>
              <a:t>Output Layer</a:t>
            </a:r>
          </a:p>
          <a:p>
            <a:pPr lvl="1"/>
            <a:r>
              <a:rPr lang="en-IN" dirty="0"/>
              <a:t>Warehouse loads </a:t>
            </a:r>
          </a:p>
          <a:p>
            <a:pPr lvl="1"/>
            <a:r>
              <a:rPr lang="en-IN" dirty="0"/>
              <a:t>API responses </a:t>
            </a:r>
          </a:p>
          <a:p>
            <a:pPr lvl="1"/>
            <a:r>
              <a:rPr lang="en-IN" dirty="0"/>
              <a:t>Reporting tables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05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Pytest Architecture for Data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transformations</a:t>
            </a:r>
          </a:p>
          <a:p>
            <a:r>
              <a:t>Test ingestion logic</a:t>
            </a:r>
          </a:p>
          <a:p>
            <a:r>
              <a:t>Check schema consistency</a:t>
            </a:r>
          </a:p>
          <a:p>
            <a:r>
              <a:t>Verify business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FDC1-EE8A-3091-53D2-27489361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AI Prompt for </a:t>
            </a:r>
            <a:r>
              <a:rPr lang="en-IN" dirty="0" err="1"/>
              <a:t>pytest</a:t>
            </a:r>
            <a:r>
              <a:rPr lang="en-IN" dirty="0"/>
              <a:t>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2823-9EE2-69F6-A193-C448829B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4267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Prompt Example</a:t>
            </a:r>
          </a:p>
          <a:p>
            <a:r>
              <a:rPr lang="en-US" dirty="0"/>
              <a:t>Generate a complete </a:t>
            </a:r>
            <a:r>
              <a:rPr lang="en-US" dirty="0" err="1"/>
              <a:t>pytest</a:t>
            </a:r>
            <a:r>
              <a:rPr lang="en-US" dirty="0"/>
              <a:t> suite for the following ETL pipeline.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Include:</a:t>
            </a:r>
            <a:br>
              <a:rPr lang="en-US" dirty="0"/>
            </a:br>
            <a:r>
              <a:rPr lang="en-US" dirty="0"/>
              <a:t>- Unit tests</a:t>
            </a:r>
            <a:br>
              <a:rPr lang="en-US" dirty="0"/>
            </a:br>
            <a:r>
              <a:rPr lang="en-US" dirty="0"/>
              <a:t>- Mock data</a:t>
            </a:r>
            <a:br>
              <a:rPr lang="en-US" dirty="0"/>
            </a:br>
            <a:r>
              <a:rPr lang="en-US" dirty="0"/>
              <a:t>- Edge cases</a:t>
            </a:r>
            <a:br>
              <a:rPr lang="en-US" dirty="0"/>
            </a:br>
            <a:r>
              <a:rPr lang="en-US" dirty="0"/>
              <a:t>- Negative testing</a:t>
            </a:r>
            <a:br>
              <a:rPr lang="en-US" dirty="0"/>
            </a:br>
            <a:r>
              <a:rPr lang="en-US" dirty="0"/>
              <a:t>- Coverage reporting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Expected Output</a:t>
            </a:r>
          </a:p>
          <a:p>
            <a:r>
              <a:rPr lang="en-US" dirty="0"/>
              <a:t>Test modules </a:t>
            </a:r>
          </a:p>
          <a:p>
            <a:r>
              <a:rPr lang="en-US" dirty="0"/>
              <a:t>Fixtures </a:t>
            </a:r>
          </a:p>
          <a:p>
            <a:r>
              <a:rPr lang="en-US" dirty="0"/>
              <a:t>Assertions </a:t>
            </a:r>
          </a:p>
          <a:p>
            <a:r>
              <a:rPr lang="en-US" dirty="0"/>
              <a:t>Coverage integration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28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7179-7CC0-0793-E1C0-A93DF6C5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  <a:r>
              <a:rPr lang="en-IN" dirty="0" err="1"/>
              <a:t>pytest</a:t>
            </a:r>
            <a:r>
              <a:rPr lang="en-IN" dirty="0"/>
              <a:t>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C9C2-F5C6-5FC0-EADA-7C3875548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22452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 Test Scenarios</a:t>
            </a:r>
          </a:p>
          <a:p>
            <a:r>
              <a:rPr lang="en-IN" b="1" dirty="0"/>
              <a:t>Positive Tests</a:t>
            </a:r>
          </a:p>
          <a:p>
            <a:r>
              <a:rPr lang="en-IN" dirty="0"/>
              <a:t>Valid schema </a:t>
            </a:r>
          </a:p>
          <a:p>
            <a:r>
              <a:rPr lang="en-IN" dirty="0"/>
              <a:t>Correct transformation </a:t>
            </a:r>
          </a:p>
          <a:p>
            <a:r>
              <a:rPr lang="en-IN" dirty="0"/>
              <a:t>Successful ingestion </a:t>
            </a:r>
          </a:p>
          <a:p>
            <a:r>
              <a:rPr lang="en-IN" b="1" dirty="0"/>
              <a:t>Negative Tests</a:t>
            </a:r>
          </a:p>
          <a:p>
            <a:r>
              <a:rPr lang="en-IN" dirty="0"/>
              <a:t>Missing columns </a:t>
            </a:r>
          </a:p>
          <a:p>
            <a:r>
              <a:rPr lang="en-IN" dirty="0"/>
              <a:t>Null records </a:t>
            </a:r>
          </a:p>
          <a:p>
            <a:r>
              <a:rPr lang="en-IN" dirty="0"/>
              <a:t>Invalid data types </a:t>
            </a:r>
          </a:p>
          <a:p>
            <a:r>
              <a:rPr lang="en-IN" b="1" dirty="0"/>
              <a:t>Edge Cases</a:t>
            </a:r>
          </a:p>
          <a:p>
            <a:r>
              <a:rPr lang="en-IN" dirty="0"/>
              <a:t>Empty datasets </a:t>
            </a:r>
          </a:p>
          <a:p>
            <a:r>
              <a:rPr lang="en-IN" dirty="0"/>
              <a:t>Large files </a:t>
            </a:r>
          </a:p>
          <a:p>
            <a:r>
              <a:rPr lang="en-IN" dirty="0"/>
              <a:t>Duplicate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52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Integration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Integration Test Areas</a:t>
            </a:r>
          </a:p>
          <a:p>
            <a:r>
              <a:rPr lang="en-IN" dirty="0"/>
              <a:t>Source-to-target validation </a:t>
            </a:r>
          </a:p>
          <a:p>
            <a:r>
              <a:rPr lang="en-IN" dirty="0"/>
              <a:t>API integrations </a:t>
            </a:r>
          </a:p>
          <a:p>
            <a:r>
              <a:rPr lang="en-IN" dirty="0"/>
              <a:t>Kafka event validation </a:t>
            </a:r>
          </a:p>
          <a:p>
            <a:r>
              <a:rPr lang="en-IN" dirty="0"/>
              <a:t>Database consistency checks </a:t>
            </a:r>
          </a:p>
          <a:p>
            <a:r>
              <a:rPr lang="en-IN" dirty="0"/>
              <a:t>Cloud storage validation</a:t>
            </a:r>
            <a:endParaRPr lang="en-US" dirty="0"/>
          </a:p>
          <a:p>
            <a:r>
              <a:rPr lang="en-US" b="1" dirty="0"/>
              <a:t>AI Advantages</a:t>
            </a:r>
          </a:p>
          <a:p>
            <a:r>
              <a:rPr lang="en-US" dirty="0"/>
              <a:t>Faster test creation </a:t>
            </a:r>
          </a:p>
          <a:p>
            <a:r>
              <a:rPr lang="en-US" dirty="0"/>
              <a:t>Better edge-case coverage </a:t>
            </a:r>
          </a:p>
          <a:p>
            <a:r>
              <a:rPr lang="en-US" dirty="0"/>
              <a:t>Automated dependency mocking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Automation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AI Capabilities</a:t>
            </a:r>
          </a:p>
          <a:p>
            <a:r>
              <a:rPr lang="en-IN" dirty="0"/>
              <a:t>AI can automatically generate:</a:t>
            </a:r>
          </a:p>
          <a:p>
            <a:r>
              <a:rPr lang="en-IN" dirty="0"/>
              <a:t>GitHub Actions YAML </a:t>
            </a:r>
          </a:p>
          <a:p>
            <a:r>
              <a:rPr lang="en-IN" dirty="0"/>
              <a:t>Azure DevOps pipelines </a:t>
            </a:r>
          </a:p>
          <a:p>
            <a:r>
              <a:rPr lang="en-IN" dirty="0"/>
              <a:t>Jenkins pipelines </a:t>
            </a:r>
          </a:p>
          <a:p>
            <a:r>
              <a:rPr lang="en-IN" dirty="0"/>
              <a:t>Docker build workflows </a:t>
            </a:r>
          </a:p>
          <a:p>
            <a:r>
              <a:rPr lang="en-IN" dirty="0"/>
              <a:t>Kubernetes deployment files 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Reduced manual YAML writing </a:t>
            </a:r>
          </a:p>
          <a:p>
            <a:r>
              <a:rPr lang="en-IN" dirty="0"/>
              <a:t>Faster onboarding </a:t>
            </a:r>
          </a:p>
          <a:p>
            <a:r>
              <a:rPr lang="en-IN" dirty="0"/>
              <a:t>Standardized deployments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Actions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Developer Commit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Pull Request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GitHub Actions Trigger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Linting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pytest</a:t>
            </a:r>
            <a:r>
              <a:rPr lang="en-IN" dirty="0"/>
              <a:t> Execution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Great Expectations Validation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Coverage Report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Deployment Approval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C1-7DA4-8E2E-21D6-7A90F665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GitHub Actions YAML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8E19-C473-6552-F50F-2FA487EC4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90725"/>
            <a:ext cx="7290055" cy="470535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Features Included</a:t>
            </a:r>
          </a:p>
          <a:p>
            <a:r>
              <a:rPr lang="en-US" dirty="0"/>
              <a:t>PR-based triggering </a:t>
            </a:r>
          </a:p>
          <a:p>
            <a:r>
              <a:rPr lang="en-US" dirty="0"/>
              <a:t>Python environment setup </a:t>
            </a:r>
          </a:p>
          <a:p>
            <a:r>
              <a:rPr lang="en-US" dirty="0"/>
              <a:t>Dependency installation </a:t>
            </a:r>
          </a:p>
          <a:p>
            <a:r>
              <a:rPr lang="en-US" dirty="0" err="1"/>
              <a:t>pytest</a:t>
            </a:r>
            <a:r>
              <a:rPr lang="en-US" dirty="0"/>
              <a:t> execution </a:t>
            </a:r>
          </a:p>
          <a:p>
            <a:r>
              <a:rPr lang="en-US" dirty="0"/>
              <a:t>Coverage generation </a:t>
            </a:r>
          </a:p>
          <a:p>
            <a:r>
              <a:rPr lang="en-US" dirty="0"/>
              <a:t>Artifact publishing</a:t>
            </a:r>
          </a:p>
          <a:p>
            <a:r>
              <a:rPr lang="en-US" b="1" dirty="0"/>
              <a:t>Pipeline Stages</a:t>
            </a:r>
          </a:p>
          <a:p>
            <a:r>
              <a:rPr lang="en-US" b="1" dirty="0"/>
              <a:t>Stage 1</a:t>
            </a:r>
          </a:p>
          <a:p>
            <a:pPr lvl="1"/>
            <a:r>
              <a:rPr lang="en-US" dirty="0"/>
              <a:t>Linting</a:t>
            </a:r>
          </a:p>
          <a:p>
            <a:r>
              <a:rPr lang="en-US" b="1" dirty="0"/>
              <a:t>Stage 2</a:t>
            </a:r>
          </a:p>
          <a:p>
            <a:pPr lvl="1"/>
            <a:r>
              <a:rPr lang="en-US" dirty="0"/>
              <a:t>Testing</a:t>
            </a:r>
          </a:p>
          <a:p>
            <a:r>
              <a:rPr lang="en-US" b="1" dirty="0"/>
              <a:t>Stage 3</a:t>
            </a:r>
          </a:p>
          <a:p>
            <a:pPr lvl="1"/>
            <a:r>
              <a:rPr lang="en-US" dirty="0"/>
              <a:t>Schema Validation</a:t>
            </a:r>
          </a:p>
          <a:p>
            <a:r>
              <a:rPr lang="en-US" b="1" dirty="0"/>
              <a:t>Stage 4</a:t>
            </a:r>
          </a:p>
          <a:p>
            <a:pPr lvl="1"/>
            <a:r>
              <a:rPr lang="en-US" dirty="0"/>
              <a:t>Coverage Reporting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45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DevOps AI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AI-Generated Features</a:t>
            </a:r>
          </a:p>
          <a:p>
            <a:r>
              <a:rPr lang="en-IN" dirty="0"/>
              <a:t>Build pipelines </a:t>
            </a:r>
          </a:p>
          <a:p>
            <a:r>
              <a:rPr lang="en-IN" dirty="0"/>
              <a:t>Deployment stages </a:t>
            </a:r>
          </a:p>
          <a:p>
            <a:r>
              <a:rPr lang="en-IN" dirty="0"/>
              <a:t>Rollback logic </a:t>
            </a:r>
          </a:p>
          <a:p>
            <a:r>
              <a:rPr lang="en-IN" dirty="0"/>
              <a:t>Secret integration </a:t>
            </a:r>
          </a:p>
          <a:p>
            <a:r>
              <a:rPr lang="en-IN" dirty="0"/>
              <a:t>Multi-environment deployment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Deployment Environments</a:t>
            </a:r>
          </a:p>
          <a:p>
            <a:r>
              <a:rPr lang="en-IN" dirty="0"/>
              <a:t>Dev </a:t>
            </a:r>
          </a:p>
          <a:p>
            <a:r>
              <a:rPr lang="en-IN" dirty="0"/>
              <a:t>QA </a:t>
            </a:r>
          </a:p>
          <a:p>
            <a:r>
              <a:rPr lang="en-IN" dirty="0"/>
              <a:t>UAT </a:t>
            </a:r>
          </a:p>
          <a:p>
            <a:r>
              <a:rPr lang="en-IN" dirty="0"/>
              <a:t>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Contract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Why Schema Validation Matters</a:t>
            </a:r>
          </a:p>
          <a:p>
            <a:r>
              <a:rPr lang="en-IN" dirty="0"/>
              <a:t>Schema drift causes:</a:t>
            </a:r>
          </a:p>
          <a:p>
            <a:r>
              <a:rPr lang="en-IN" dirty="0"/>
              <a:t>Pipeline failures </a:t>
            </a:r>
          </a:p>
          <a:p>
            <a:r>
              <a:rPr lang="en-IN" dirty="0"/>
              <a:t>Data corruption </a:t>
            </a:r>
          </a:p>
          <a:p>
            <a:r>
              <a:rPr lang="en-IN" dirty="0"/>
              <a:t>BI dashboard issues </a:t>
            </a:r>
          </a:p>
          <a:p>
            <a:r>
              <a:rPr lang="en-IN" dirty="0"/>
              <a:t>SLA violations </a:t>
            </a:r>
          </a:p>
          <a:p>
            <a:r>
              <a:rPr lang="en-IN" b="1" dirty="0"/>
              <a:t>Great Expectations Capabilities</a:t>
            </a:r>
          </a:p>
          <a:p>
            <a:r>
              <a:rPr lang="en-IN" dirty="0"/>
              <a:t>Column validation </a:t>
            </a:r>
          </a:p>
          <a:p>
            <a:r>
              <a:rPr lang="en-IN" dirty="0"/>
              <a:t>Data quality rules </a:t>
            </a:r>
          </a:p>
          <a:p>
            <a:r>
              <a:rPr lang="en-IN" dirty="0"/>
              <a:t>Profiling </a:t>
            </a:r>
          </a:p>
          <a:p>
            <a:r>
              <a:rPr lang="en-IN" dirty="0"/>
              <a:t>Data contracts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Great Expectations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</a:t>
            </a:r>
          </a:p>
          <a:p>
            <a:r>
              <a:rPr lang="en-US" b="1" dirty="0"/>
              <a:t>Expectations</a:t>
            </a:r>
          </a:p>
          <a:p>
            <a:r>
              <a:rPr lang="en-US" dirty="0"/>
              <a:t>Business validation rules</a:t>
            </a:r>
          </a:p>
          <a:p>
            <a:r>
              <a:rPr lang="en-US" b="1" dirty="0"/>
              <a:t>Checkpoints</a:t>
            </a:r>
          </a:p>
          <a:p>
            <a:r>
              <a:rPr lang="en-US" dirty="0"/>
              <a:t>Validation execution</a:t>
            </a:r>
          </a:p>
          <a:p>
            <a:r>
              <a:rPr lang="en-US" b="1" dirty="0"/>
              <a:t>Data Docs</a:t>
            </a:r>
          </a:p>
          <a:p>
            <a:r>
              <a:rPr lang="en-US" dirty="0"/>
              <a:t>Quality reporting</a:t>
            </a:r>
          </a:p>
          <a:p>
            <a:r>
              <a:rPr lang="en-US" b="1" dirty="0"/>
              <a:t>Validation Results</a:t>
            </a:r>
          </a:p>
          <a:p>
            <a:r>
              <a:rPr lang="en-US" dirty="0"/>
              <a:t>Pass/fail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5A5C-9D9F-76BE-4086-942767CE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AI-Assisted 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122E-ACEA-B9F2-90E6-48635FE8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AI Use Cases</a:t>
            </a:r>
          </a:p>
          <a:p>
            <a:r>
              <a:rPr lang="en-US" dirty="0"/>
              <a:t>Generate expectation suites </a:t>
            </a:r>
          </a:p>
          <a:p>
            <a:r>
              <a:rPr lang="en-US" dirty="0"/>
              <a:t>Recommend validation rules </a:t>
            </a:r>
          </a:p>
          <a:p>
            <a:r>
              <a:rPr lang="en-US" dirty="0"/>
              <a:t>Detect anomalies </a:t>
            </a:r>
          </a:p>
          <a:p>
            <a:r>
              <a:rPr lang="en-US" dirty="0"/>
              <a:t>Explain failed validations 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Missing IDs </a:t>
            </a:r>
          </a:p>
          <a:p>
            <a:r>
              <a:rPr lang="en-US" dirty="0"/>
              <a:t>Duplicate records </a:t>
            </a:r>
          </a:p>
          <a:p>
            <a:r>
              <a:rPr lang="en-US" dirty="0"/>
              <a:t>Outlier detection </a:t>
            </a:r>
          </a:p>
          <a:p>
            <a:r>
              <a:rPr lang="en-US" dirty="0"/>
              <a:t>Invalid date ranges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365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Observability Components</a:t>
            </a:r>
          </a:p>
          <a:p>
            <a:r>
              <a:rPr lang="en-US" b="1" dirty="0"/>
              <a:t>Monitoring</a:t>
            </a:r>
          </a:p>
          <a:p>
            <a:r>
              <a:rPr lang="en-US" dirty="0"/>
              <a:t>Pipeline health tracking</a:t>
            </a:r>
          </a:p>
          <a:p>
            <a:r>
              <a:rPr lang="en-US" b="1" dirty="0"/>
              <a:t>Logging</a:t>
            </a:r>
          </a:p>
          <a:p>
            <a:r>
              <a:rPr lang="en-US" dirty="0"/>
              <a:t>Centralized operational logs</a:t>
            </a:r>
          </a:p>
          <a:p>
            <a:r>
              <a:rPr lang="en-US" b="1" dirty="0"/>
              <a:t>Alerting</a:t>
            </a:r>
          </a:p>
          <a:p>
            <a:r>
              <a:rPr lang="en-US" dirty="0"/>
              <a:t>Automated incident alerts</a:t>
            </a:r>
          </a:p>
          <a:p>
            <a:r>
              <a:rPr lang="en-US" b="1" dirty="0"/>
              <a:t>Tracing</a:t>
            </a:r>
          </a:p>
          <a:p>
            <a:r>
              <a:rPr lang="en-US" dirty="0"/>
              <a:t>End-to-end execution visibility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FC8-402D-05B0-3D7F-69126A14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AI-Generated Alerts &amp; SLOs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FFD7F-FB61-7254-885A-7603284F4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AI Can Generate</a:t>
            </a:r>
          </a:p>
          <a:p>
            <a:r>
              <a:rPr lang="en-IN" dirty="0"/>
              <a:t>Alert thresholds </a:t>
            </a:r>
          </a:p>
          <a:p>
            <a:r>
              <a:rPr lang="en-IN" dirty="0"/>
              <a:t>SLA definitions </a:t>
            </a:r>
          </a:p>
          <a:p>
            <a:r>
              <a:rPr lang="en-IN" dirty="0"/>
              <a:t>SLO recommendations </a:t>
            </a:r>
          </a:p>
          <a:p>
            <a:r>
              <a:rPr lang="en-IN" dirty="0"/>
              <a:t>Escalation workflows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Example SLOs</a:t>
            </a:r>
          </a:p>
          <a:p>
            <a:r>
              <a:rPr lang="en-IN" dirty="0"/>
              <a:t>Pipeline success rate &gt; 99% </a:t>
            </a:r>
          </a:p>
          <a:p>
            <a:r>
              <a:rPr lang="en-IN" dirty="0"/>
              <a:t>Data freshness &lt; 15 minutes </a:t>
            </a:r>
          </a:p>
          <a:p>
            <a:r>
              <a:rPr lang="en-IN" dirty="0"/>
              <a:t>Query latency &lt; 5 seconds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930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Monitor +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AI-Powered Monitoring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Incident summarization </a:t>
            </a:r>
          </a:p>
          <a:p>
            <a:r>
              <a:rPr lang="en-US" dirty="0"/>
              <a:t>Metric anomaly detection </a:t>
            </a:r>
          </a:p>
          <a:p>
            <a:r>
              <a:rPr lang="en-US" dirty="0"/>
              <a:t>Failure prediction </a:t>
            </a:r>
          </a:p>
          <a:p>
            <a:r>
              <a:rPr lang="en-US" dirty="0"/>
              <a:t>Automated remediation suggestions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Faster MTTR </a:t>
            </a:r>
          </a:p>
          <a:p>
            <a:r>
              <a:rPr lang="en-US" dirty="0"/>
              <a:t>Reduced alert fatigue </a:t>
            </a:r>
          </a:p>
          <a:p>
            <a:r>
              <a:rPr lang="en-US" dirty="0"/>
              <a:t>Improved reliability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Grafana AI Assist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Features in Grafana</a:t>
            </a:r>
          </a:p>
          <a:p>
            <a:r>
              <a:rPr lang="en-US" dirty="0"/>
              <a:t>Dashboard generation </a:t>
            </a:r>
          </a:p>
          <a:p>
            <a:r>
              <a:rPr lang="en-US" dirty="0"/>
              <a:t>Natural language querying </a:t>
            </a:r>
          </a:p>
          <a:p>
            <a:r>
              <a:rPr lang="en-US" dirty="0"/>
              <a:t>Smart metric recommendations </a:t>
            </a:r>
          </a:p>
          <a:p>
            <a:r>
              <a:rPr lang="en-US" dirty="0"/>
              <a:t>AI-assisted root cause analysis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Example Query</a:t>
            </a:r>
          </a:p>
          <a:p>
            <a:r>
              <a:rPr lang="en-US" dirty="0"/>
              <a:t>“Show failed pipeline trends for the last 7 days”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LLM-Based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Traditional Problems</a:t>
            </a:r>
          </a:p>
          <a:p>
            <a:r>
              <a:rPr lang="en-IN" dirty="0"/>
              <a:t>Huge log volumes </a:t>
            </a:r>
          </a:p>
          <a:p>
            <a:r>
              <a:rPr lang="en-IN" dirty="0"/>
              <a:t>Difficult RCA </a:t>
            </a:r>
          </a:p>
          <a:p>
            <a:r>
              <a:rPr lang="en-IN" dirty="0"/>
              <a:t>Slow manual debugging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AI Capabilities</a:t>
            </a:r>
          </a:p>
          <a:p>
            <a:r>
              <a:rPr lang="en-IN" dirty="0"/>
              <a:t>Summarize logs </a:t>
            </a:r>
          </a:p>
          <a:p>
            <a:r>
              <a:rPr lang="en-IN" dirty="0"/>
              <a:t>Detect recurring failures </a:t>
            </a:r>
          </a:p>
          <a:p>
            <a:r>
              <a:rPr lang="en-IN" dirty="0"/>
              <a:t>Identify anomalies </a:t>
            </a:r>
          </a:p>
          <a:p>
            <a:r>
              <a:rPr lang="en-IN" dirty="0"/>
              <a:t>Suggest fixes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3EAF-05A1-C461-4175-723132A5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Incident Summarization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E277-CDFA-CE30-A950-021170FC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Example Workflow</a:t>
            </a:r>
          </a:p>
          <a:p>
            <a:r>
              <a:rPr lang="en-IN" dirty="0"/>
              <a:t>Application Logs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LLM Analysis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Failure Classification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RCA Generation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Recommended Fixes</a:t>
            </a:r>
          </a:p>
          <a:p>
            <a:endParaRPr lang="en-IN" dirty="0"/>
          </a:p>
          <a:p>
            <a:r>
              <a:rPr lang="en-IN" b="1" dirty="0"/>
              <a:t>Outputs</a:t>
            </a:r>
          </a:p>
          <a:p>
            <a:r>
              <a:rPr lang="en-IN" dirty="0"/>
              <a:t>Incident summaries </a:t>
            </a:r>
          </a:p>
          <a:p>
            <a:r>
              <a:rPr lang="en-IN" dirty="0"/>
              <a:t>RCA documents </a:t>
            </a:r>
          </a:p>
          <a:p>
            <a:r>
              <a:rPr lang="en-IN" dirty="0"/>
              <a:t>Suggested remediation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492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Chatbot for DataOps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What is RAG?</a:t>
            </a:r>
          </a:p>
          <a:p>
            <a:r>
              <a:rPr lang="en-IN" dirty="0"/>
              <a:t>Retrieval-Augmented Generation combines:</a:t>
            </a:r>
          </a:p>
          <a:p>
            <a:r>
              <a:rPr lang="en-IN" dirty="0"/>
              <a:t>Vector search </a:t>
            </a:r>
          </a:p>
          <a:p>
            <a:r>
              <a:rPr lang="en-IN" dirty="0"/>
              <a:t>Operational metadata </a:t>
            </a:r>
          </a:p>
          <a:p>
            <a:r>
              <a:rPr lang="en-IN" dirty="0"/>
              <a:t>LLM reasoning </a:t>
            </a:r>
          </a:p>
          <a:p>
            <a:endParaRPr lang="en-IN" dirty="0"/>
          </a:p>
          <a:p>
            <a:r>
              <a:rPr lang="en-IN" b="1" dirty="0"/>
              <a:t>Chatbot Capabilities</a:t>
            </a:r>
          </a:p>
          <a:p>
            <a:r>
              <a:rPr lang="en-IN" dirty="0"/>
              <a:t>Query pipeline failures </a:t>
            </a:r>
          </a:p>
          <a:p>
            <a:r>
              <a:rPr lang="en-IN" dirty="0"/>
              <a:t>Retrieve logs </a:t>
            </a:r>
          </a:p>
          <a:p>
            <a:r>
              <a:rPr lang="en-IN" dirty="0"/>
              <a:t>Search historical incidents </a:t>
            </a:r>
          </a:p>
          <a:p>
            <a:r>
              <a:rPr lang="en-IN" dirty="0"/>
              <a:t>Provide troubleshooting guidance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8F4F-D097-22A2-52DA-02172F24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Architecture for </a:t>
            </a:r>
            <a:r>
              <a:rPr lang="en-IN" dirty="0" err="1"/>
              <a:t>DataOps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0054-71E0-13FE-D7E7-15CDF9C8E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Architecture Flow</a:t>
            </a:r>
          </a:p>
          <a:p>
            <a:r>
              <a:rPr lang="en-IN" dirty="0"/>
              <a:t>Pipeline Logs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Vector Database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Embeddings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LLM Query Engine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Operational Chatbot</a:t>
            </a:r>
          </a:p>
          <a:p>
            <a:r>
              <a:rPr lang="fr-FR" b="1" dirty="0"/>
              <a:t>Technologies</a:t>
            </a:r>
          </a:p>
          <a:p>
            <a:r>
              <a:rPr lang="fr-FR" dirty="0"/>
              <a:t>Azure AI Search </a:t>
            </a:r>
          </a:p>
          <a:p>
            <a:r>
              <a:rPr lang="fr-FR" dirty="0" err="1"/>
              <a:t>OpenAI</a:t>
            </a:r>
            <a:r>
              <a:rPr lang="fr-FR" dirty="0"/>
              <a:t> </a:t>
            </a:r>
          </a:p>
          <a:p>
            <a:r>
              <a:rPr lang="fr-FR" dirty="0" err="1"/>
              <a:t>LangChain</a:t>
            </a:r>
            <a:r>
              <a:rPr lang="fr-FR" dirty="0"/>
              <a:t> </a:t>
            </a:r>
          </a:p>
          <a:p>
            <a:r>
              <a:rPr lang="fr-FR" dirty="0" err="1"/>
              <a:t>ChromaDB</a:t>
            </a:r>
            <a:endParaRPr lang="fr-FR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394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KPI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KPIs Generated from Metadata</a:t>
            </a:r>
          </a:p>
          <a:p>
            <a:r>
              <a:rPr lang="en-IN" dirty="0"/>
              <a:t>Pipeline success rate </a:t>
            </a:r>
          </a:p>
          <a:p>
            <a:r>
              <a:rPr lang="en-IN" dirty="0"/>
              <a:t>SLA adherence </a:t>
            </a:r>
          </a:p>
          <a:p>
            <a:r>
              <a:rPr lang="en-IN" dirty="0"/>
              <a:t>Failure trends </a:t>
            </a:r>
          </a:p>
          <a:p>
            <a:r>
              <a:rPr lang="en-IN" dirty="0"/>
              <a:t>Data freshness </a:t>
            </a:r>
          </a:p>
          <a:p>
            <a:r>
              <a:rPr lang="en-IN" dirty="0"/>
              <a:t>MTTR </a:t>
            </a:r>
          </a:p>
          <a:p>
            <a:r>
              <a:rPr lang="en-IN" dirty="0"/>
              <a:t>Incident counts </a:t>
            </a:r>
          </a:p>
          <a:p>
            <a:r>
              <a:rPr lang="en-IN" b="1" dirty="0"/>
              <a:t>AI Benefits</a:t>
            </a:r>
          </a:p>
          <a:p>
            <a:r>
              <a:rPr lang="en-IN" dirty="0"/>
              <a:t>Automatic dashboard creation </a:t>
            </a:r>
          </a:p>
          <a:p>
            <a:r>
              <a:rPr lang="en-IN" dirty="0"/>
              <a:t>Intelligent visualizations </a:t>
            </a:r>
          </a:p>
          <a:p>
            <a:r>
              <a:rPr lang="en-IN" dirty="0"/>
              <a:t>Faster operational insights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pytest suite using Claude Code</a:t>
            </a:r>
          </a:p>
          <a:p>
            <a:r>
              <a:t>Create GitHub Actions YAML</a:t>
            </a:r>
          </a:p>
          <a:p>
            <a:r>
              <a:t>Implement schema validation</a:t>
            </a:r>
          </a:p>
          <a:p>
            <a:r>
              <a:t>Generate coverage reports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GitHub Actions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 on Pull Requests</a:t>
            </a:r>
          </a:p>
          <a:p>
            <a:r>
              <a:t>Run Flake8 linting</a:t>
            </a:r>
          </a:p>
          <a:p>
            <a:r>
              <a:t>Execute pytest</a:t>
            </a:r>
          </a:p>
          <a:p>
            <a:r>
              <a:t>Upload coverage artifacts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7F86-3FBD-0BBC-1E0F-86CB0716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Lab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B49B-8860-44FD-C361-5ADFC6A82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Workflow</a:t>
            </a:r>
          </a:p>
          <a:p>
            <a:r>
              <a:rPr lang="en-IN" dirty="0"/>
              <a:t>Pipeline Code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Claude Code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pytest</a:t>
            </a:r>
            <a:r>
              <a:rPr lang="en-IN" dirty="0"/>
              <a:t> Generation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GitHub Actions YAML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Validation Execution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Coverage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045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Coverage Metrics</a:t>
            </a:r>
          </a:p>
          <a:p>
            <a:r>
              <a:rPr lang="en-US" dirty="0"/>
              <a:t>Line coverage </a:t>
            </a:r>
          </a:p>
          <a:p>
            <a:r>
              <a:rPr lang="en-US" dirty="0"/>
              <a:t>Branch coverage </a:t>
            </a:r>
          </a:p>
          <a:p>
            <a:r>
              <a:rPr lang="en-US" dirty="0"/>
              <a:t>Function coverage </a:t>
            </a:r>
          </a:p>
          <a:p>
            <a:r>
              <a:rPr lang="en-US" dirty="0"/>
              <a:t>Integration coverage </a:t>
            </a:r>
          </a:p>
          <a:p>
            <a:r>
              <a:rPr lang="en-US" b="1" dirty="0"/>
              <a:t>Tools</a:t>
            </a:r>
          </a:p>
          <a:p>
            <a:r>
              <a:rPr lang="en-US" dirty="0" err="1"/>
              <a:t>pytest-cov</a:t>
            </a:r>
            <a:r>
              <a:rPr lang="en-US" dirty="0"/>
              <a:t> </a:t>
            </a:r>
          </a:p>
          <a:p>
            <a:r>
              <a:rPr lang="en-US" dirty="0"/>
              <a:t>coverage.py </a:t>
            </a:r>
          </a:p>
          <a:p>
            <a:r>
              <a:rPr lang="en-US" dirty="0"/>
              <a:t>SonarQube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in DataOps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manual effort</a:t>
            </a:r>
          </a:p>
          <a:p>
            <a:r>
              <a:t>Improved reliability</a:t>
            </a:r>
          </a:p>
          <a:p>
            <a:r>
              <a:t>Faster incident response</a:t>
            </a:r>
          </a:p>
          <a:p>
            <a:r>
              <a:t>Better governance and visibility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review for AI-generated code</a:t>
            </a:r>
          </a:p>
          <a:p>
            <a:r>
              <a:t>Version control for prompts</a:t>
            </a:r>
          </a:p>
          <a:p>
            <a:r>
              <a:t>Centralized observability</a:t>
            </a:r>
          </a:p>
          <a:p>
            <a:r>
              <a:t>Automated governance checks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10AE-5FAB-CE99-842A-17248446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F7A5E-28CE-A19A-9F43-FCB8BAC7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Risks</a:t>
            </a:r>
          </a:p>
          <a:p>
            <a:r>
              <a:rPr lang="en-IN" dirty="0"/>
              <a:t>Over-permissioned pipelines </a:t>
            </a:r>
          </a:p>
          <a:p>
            <a:r>
              <a:rPr lang="en-IN" dirty="0"/>
              <a:t>AI-generated insecure code </a:t>
            </a:r>
          </a:p>
          <a:p>
            <a:r>
              <a:rPr lang="en-IN" dirty="0"/>
              <a:t>Secret leakage </a:t>
            </a:r>
          </a:p>
          <a:p>
            <a:r>
              <a:rPr lang="en-IN" dirty="0"/>
              <a:t>Incorrect automation </a:t>
            </a:r>
          </a:p>
          <a:p>
            <a:endParaRPr lang="en-IN" dirty="0"/>
          </a:p>
          <a:p>
            <a:r>
              <a:rPr lang="en-IN" b="1" dirty="0"/>
              <a:t>Mitigation</a:t>
            </a:r>
          </a:p>
          <a:p>
            <a:r>
              <a:rPr lang="en-IN" dirty="0"/>
              <a:t>RBAC </a:t>
            </a:r>
          </a:p>
          <a:p>
            <a:r>
              <a:rPr lang="en-IN" dirty="0"/>
              <a:t>Secret scanning </a:t>
            </a:r>
          </a:p>
          <a:p>
            <a:r>
              <a:rPr lang="en-IN" dirty="0"/>
              <a:t>Human approvals </a:t>
            </a:r>
          </a:p>
          <a:p>
            <a:r>
              <a:rPr lang="en-IN" dirty="0"/>
              <a:t>Secure repositories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685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Retail Data Platform</a:t>
            </a:r>
          </a:p>
          <a:p>
            <a:r>
              <a:rPr lang="en-IN" b="1" dirty="0"/>
              <a:t>Challenges</a:t>
            </a:r>
          </a:p>
          <a:p>
            <a:pPr lvl="1"/>
            <a:r>
              <a:rPr lang="en-IN" dirty="0"/>
              <a:t>Frequent schema drift </a:t>
            </a:r>
          </a:p>
          <a:p>
            <a:pPr lvl="1"/>
            <a:r>
              <a:rPr lang="en-IN" dirty="0"/>
              <a:t>Manual testing delays </a:t>
            </a:r>
          </a:p>
          <a:p>
            <a:pPr lvl="1"/>
            <a:r>
              <a:rPr lang="en-IN" dirty="0"/>
              <a:t>Slow incident resolution </a:t>
            </a:r>
          </a:p>
          <a:p>
            <a:r>
              <a:rPr lang="en-IN" b="1" dirty="0"/>
              <a:t>AI Solution</a:t>
            </a:r>
          </a:p>
          <a:p>
            <a:pPr lvl="1"/>
            <a:r>
              <a:rPr lang="en-IN" dirty="0"/>
              <a:t>AI-generated tests </a:t>
            </a:r>
          </a:p>
          <a:p>
            <a:pPr lvl="1"/>
            <a:r>
              <a:rPr lang="en-IN" dirty="0"/>
              <a:t>Automated observability </a:t>
            </a:r>
          </a:p>
          <a:p>
            <a:pPr lvl="1"/>
            <a:r>
              <a:rPr lang="en-IN" dirty="0"/>
              <a:t>LLM-based RCA</a:t>
            </a:r>
          </a:p>
          <a:p>
            <a:r>
              <a:rPr lang="en-US" b="1" dirty="0"/>
              <a:t>Results</a:t>
            </a:r>
          </a:p>
          <a:p>
            <a:pPr lvl="1"/>
            <a:r>
              <a:rPr lang="en-US" dirty="0"/>
              <a:t>40% reduction in failures </a:t>
            </a:r>
          </a:p>
          <a:p>
            <a:pPr lvl="1"/>
            <a:r>
              <a:rPr lang="en-US" dirty="0"/>
              <a:t>Faster deployments </a:t>
            </a:r>
          </a:p>
          <a:p>
            <a:pPr lvl="1"/>
            <a:r>
              <a:rPr lang="en-US" dirty="0"/>
              <a:t>Improved SLA compliance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AI-Powered DataOps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Self-healing pipelines</a:t>
            </a:r>
          </a:p>
          <a:p>
            <a:r>
              <a:t>Autonomous observability</a:t>
            </a:r>
          </a:p>
          <a:p>
            <a:r>
              <a:t>AI-driven deployment optimization</a:t>
            </a:r>
          </a:p>
          <a:p>
            <a:r>
              <a:t>Predictive incident management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</TotalTime>
  <Words>1051</Words>
  <Application>Microsoft Office PowerPoint</Application>
  <PresentationFormat>On-screen Show (4:3)</PresentationFormat>
  <Paragraphs>349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Tw Cen MT</vt:lpstr>
      <vt:lpstr>Tw Cen MT Condensed</vt:lpstr>
      <vt:lpstr>Wingdings 3</vt:lpstr>
      <vt:lpstr>Integral</vt:lpstr>
      <vt:lpstr>AI for DataOps: CI/CD, Testing &amp; Observability</vt:lpstr>
      <vt:lpstr>Agenda</vt:lpstr>
      <vt:lpstr>Why AI in DataOps?</vt:lpstr>
      <vt:lpstr>Modern DataOps Challenges</vt:lpstr>
      <vt:lpstr>AI in Modern DataOps Architecture</vt:lpstr>
      <vt:lpstr>AI-Generated Unit Testing</vt:lpstr>
      <vt:lpstr>Unit Testing Architecture for Data Pipelines</vt:lpstr>
      <vt:lpstr>Pytest Architecture for Data Pipelines</vt:lpstr>
      <vt:lpstr>Sample AI Prompt for pytest Generation</vt:lpstr>
      <vt:lpstr>Example pytest Test Cases</vt:lpstr>
      <vt:lpstr>AI-Generated Integration Testing</vt:lpstr>
      <vt:lpstr>CI/CD Automation with AI</vt:lpstr>
      <vt:lpstr>GitHub Actions Workflow</vt:lpstr>
      <vt:lpstr>Sample GitHub Actions YAML</vt:lpstr>
      <vt:lpstr>Azure DevOps AI Pipelines</vt:lpstr>
      <vt:lpstr>Schema Contract Testing</vt:lpstr>
      <vt:lpstr>Great Expectations Architecture</vt:lpstr>
      <vt:lpstr>AI-Assisted Data Quality</vt:lpstr>
      <vt:lpstr>Observability with AI</vt:lpstr>
      <vt:lpstr>AI-Generated Alerts &amp; SLOs</vt:lpstr>
      <vt:lpstr>Azure Monitor + LLM</vt:lpstr>
      <vt:lpstr>Grafana AI Assist</vt:lpstr>
      <vt:lpstr>LLM-Based Log Analysis</vt:lpstr>
      <vt:lpstr>AI Incident Summarization</vt:lpstr>
      <vt:lpstr>RAG Chatbot for DataOps</vt:lpstr>
      <vt:lpstr>RAG Architecture for DataOps</vt:lpstr>
      <vt:lpstr>AI-Generated KPI Dashboards</vt:lpstr>
      <vt:lpstr>Hands-On Lab</vt:lpstr>
      <vt:lpstr>Sample GitHub Actions Workflow</vt:lpstr>
      <vt:lpstr>End-to-End Lab Workflow</vt:lpstr>
      <vt:lpstr>Coverage Reporting</vt:lpstr>
      <vt:lpstr>Benefits of AI in DataOps</vt:lpstr>
      <vt:lpstr>Best Practices</vt:lpstr>
      <vt:lpstr>Security Considerations</vt:lpstr>
      <vt:lpstr>Case Study</vt:lpstr>
      <vt:lpstr>Future of AI-Powered DataOps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82</cp:revision>
  <dcterms:created xsi:type="dcterms:W3CDTF">2013-01-27T09:14:16Z</dcterms:created>
  <dcterms:modified xsi:type="dcterms:W3CDTF">2026-05-07T04:36:48Z</dcterms:modified>
  <cp:category/>
</cp:coreProperties>
</file>