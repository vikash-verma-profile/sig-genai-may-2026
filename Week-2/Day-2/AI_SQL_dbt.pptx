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78" r:id="rId5"/>
    <p:sldId id="279" r:id="rId6"/>
    <p:sldId id="280" r:id="rId7"/>
    <p:sldId id="281" r:id="rId8"/>
    <p:sldId id="259" r:id="rId9"/>
    <p:sldId id="282" r:id="rId10"/>
    <p:sldId id="260" r:id="rId11"/>
    <p:sldId id="261" r:id="rId12"/>
    <p:sldId id="262" r:id="rId13"/>
    <p:sldId id="263" r:id="rId14"/>
    <p:sldId id="283" r:id="rId15"/>
    <p:sldId id="264" r:id="rId16"/>
    <p:sldId id="284" r:id="rId17"/>
    <p:sldId id="285" r:id="rId18"/>
    <p:sldId id="265" r:id="rId19"/>
    <p:sldId id="286" r:id="rId20"/>
    <p:sldId id="287" r:id="rId21"/>
    <p:sldId id="288" r:id="rId22"/>
    <p:sldId id="289" r:id="rId23"/>
    <p:sldId id="290" r:id="rId24"/>
    <p:sldId id="291" r:id="rId25"/>
    <p:sldId id="266" r:id="rId26"/>
    <p:sldId id="292" r:id="rId27"/>
    <p:sldId id="293" r:id="rId28"/>
    <p:sldId id="267" r:id="rId29"/>
    <p:sldId id="294" r:id="rId30"/>
    <p:sldId id="295" r:id="rId31"/>
    <p:sldId id="296" r:id="rId32"/>
    <p:sldId id="297" r:id="rId33"/>
    <p:sldId id="298" r:id="rId34"/>
    <p:sldId id="268" r:id="rId35"/>
    <p:sldId id="299" r:id="rId36"/>
    <p:sldId id="300" r:id="rId37"/>
    <p:sldId id="301" r:id="rId38"/>
    <p:sldId id="269" r:id="rId39"/>
    <p:sldId id="302" r:id="rId40"/>
    <p:sldId id="303" r:id="rId41"/>
    <p:sldId id="304" r:id="rId42"/>
    <p:sldId id="270" r:id="rId43"/>
    <p:sldId id="274" r:id="rId44"/>
    <p:sldId id="275" r:id="rId45"/>
    <p:sldId id="276" r:id="rId46"/>
    <p:sldId id="277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234" y="-2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85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49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5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216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047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665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026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768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3938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7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247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036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AI-Assisted SQL, dbt &amp; Data Modelling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NL2SQL deep dive</a:t>
            </a:r>
          </a:p>
          <a:p>
            <a:r>
              <a:t>SQL optimization using AI</a:t>
            </a:r>
          </a:p>
          <a:p>
            <a:r>
              <a:t>Dimensional modelling</a:t>
            </a:r>
          </a:p>
          <a:p>
            <a:r>
              <a:t>dbt automation</a:t>
            </a:r>
          </a:p>
          <a:p>
            <a:r>
              <a:t>Hands-on use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NL2SQL?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Convert natural language to SQL</a:t>
            </a:r>
          </a:p>
          <a:p>
            <a:r>
              <a:t>Used in BI tools and GenAI</a:t>
            </a:r>
          </a:p>
          <a:p>
            <a:r>
              <a:t>Reduces dependency on SQL experts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65E21-C8A2-C6BE-5D1D-74BBE39C2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NL2Sql </a:t>
            </a:r>
            <a:r>
              <a:rPr lang="en-US" dirty="0" err="1"/>
              <a:t>WOrks</a:t>
            </a:r>
            <a:endParaRPr lang="en-IN" dirty="0"/>
          </a:p>
        </p:txBody>
      </p:sp>
      <p:pic>
        <p:nvPicPr>
          <p:cNvPr id="1026" name="Picture 2" descr="How to use LangChain to build a Text-to-SQL solution | by Marvin | Medium">
            <a:extLst>
              <a:ext uri="{FF2B5EF4-FFF2-40B4-BE49-F238E27FC236}">
                <a16:creationId xmlns:a16="http://schemas.microsoft.com/office/drawing/2014/main" id="{5BEC565B-C2A2-7413-ED9F-8148796D137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24" y="2286000"/>
            <a:ext cx="7290053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923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1CA1A-DD77-FCDF-41B2-527E898C7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By STEP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37AFA-F6A7-63C3-76F7-A3585CD4E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952625"/>
            <a:ext cx="7290055" cy="5486399"/>
          </a:xfrm>
        </p:spPr>
        <p:txBody>
          <a:bodyPr>
            <a:normAutofit/>
          </a:bodyPr>
          <a:lstStyle/>
          <a:p>
            <a:r>
              <a:rPr lang="en-IN" b="1" dirty="0"/>
              <a:t>1. User Input</a:t>
            </a:r>
          </a:p>
          <a:p>
            <a:r>
              <a:rPr lang="en-IN" dirty="0"/>
              <a:t>User provides a natural language question</a:t>
            </a:r>
            <a:br>
              <a:rPr lang="en-IN" dirty="0"/>
            </a:br>
            <a:r>
              <a:rPr lang="en-IN" dirty="0"/>
              <a:t>Example:</a:t>
            </a:r>
          </a:p>
          <a:p>
            <a:r>
              <a:rPr lang="en-IN" dirty="0"/>
              <a:t>“Top 5 customers by revenue last quarter”</a:t>
            </a:r>
          </a:p>
          <a:p>
            <a:r>
              <a:rPr lang="en-IN" b="1" dirty="0"/>
              <a:t>2. Schema Understanding</a:t>
            </a:r>
          </a:p>
          <a:p>
            <a:r>
              <a:rPr lang="en-IN" dirty="0"/>
              <a:t>AI reads:</a:t>
            </a:r>
          </a:p>
          <a:p>
            <a:r>
              <a:rPr lang="en-IN" dirty="0"/>
              <a:t>Table names (customers, orders) </a:t>
            </a:r>
          </a:p>
          <a:p>
            <a:r>
              <a:rPr lang="en-IN" dirty="0"/>
              <a:t>Columns (revenue, date) </a:t>
            </a:r>
          </a:p>
          <a:p>
            <a:r>
              <a:rPr lang="en-IN" dirty="0"/>
              <a:t>Relationships (joins) 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7931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52615-1A57-73C5-C6FE-AFB405C72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1B387-4829-61B4-4A6C-E80D2CC9B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3. Query Generation</a:t>
            </a:r>
          </a:p>
          <a:p>
            <a:r>
              <a:rPr lang="en-IN" dirty="0"/>
              <a:t>AI generates SQL:</a:t>
            </a:r>
          </a:p>
          <a:p>
            <a:r>
              <a:rPr lang="en-IN" dirty="0"/>
              <a:t>SELECT </a:t>
            </a:r>
            <a:r>
              <a:rPr lang="en-IN" dirty="0" err="1"/>
              <a:t>c.customer_name</a:t>
            </a:r>
            <a:r>
              <a:rPr lang="en-IN" dirty="0"/>
              <a:t>, SUM(</a:t>
            </a:r>
            <a:r>
              <a:rPr lang="en-IN" dirty="0" err="1"/>
              <a:t>o.amount</a:t>
            </a:r>
            <a:r>
              <a:rPr lang="en-IN" dirty="0"/>
              <a:t>) AS </a:t>
            </a:r>
            <a:r>
              <a:rPr lang="en-IN" dirty="0" err="1"/>
              <a:t>total_revenue</a:t>
            </a:r>
            <a:br>
              <a:rPr lang="en-IN" dirty="0"/>
            </a:br>
            <a:r>
              <a:rPr lang="en-IN" dirty="0"/>
              <a:t>FROM customers c</a:t>
            </a:r>
            <a:br>
              <a:rPr lang="en-IN" dirty="0"/>
            </a:br>
            <a:r>
              <a:rPr lang="en-IN" dirty="0"/>
              <a:t>JOIN orders o ON </a:t>
            </a:r>
            <a:r>
              <a:rPr lang="en-IN" dirty="0" err="1"/>
              <a:t>c.customer_id</a:t>
            </a:r>
            <a:r>
              <a:rPr lang="en-IN" dirty="0"/>
              <a:t> = </a:t>
            </a:r>
            <a:r>
              <a:rPr lang="en-IN" dirty="0" err="1"/>
              <a:t>o.customer_id</a:t>
            </a:r>
            <a:br>
              <a:rPr lang="en-IN" dirty="0"/>
            </a:br>
            <a:r>
              <a:rPr lang="en-IN" dirty="0"/>
              <a:t>WHERE </a:t>
            </a:r>
            <a:r>
              <a:rPr lang="en-IN" dirty="0" err="1"/>
              <a:t>o.order_date</a:t>
            </a:r>
            <a:r>
              <a:rPr lang="en-IN" dirty="0"/>
              <a:t> &gt;= DATE_TRUNC('quarter', CURRENT_DATE) - INTERVAL '1 quarter'</a:t>
            </a:r>
            <a:br>
              <a:rPr lang="en-IN" dirty="0"/>
            </a:br>
            <a:r>
              <a:rPr lang="en-IN" dirty="0"/>
              <a:t>GROUP BY </a:t>
            </a:r>
            <a:r>
              <a:rPr lang="en-IN" dirty="0" err="1"/>
              <a:t>c.customer_name</a:t>
            </a:r>
            <a:br>
              <a:rPr lang="en-IN" dirty="0"/>
            </a:br>
            <a:r>
              <a:rPr lang="en-IN" dirty="0"/>
              <a:t>ORDER BY </a:t>
            </a:r>
            <a:r>
              <a:rPr lang="en-IN" dirty="0" err="1"/>
              <a:t>total_revenue</a:t>
            </a:r>
            <a:r>
              <a:rPr lang="en-IN" dirty="0"/>
              <a:t> DESC</a:t>
            </a:r>
            <a:br>
              <a:rPr lang="en-IN" dirty="0"/>
            </a:br>
            <a:r>
              <a:rPr lang="en-IN" dirty="0"/>
              <a:t>LIMIT 5;</a:t>
            </a:r>
            <a:endParaRPr lang="en-IN" b="1" dirty="0"/>
          </a:p>
          <a:p>
            <a:r>
              <a:rPr lang="en-IN" b="1" dirty="0"/>
              <a:t>4. Execution</a:t>
            </a:r>
          </a:p>
          <a:p>
            <a:r>
              <a:rPr lang="en-IN" dirty="0"/>
              <a:t>Query runs on database (Snowflake, Postgres, etc.)</a:t>
            </a:r>
          </a:p>
          <a:p>
            <a:r>
              <a:rPr lang="en-IN" b="1" dirty="0"/>
              <a:t>5. Output</a:t>
            </a:r>
          </a:p>
          <a:p>
            <a:r>
              <a:rPr lang="en-IN" dirty="0"/>
              <a:t>Returns table / chart / insight</a:t>
            </a:r>
          </a:p>
        </p:txBody>
      </p:sp>
    </p:spTree>
    <p:extLst>
      <p:ext uri="{BB962C8B-B14F-4D97-AF65-F5344CB8AC3E}">
        <p14:creationId xmlns:p14="http://schemas.microsoft.com/office/powerpoint/2010/main" val="3004011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725CB-34CB-0AE5-8208-60DB33ED1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B5DBA-14D9-766F-5D38-D062874362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LLM (Large Language Model) → understands language</a:t>
            </a:r>
          </a:p>
          <a:p>
            <a:r>
              <a:rPr lang="en-IN" dirty="0"/>
              <a:t>Schema Context → database structure</a:t>
            </a:r>
          </a:p>
          <a:p>
            <a:r>
              <a:rPr lang="en-IN" dirty="0"/>
              <a:t>Prompt Engineering → instructions to guide SQL generation</a:t>
            </a:r>
          </a:p>
          <a:p>
            <a:r>
              <a:rPr lang="en-IN" dirty="0"/>
              <a:t>Execution Engine → runs SQL</a:t>
            </a:r>
          </a:p>
        </p:txBody>
      </p:sp>
    </p:spTree>
    <p:extLst>
      <p:ext uri="{BB962C8B-B14F-4D97-AF65-F5344CB8AC3E}">
        <p14:creationId xmlns:p14="http://schemas.microsoft.com/office/powerpoint/2010/main" val="2725637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NL2SQL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Aggregation queries</a:t>
            </a:r>
          </a:p>
          <a:p>
            <a:r>
              <a:t>Filtering conditions</a:t>
            </a:r>
          </a:p>
          <a:p>
            <a:r>
              <a:t>Joins across tables</a:t>
            </a:r>
          </a:p>
          <a:p>
            <a:r>
              <a:t>Group by and ordering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10A81-7EA1-4A1B-B2ED-39B1A6FB3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F1630-586D-4BEF-1662-9A7E079FD1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084833"/>
            <a:ext cx="7290055" cy="4668392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1. Aggregation</a:t>
            </a:r>
          </a:p>
          <a:p>
            <a:r>
              <a:rPr lang="en-US" dirty="0"/>
              <a:t>“Total sales by region”</a:t>
            </a:r>
          </a:p>
          <a:p>
            <a:r>
              <a:rPr lang="en-US" dirty="0"/>
              <a:t>GROUP BY region</a:t>
            </a:r>
          </a:p>
          <a:p>
            <a:r>
              <a:rPr lang="en-US" b="1" dirty="0"/>
              <a:t>2. Filtering</a:t>
            </a:r>
          </a:p>
          <a:p>
            <a:r>
              <a:rPr lang="en-US" dirty="0"/>
              <a:t>“Sales in 2023”</a:t>
            </a:r>
          </a:p>
          <a:p>
            <a:r>
              <a:rPr lang="en-US" dirty="0"/>
              <a:t>WHERE year = 2023</a:t>
            </a:r>
          </a:p>
          <a:p>
            <a:r>
              <a:rPr lang="en-US" b="1" dirty="0"/>
              <a:t>3. Joins</a:t>
            </a:r>
          </a:p>
          <a:p>
            <a:r>
              <a:rPr lang="en-US" dirty="0"/>
              <a:t>“Customer orders with product names”</a:t>
            </a:r>
          </a:p>
          <a:p>
            <a:r>
              <a:rPr lang="en-US" dirty="0"/>
              <a:t>JOIN customers, orders, products</a:t>
            </a:r>
          </a:p>
          <a:p>
            <a:r>
              <a:rPr lang="en-US" b="1" dirty="0"/>
              <a:t>4. Ranking / Top-N</a:t>
            </a:r>
          </a:p>
          <a:p>
            <a:r>
              <a:rPr lang="en-US" dirty="0"/>
              <a:t>“Top 10 products”</a:t>
            </a:r>
          </a:p>
          <a:p>
            <a:r>
              <a:rPr lang="en-US" dirty="0"/>
              <a:t>ORDER BY revenue DESC LIMIT 10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8188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NL2SQL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1876425"/>
            <a:ext cx="7290055" cy="4857749"/>
          </a:xfrm>
        </p:spPr>
        <p:txBody>
          <a:bodyPr>
            <a:normAutofit/>
          </a:bodyPr>
          <a:lstStyle/>
          <a:p>
            <a:r>
              <a:rPr dirty="0"/>
              <a:t>Ambiguity in language</a:t>
            </a:r>
            <a:endParaRPr lang="en-US" dirty="0"/>
          </a:p>
          <a:p>
            <a:pPr lvl="1"/>
            <a:r>
              <a:rPr lang="en-US" dirty="0"/>
              <a:t>“Top customers” → by revenue? by orders?</a:t>
            </a:r>
            <a:endParaRPr dirty="0"/>
          </a:p>
          <a:p>
            <a:r>
              <a:rPr dirty="0"/>
              <a:t>Schema understanding</a:t>
            </a:r>
            <a:endParaRPr lang="en-US" dirty="0"/>
          </a:p>
          <a:p>
            <a:pPr lvl="1"/>
            <a:r>
              <a:rPr lang="en-IN" dirty="0"/>
              <a:t>Many tables</a:t>
            </a:r>
          </a:p>
          <a:p>
            <a:pPr lvl="1"/>
            <a:r>
              <a:rPr lang="en-IN" dirty="0"/>
              <a:t>Unclear relationships</a:t>
            </a:r>
            <a:endParaRPr dirty="0"/>
          </a:p>
          <a:p>
            <a:r>
              <a:rPr dirty="0"/>
              <a:t>Complex joins</a:t>
            </a:r>
            <a:endParaRPr lang="en-US" dirty="0"/>
          </a:p>
          <a:p>
            <a:pPr lvl="1"/>
            <a:r>
              <a:rPr lang="en-US" dirty="0"/>
              <a:t>AI may generate wrong join conditions</a:t>
            </a:r>
            <a:endParaRPr dirty="0"/>
          </a:p>
          <a:p>
            <a:r>
              <a:rPr dirty="0"/>
              <a:t>Performance issues</a:t>
            </a:r>
            <a:endParaRPr lang="en-US" dirty="0"/>
          </a:p>
          <a:p>
            <a:pPr lvl="1"/>
            <a:r>
              <a:rPr lang="en-US" dirty="0"/>
              <a:t>Null handling</a:t>
            </a:r>
          </a:p>
          <a:p>
            <a:pPr lvl="1"/>
            <a:r>
              <a:rPr lang="en-US" dirty="0"/>
              <a:t>Date logic</a:t>
            </a:r>
          </a:p>
          <a:p>
            <a:pPr lvl="1"/>
            <a:r>
              <a:rPr lang="en-US" dirty="0"/>
              <a:t>Nested queries</a:t>
            </a:r>
          </a:p>
          <a:p>
            <a:r>
              <a:rPr lang="en-IN" dirty="0"/>
              <a:t>Edge Cases</a:t>
            </a:r>
            <a:endParaRPr lang="en-US" dirty="0"/>
          </a:p>
          <a:p>
            <a:pPr lvl="1"/>
            <a:r>
              <a:rPr lang="en-IN" dirty="0"/>
              <a:t>Inefficient queries</a:t>
            </a:r>
          </a:p>
          <a:p>
            <a:pPr lvl="1"/>
            <a:r>
              <a:rPr lang="en-IN" dirty="0"/>
              <a:t>Missing indexes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Optimization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Avoid SELECT *</a:t>
            </a:r>
          </a:p>
          <a:p>
            <a:r>
              <a:t>Use proper joins</a:t>
            </a:r>
          </a:p>
          <a:p>
            <a:r>
              <a:t>Index usage</a:t>
            </a:r>
          </a:p>
          <a:p>
            <a:r>
              <a:t>Query refactoring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for SQL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Claude Code suggestions</a:t>
            </a:r>
          </a:p>
          <a:p>
            <a:r>
              <a:t>Copilot inline improvements</a:t>
            </a:r>
          </a:p>
          <a:p>
            <a:r>
              <a:t>Explain query plans</a:t>
            </a:r>
          </a:p>
          <a:p>
            <a:r>
              <a:t>Auto rewrite queries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Dimensional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Fact tables</a:t>
            </a:r>
            <a:endParaRPr lang="en-US" dirty="0"/>
          </a:p>
          <a:p>
            <a:pPr lvl="1"/>
            <a:r>
              <a:rPr lang="en-US" dirty="0"/>
              <a:t>Contains </a:t>
            </a:r>
            <a:r>
              <a:rPr lang="en-US" b="1" dirty="0"/>
              <a:t>quantitative data</a:t>
            </a:r>
            <a:r>
              <a:rPr lang="en-US" dirty="0"/>
              <a:t> used for analysis</a:t>
            </a:r>
          </a:p>
          <a:p>
            <a:pPr lvl="1"/>
            <a:r>
              <a:rPr lang="en-US" dirty="0"/>
              <a:t>Examples:</a:t>
            </a:r>
          </a:p>
          <a:p>
            <a:pPr lvl="2"/>
            <a:r>
              <a:rPr lang="en-US" dirty="0"/>
              <a:t>Sales amount </a:t>
            </a:r>
          </a:p>
          <a:p>
            <a:pPr lvl="2"/>
            <a:r>
              <a:rPr lang="en-US" dirty="0"/>
              <a:t>Quantity sold </a:t>
            </a:r>
          </a:p>
          <a:p>
            <a:pPr lvl="2"/>
            <a:r>
              <a:rPr lang="en-US" dirty="0"/>
              <a:t>Revenue </a:t>
            </a:r>
            <a:endParaRPr dirty="0"/>
          </a:p>
          <a:p>
            <a:r>
              <a:rPr dirty="0"/>
              <a:t>Dimension tables</a:t>
            </a:r>
            <a:endParaRPr lang="en-US" dirty="0"/>
          </a:p>
          <a:p>
            <a:r>
              <a:rPr lang="en-US" dirty="0"/>
              <a:t>Provide </a:t>
            </a:r>
            <a:r>
              <a:rPr lang="en-US" b="1" dirty="0"/>
              <a:t>context</a:t>
            </a:r>
            <a:r>
              <a:rPr lang="en-US" dirty="0"/>
              <a:t> to facts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Customer details </a:t>
            </a:r>
          </a:p>
          <a:p>
            <a:pPr lvl="1"/>
            <a:r>
              <a:rPr lang="en-US" dirty="0"/>
              <a:t>Product info </a:t>
            </a:r>
          </a:p>
          <a:p>
            <a:pPr lvl="1"/>
            <a:r>
              <a:rPr lang="en-US" dirty="0"/>
              <a:t>Time (date, month, year) </a:t>
            </a:r>
          </a:p>
          <a:p>
            <a:pPr lvl="1"/>
            <a:r>
              <a:rPr lang="en-US" dirty="0"/>
              <a:t>Location</a:t>
            </a:r>
            <a:endParaRPr dirty="0"/>
          </a:p>
          <a:p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6422-26D9-0370-9DEB-A80ECF4DA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46333-B3A7-CCF4-CB54-868E9AB67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Star schema</a:t>
            </a:r>
          </a:p>
          <a:p>
            <a:pPr lvl="1"/>
            <a:r>
              <a:rPr lang="en-US" dirty="0"/>
              <a:t>Fact table at center</a:t>
            </a:r>
          </a:p>
          <a:p>
            <a:pPr lvl="1"/>
            <a:r>
              <a:rPr lang="en-US" dirty="0"/>
              <a:t>Dimension tables around it</a:t>
            </a:r>
          </a:p>
          <a:p>
            <a:pPr lvl="1"/>
            <a:r>
              <a:rPr lang="en-US" dirty="0"/>
              <a:t>Direct joins (simple)</a:t>
            </a:r>
            <a:endParaRPr lang="en-IN" dirty="0"/>
          </a:p>
          <a:p>
            <a:r>
              <a:rPr lang="en-IN" dirty="0"/>
              <a:t>Snowflake schema</a:t>
            </a:r>
          </a:p>
          <a:p>
            <a:pPr lvl="1"/>
            <a:r>
              <a:rPr lang="en-US" dirty="0"/>
              <a:t>Dimensions are further normalized </a:t>
            </a:r>
          </a:p>
          <a:p>
            <a:pPr lvl="1"/>
            <a:r>
              <a:rPr lang="en-US" dirty="0"/>
              <a:t>More tables, less redundancy </a:t>
            </a:r>
          </a:p>
          <a:p>
            <a:pPr lvl="1"/>
            <a:r>
              <a:rPr lang="en-US" b="1" dirty="0"/>
              <a:t>Trade-off:</a:t>
            </a:r>
          </a:p>
          <a:p>
            <a:pPr lvl="2"/>
            <a:r>
              <a:rPr lang="en-US" dirty="0"/>
              <a:t>Cleaner data model </a:t>
            </a:r>
          </a:p>
          <a:p>
            <a:pPr lvl="2"/>
            <a:r>
              <a:rPr lang="en-US" dirty="0"/>
              <a:t>But slower queries (more joins)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4504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Modelling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7290055" cy="457200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AI-Assisted Modelling</a:t>
            </a:r>
            <a:r>
              <a:rPr lang="en-US" dirty="0"/>
              <a:t> uses </a:t>
            </a:r>
            <a:r>
              <a:rPr lang="en-US" b="1" dirty="0"/>
              <a:t>LLMs (like Claude, GPT, Copilot)</a:t>
            </a:r>
            <a:r>
              <a:rPr lang="en-US" dirty="0"/>
              <a:t> to automatically design and generate data models (tables, relationships, </a:t>
            </a:r>
            <a:r>
              <a:rPr lang="en-US" dirty="0" err="1"/>
              <a:t>dbt</a:t>
            </a:r>
            <a:r>
              <a:rPr lang="en-US" dirty="0"/>
              <a:t> models) from </a:t>
            </a:r>
            <a:r>
              <a:rPr lang="en-US" b="1" dirty="0"/>
              <a:t>natural language prompts</a:t>
            </a:r>
            <a:r>
              <a:rPr lang="en-US" dirty="0"/>
              <a:t>.</a:t>
            </a:r>
            <a:endParaRPr lang="en-IN" dirty="0"/>
          </a:p>
          <a:p>
            <a:r>
              <a:rPr dirty="0"/>
              <a:t>Generate schema from prompt</a:t>
            </a:r>
            <a:endParaRPr lang="en-US" dirty="0"/>
          </a:p>
          <a:p>
            <a:r>
              <a:rPr lang="en-IN" b="1" dirty="0"/>
              <a:t>What AI does:</a:t>
            </a:r>
          </a:p>
          <a:p>
            <a:pPr lvl="1"/>
            <a:r>
              <a:rPr lang="en-IN" dirty="0"/>
              <a:t>Identifies </a:t>
            </a:r>
            <a:r>
              <a:rPr lang="en-IN" b="1" dirty="0"/>
              <a:t>entities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Separates </a:t>
            </a:r>
            <a:r>
              <a:rPr lang="en-IN" b="1" dirty="0"/>
              <a:t>facts vs dimensions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Defines </a:t>
            </a:r>
            <a:r>
              <a:rPr lang="en-IN" b="1" dirty="0"/>
              <a:t>columns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Suggests </a:t>
            </a:r>
            <a:r>
              <a:rPr lang="en-IN" b="1" dirty="0"/>
              <a:t>keys</a:t>
            </a:r>
            <a:endParaRPr dirty="0"/>
          </a:p>
          <a:p>
            <a:r>
              <a:rPr dirty="0"/>
              <a:t>Suggest relationships</a:t>
            </a:r>
            <a:endParaRPr lang="en-US" dirty="0"/>
          </a:p>
          <a:p>
            <a:r>
              <a:rPr lang="en-US" b="1" dirty="0"/>
              <a:t>AI can:</a:t>
            </a:r>
          </a:p>
          <a:p>
            <a:pPr lvl="1"/>
            <a:r>
              <a:rPr lang="en-US" dirty="0"/>
              <a:t>Detect </a:t>
            </a:r>
            <a:r>
              <a:rPr lang="en-US" b="1" dirty="0"/>
              <a:t>primary/foreign keys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Suggest </a:t>
            </a:r>
            <a:r>
              <a:rPr lang="en-US" b="1" dirty="0"/>
              <a:t>join conditions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Avoid incorrect joins </a:t>
            </a:r>
          </a:p>
          <a:p>
            <a:pPr lvl="1"/>
            <a:r>
              <a:rPr lang="en-US" dirty="0"/>
              <a:t>Optimize relationship structure</a:t>
            </a:r>
            <a:endParaRPr dirty="0"/>
          </a:p>
          <a:p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BDC6B-91A4-0A62-BB8E-C30BAE357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EADF0-CA44-B794-4B14-33848FB3F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448175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Auto documentation</a:t>
            </a:r>
          </a:p>
          <a:p>
            <a:pPr lvl="1"/>
            <a:r>
              <a:rPr lang="en-IN" dirty="0"/>
              <a:t>AI generates documentation</a:t>
            </a:r>
          </a:p>
          <a:p>
            <a:pPr lvl="1"/>
            <a:r>
              <a:rPr lang="en-US" b="1" dirty="0"/>
              <a:t>Benefits:</a:t>
            </a:r>
          </a:p>
          <a:p>
            <a:pPr lvl="2"/>
            <a:r>
              <a:rPr lang="en-US" dirty="0"/>
              <a:t>Saves time </a:t>
            </a:r>
          </a:p>
          <a:p>
            <a:pPr lvl="2"/>
            <a:r>
              <a:rPr lang="en-US" dirty="0"/>
              <a:t>Improves data understanding </a:t>
            </a:r>
          </a:p>
          <a:p>
            <a:pPr lvl="2"/>
            <a:r>
              <a:rPr lang="en-US" dirty="0"/>
              <a:t>Helps business users </a:t>
            </a:r>
            <a:endParaRPr lang="en-IN" dirty="0"/>
          </a:p>
          <a:p>
            <a:r>
              <a:rPr lang="en-IN" dirty="0"/>
              <a:t>End-to-End Flow</a:t>
            </a:r>
          </a:p>
          <a:p>
            <a:pPr lvl="1"/>
            <a:r>
              <a:rPr lang="en-US" dirty="0"/>
              <a:t>User gives prompt</a:t>
            </a:r>
          </a:p>
          <a:p>
            <a:pPr lvl="1"/>
            <a:r>
              <a:rPr lang="en-US" dirty="0"/>
              <a:t>AI reads schema (if available)</a:t>
            </a:r>
          </a:p>
          <a:p>
            <a:pPr lvl="1"/>
            <a:r>
              <a:rPr lang="en-US" dirty="0"/>
              <a:t>Generates:</a:t>
            </a:r>
          </a:p>
          <a:p>
            <a:pPr lvl="2"/>
            <a:r>
              <a:rPr lang="en-US" dirty="0"/>
              <a:t>Tables</a:t>
            </a:r>
          </a:p>
          <a:p>
            <a:pPr lvl="2"/>
            <a:r>
              <a:rPr lang="en-US" dirty="0"/>
              <a:t>Relationships</a:t>
            </a:r>
          </a:p>
          <a:p>
            <a:pPr lvl="2"/>
            <a:r>
              <a:rPr lang="en-US" dirty="0"/>
              <a:t>SQL / </a:t>
            </a:r>
            <a:r>
              <a:rPr lang="en-US" dirty="0" err="1"/>
              <a:t>dbt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Adds:</a:t>
            </a:r>
          </a:p>
          <a:p>
            <a:pPr lvl="2"/>
            <a:r>
              <a:rPr lang="en-US" dirty="0"/>
              <a:t>Tests</a:t>
            </a:r>
          </a:p>
          <a:p>
            <a:pPr lvl="2"/>
            <a:r>
              <a:rPr lang="en-US" dirty="0"/>
              <a:t>Documentation</a:t>
            </a:r>
          </a:p>
          <a:p>
            <a:pPr lvl="1"/>
            <a:r>
              <a:rPr lang="en-US" dirty="0"/>
              <a:t>Ready for deployment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02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9956C-A0C6-C007-CDB3-851571689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Used in AI-Assisted Modelling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3D23C-0011-C274-413C-E5A3C3F14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dbt</a:t>
            </a:r>
            <a:r>
              <a:rPr lang="en-IN" dirty="0"/>
              <a:t> Cloud → model + docs + tests</a:t>
            </a:r>
          </a:p>
          <a:p>
            <a:r>
              <a:rPr lang="en-IN" dirty="0"/>
              <a:t>Claude Code → SQL + explanation + optimization</a:t>
            </a:r>
          </a:p>
          <a:p>
            <a:r>
              <a:rPr lang="en-IN" dirty="0"/>
              <a:t>GitHub Copilot → inline suggestions</a:t>
            </a:r>
          </a:p>
          <a:p>
            <a:r>
              <a:rPr lang="en-IN" dirty="0"/>
              <a:t>Snowflake Cortex Analyst → schema-aware query generation</a:t>
            </a:r>
          </a:p>
        </p:txBody>
      </p:sp>
    </p:spTree>
    <p:extLst>
      <p:ext uri="{BB962C8B-B14F-4D97-AF65-F5344CB8AC3E}">
        <p14:creationId xmlns:p14="http://schemas.microsoft.com/office/powerpoint/2010/main" val="1269478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dbt</a:t>
            </a:r>
            <a:r>
              <a:rPr lang="en-US" b="1" dirty="0"/>
              <a:t> (data build tool)</a:t>
            </a:r>
            <a:r>
              <a:rPr lang="en-US" dirty="0"/>
              <a:t> is a tool that lets you </a:t>
            </a:r>
            <a:r>
              <a:rPr lang="en-US" b="1" dirty="0"/>
              <a:t>transform raw data in your warehouse using SQL</a:t>
            </a:r>
            <a:r>
              <a:rPr lang="en-US" dirty="0"/>
              <a:t>, while also providing:</a:t>
            </a:r>
          </a:p>
          <a:p>
            <a:pPr lvl="1"/>
            <a:r>
              <a:rPr lang="en-US" dirty="0"/>
              <a:t>Testing </a:t>
            </a:r>
          </a:p>
          <a:p>
            <a:pPr lvl="1"/>
            <a:r>
              <a:rPr lang="en-US" dirty="0"/>
              <a:t>Documentation </a:t>
            </a:r>
          </a:p>
          <a:p>
            <a:pPr lvl="1"/>
            <a:r>
              <a:rPr lang="en-US" dirty="0"/>
              <a:t>Version control </a:t>
            </a:r>
          </a:p>
          <a:p>
            <a:pPr lvl="1"/>
            <a:r>
              <a:rPr lang="en-US" dirty="0"/>
              <a:t>Data lineage </a:t>
            </a:r>
            <a:endParaRPr lang="en-IN" dirty="0"/>
          </a:p>
          <a:p>
            <a:r>
              <a:rPr dirty="0"/>
              <a:t>Transformation tool</a:t>
            </a:r>
          </a:p>
          <a:p>
            <a:r>
              <a:rPr dirty="0"/>
              <a:t>SQL-based modelling</a:t>
            </a:r>
          </a:p>
          <a:p>
            <a:r>
              <a:rPr dirty="0"/>
              <a:t>Version controlled pipelines</a:t>
            </a:r>
            <a:endParaRPr lang="en-US" dirty="0"/>
          </a:p>
          <a:p>
            <a:r>
              <a:rPr lang="en-US" b="1" dirty="0" err="1"/>
              <a:t>dbt</a:t>
            </a:r>
            <a:r>
              <a:rPr lang="en-US" b="1" dirty="0"/>
              <a:t> is like software engineering for data :-write SQL, version it, test it, and deploy it</a:t>
            </a:r>
            <a:endParaRPr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CE202-2594-F2C5-FC4F-27C300D2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Where </a:t>
            </a:r>
            <a:r>
              <a:rPr lang="en-IN" dirty="0" err="1"/>
              <a:t>dbt</a:t>
            </a:r>
            <a:r>
              <a:rPr lang="en-IN" dirty="0"/>
              <a:t> 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D6B0C-8F1F-85CA-17E9-C38202C1B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Ingestion</a:t>
            </a:r>
            <a:r>
              <a:rPr lang="en-IN" dirty="0"/>
              <a:t> → (ADF, </a:t>
            </a:r>
            <a:r>
              <a:rPr lang="en-IN" dirty="0" err="1"/>
              <a:t>NiFi</a:t>
            </a:r>
            <a:r>
              <a:rPr lang="en-IN" dirty="0"/>
              <a:t>, </a:t>
            </a:r>
            <a:r>
              <a:rPr lang="en-IN" dirty="0" err="1"/>
              <a:t>Fivetran</a:t>
            </a:r>
            <a:r>
              <a:rPr lang="en-IN" dirty="0"/>
              <a:t>) </a:t>
            </a:r>
          </a:p>
          <a:p>
            <a:r>
              <a:rPr lang="en-IN" b="1" dirty="0"/>
              <a:t>Storage</a:t>
            </a:r>
            <a:r>
              <a:rPr lang="en-IN" dirty="0"/>
              <a:t> → (Snowflake, </a:t>
            </a:r>
            <a:r>
              <a:rPr lang="en-IN" dirty="0" err="1"/>
              <a:t>BigQuery</a:t>
            </a:r>
            <a:r>
              <a:rPr lang="en-IN" dirty="0"/>
              <a:t>, Databricks) </a:t>
            </a:r>
          </a:p>
          <a:p>
            <a:r>
              <a:rPr lang="en-IN" b="1" dirty="0"/>
              <a:t>Transformation (</a:t>
            </a:r>
            <a:r>
              <a:rPr lang="en-IN" b="1" dirty="0" err="1"/>
              <a:t>dbt</a:t>
            </a:r>
            <a:r>
              <a:rPr lang="en-IN" b="1" dirty="0"/>
              <a:t>)</a:t>
            </a:r>
            <a:r>
              <a:rPr lang="en-IN" dirty="0"/>
              <a:t> ← THIS is where </a:t>
            </a:r>
            <a:r>
              <a:rPr lang="en-IN" dirty="0" err="1"/>
              <a:t>dbt</a:t>
            </a:r>
            <a:r>
              <a:rPr lang="en-IN" dirty="0"/>
              <a:t> works </a:t>
            </a:r>
          </a:p>
          <a:p>
            <a:r>
              <a:rPr lang="en-IN" b="1" dirty="0"/>
              <a:t>BI / Analytics</a:t>
            </a:r>
            <a:r>
              <a:rPr lang="en-IN" dirty="0"/>
              <a:t> → (Power BI, Tableau)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>
                <a:sym typeface="Wingdings" panose="05000000000000000000" pitchFamily="2" charset="2"/>
              </a:rPr>
              <a:t></a:t>
            </a:r>
            <a:r>
              <a:rPr lang="en-IN" dirty="0"/>
              <a:t> </a:t>
            </a:r>
            <a:r>
              <a:rPr lang="en-IN" dirty="0" err="1"/>
              <a:t>dbt</a:t>
            </a:r>
            <a:r>
              <a:rPr lang="en-IN" dirty="0"/>
              <a:t> does </a:t>
            </a:r>
            <a:r>
              <a:rPr lang="en-IN" b="1" dirty="0"/>
              <a:t>T in ELT (Transform)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4460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E4BAE-78E7-7C88-FFB9-E83FE9DBF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Core Concepts in </a:t>
            </a:r>
            <a:r>
              <a:rPr lang="en-IN" dirty="0" err="1"/>
              <a:t>dbt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B3689-3D06-F282-7009-F477F379D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1. Models (Main Concept)</a:t>
            </a:r>
          </a:p>
          <a:p>
            <a:r>
              <a:rPr lang="en-US" dirty="0"/>
              <a:t>A </a:t>
            </a:r>
            <a:r>
              <a:rPr lang="en-US" b="1" dirty="0"/>
              <a:t>model = SQL file</a:t>
            </a:r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-- models/</a:t>
            </a:r>
            <a:r>
              <a:rPr lang="en-US" dirty="0" err="1"/>
              <a:t>fact_sales.sql</a:t>
            </a:r>
            <a:br>
              <a:rPr lang="en-US" dirty="0"/>
            </a:br>
            <a:r>
              <a:rPr lang="en-US" dirty="0"/>
              <a:t>SELECT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/>
              <a:t>customer_id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SUM(amount) AS </a:t>
            </a:r>
            <a:r>
              <a:rPr lang="en-US" dirty="0" err="1"/>
              <a:t>total_sales</a:t>
            </a:r>
            <a:br>
              <a:rPr lang="en-US" dirty="0"/>
            </a:br>
            <a:r>
              <a:rPr lang="en-US" dirty="0"/>
              <a:t>FROM </a:t>
            </a:r>
            <a:r>
              <a:rPr lang="en-US" dirty="0" err="1"/>
              <a:t>raw_orders</a:t>
            </a:r>
            <a:br>
              <a:rPr lang="en-US" dirty="0"/>
            </a:br>
            <a:r>
              <a:rPr lang="en-US" dirty="0"/>
              <a:t>GROUP BY </a:t>
            </a:r>
            <a:r>
              <a:rPr lang="en-US" dirty="0" err="1"/>
              <a:t>customer_id</a:t>
            </a:r>
            <a:endParaRPr lang="en-US" dirty="0"/>
          </a:p>
          <a:p>
            <a:r>
              <a:rPr lang="en-US" dirty="0" err="1"/>
              <a:t>dbt</a:t>
            </a:r>
            <a:r>
              <a:rPr lang="en-US" dirty="0"/>
              <a:t> turns this into a </a:t>
            </a:r>
            <a:r>
              <a:rPr lang="en-US" b="1" dirty="0"/>
              <a:t>table or view</a:t>
            </a:r>
            <a:r>
              <a:rPr lang="en-US" dirty="0"/>
              <a:t> in your warehouse.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438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DDBBA-79B3-164D-C3E4-751D01041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23900"/>
            <a:ext cx="7290055" cy="5585460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2. Sources</a:t>
            </a:r>
          </a:p>
          <a:p>
            <a:r>
              <a:rPr lang="en-US" dirty="0"/>
              <a:t>Define raw data tables</a:t>
            </a:r>
          </a:p>
          <a:p>
            <a:r>
              <a:rPr lang="en-US" dirty="0"/>
              <a:t>sources:</a:t>
            </a:r>
            <a:br>
              <a:rPr lang="en-US" dirty="0"/>
            </a:br>
            <a:r>
              <a:rPr lang="en-US" dirty="0"/>
              <a:t>  - name: raw</a:t>
            </a:r>
            <a:br>
              <a:rPr lang="en-US" dirty="0"/>
            </a:br>
            <a:r>
              <a:rPr lang="en-US" dirty="0"/>
              <a:t>    tables:</a:t>
            </a:r>
            <a:br>
              <a:rPr lang="en-US" dirty="0"/>
            </a:br>
            <a:r>
              <a:rPr lang="en-US" dirty="0"/>
              <a:t>      - name: orders</a:t>
            </a:r>
          </a:p>
          <a:p>
            <a:r>
              <a:rPr lang="en-US" b="1" dirty="0"/>
              <a:t>3. Tests (Data Quality)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columns:</a:t>
            </a:r>
            <a:br>
              <a:rPr lang="en-US" dirty="0"/>
            </a:br>
            <a:r>
              <a:rPr lang="en-US" dirty="0"/>
              <a:t>  - name: </a:t>
            </a:r>
            <a:r>
              <a:rPr lang="en-US" dirty="0" err="1"/>
              <a:t>customer_id</a:t>
            </a:r>
            <a:br>
              <a:rPr lang="en-US" dirty="0"/>
            </a:br>
            <a:r>
              <a:rPr lang="en-US" dirty="0"/>
              <a:t>    tests:</a:t>
            </a:r>
            <a:br>
              <a:rPr lang="en-US" dirty="0"/>
            </a:br>
            <a:r>
              <a:rPr lang="en-US" dirty="0"/>
              <a:t>      - </a:t>
            </a:r>
            <a:r>
              <a:rPr lang="en-US" dirty="0" err="1"/>
              <a:t>not_null</a:t>
            </a:r>
            <a:br>
              <a:rPr lang="en-US" dirty="0"/>
            </a:br>
            <a:r>
              <a:rPr lang="en-US" dirty="0"/>
              <a:t>      - unique</a:t>
            </a:r>
          </a:p>
          <a:p>
            <a:r>
              <a:rPr lang="en-US" dirty="0"/>
              <a:t>Ensures:</a:t>
            </a:r>
          </a:p>
          <a:p>
            <a:pPr lvl="1"/>
            <a:r>
              <a:rPr lang="en-US" dirty="0"/>
              <a:t>No nulls </a:t>
            </a:r>
          </a:p>
          <a:p>
            <a:pPr lvl="1"/>
            <a:r>
              <a:rPr lang="en-US" dirty="0"/>
              <a:t>No duplicates 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63274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5A21C-9BAE-3ABD-9FDA-04A04F5F4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819150"/>
            <a:ext cx="7290055" cy="5490210"/>
          </a:xfrm>
        </p:spPr>
        <p:txBody>
          <a:bodyPr>
            <a:normAutofit/>
          </a:bodyPr>
          <a:lstStyle/>
          <a:p>
            <a:r>
              <a:rPr lang="en-IN" b="1" dirty="0"/>
              <a:t>4. Documentation</a:t>
            </a:r>
          </a:p>
          <a:p>
            <a:r>
              <a:rPr lang="en-IN" dirty="0" err="1"/>
              <a:t>dbt</a:t>
            </a:r>
            <a:r>
              <a:rPr lang="en-IN" dirty="0"/>
              <a:t> auto-generates:</a:t>
            </a:r>
          </a:p>
          <a:p>
            <a:r>
              <a:rPr lang="en-IN" dirty="0"/>
              <a:t>Table descriptions </a:t>
            </a:r>
          </a:p>
          <a:p>
            <a:r>
              <a:rPr lang="en-IN" dirty="0"/>
              <a:t>Column meanings </a:t>
            </a:r>
          </a:p>
          <a:p>
            <a:r>
              <a:rPr lang="en-IN" dirty="0"/>
              <a:t>Data lineage graph 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b="1" dirty="0"/>
              <a:t>5. Lineage (DAG)</a:t>
            </a:r>
          </a:p>
          <a:p>
            <a:r>
              <a:rPr lang="en-IN" dirty="0"/>
              <a:t>Shows how data flows:</a:t>
            </a:r>
          </a:p>
          <a:p>
            <a:r>
              <a:rPr lang="en-IN" dirty="0" err="1"/>
              <a:t>raw_orders</a:t>
            </a:r>
            <a:r>
              <a:rPr lang="en-IN" dirty="0"/>
              <a:t> → </a:t>
            </a:r>
            <a:r>
              <a:rPr lang="en-IN" dirty="0" err="1"/>
              <a:t>stg_orders</a:t>
            </a:r>
            <a:r>
              <a:rPr lang="en-IN" dirty="0"/>
              <a:t> → </a:t>
            </a:r>
            <a:r>
              <a:rPr lang="en-IN" dirty="0" err="1"/>
              <a:t>fact_sales</a:t>
            </a:r>
            <a:r>
              <a:rPr lang="en-IN" dirty="0"/>
              <a:t> → dashboard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3037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ED1C-F012-D145-8B06-DF11DDF23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C6B86-10C5-4241-8D8C-718E8C537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View</a:t>
            </a:r>
            <a:r>
              <a:rPr lang="en-US" dirty="0"/>
              <a:t> → virtual (fast, no storage) </a:t>
            </a:r>
          </a:p>
          <a:p>
            <a:r>
              <a:rPr lang="en-US" b="1" dirty="0"/>
              <a:t>Table</a:t>
            </a:r>
            <a:r>
              <a:rPr lang="en-US" dirty="0"/>
              <a:t> → stored physically </a:t>
            </a:r>
          </a:p>
          <a:p>
            <a:r>
              <a:rPr lang="en-US" b="1" dirty="0"/>
              <a:t>Incremental</a:t>
            </a:r>
            <a:r>
              <a:rPr lang="en-US" dirty="0"/>
              <a:t> → loads only new data (very important for big data) </a:t>
            </a:r>
          </a:p>
          <a:p>
            <a:endParaRPr lang="en-US" b="1" dirty="0"/>
          </a:p>
          <a:p>
            <a:r>
              <a:rPr lang="en-US" b="1" dirty="0"/>
              <a:t>Why </a:t>
            </a:r>
            <a:r>
              <a:rPr lang="en-US" b="1" dirty="0" err="1"/>
              <a:t>dbt</a:t>
            </a:r>
            <a:r>
              <a:rPr lang="en-US" b="1" dirty="0"/>
              <a:t> is Powerful</a:t>
            </a:r>
          </a:p>
          <a:p>
            <a:pPr lvl="1"/>
            <a:r>
              <a:rPr lang="en-US" dirty="0"/>
              <a:t>Uses </a:t>
            </a:r>
            <a:r>
              <a:rPr lang="en-US" b="1" dirty="0"/>
              <a:t>pure SQL</a:t>
            </a:r>
            <a:r>
              <a:rPr lang="en-US" dirty="0"/>
              <a:t> (no new language) </a:t>
            </a:r>
          </a:p>
          <a:p>
            <a:pPr lvl="1"/>
            <a:r>
              <a:rPr lang="en-US" dirty="0"/>
              <a:t>Built-in </a:t>
            </a:r>
            <a:r>
              <a:rPr lang="en-US" b="1" dirty="0"/>
              <a:t>testing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Easy </a:t>
            </a:r>
            <a:r>
              <a:rPr lang="en-US" b="1" dirty="0"/>
              <a:t>collaboration (Git)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Automatic </a:t>
            </a:r>
            <a:r>
              <a:rPr lang="en-US" b="1" dirty="0"/>
              <a:t>documentation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Works directly on warehouse (no data movement)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6246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E9D9-D1D8-B2C8-5898-4052BBC5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Around </a:t>
            </a:r>
            <a:r>
              <a:rPr lang="en-IN" dirty="0" err="1"/>
              <a:t>dbt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17FF9-F753-C2D7-FA97-66B61A6D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dbt</a:t>
            </a:r>
            <a:r>
              <a:rPr lang="en-IN" dirty="0"/>
              <a:t> Cloud → UI + scheduling</a:t>
            </a:r>
          </a:p>
          <a:p>
            <a:r>
              <a:rPr lang="en-IN" dirty="0" err="1"/>
              <a:t>dbt</a:t>
            </a:r>
            <a:r>
              <a:rPr lang="en-IN" dirty="0"/>
              <a:t> Core → CLI-based</a:t>
            </a:r>
          </a:p>
          <a:p>
            <a:r>
              <a:rPr lang="en-IN" dirty="0"/>
              <a:t>Snowflake → common backend</a:t>
            </a:r>
          </a:p>
          <a:p>
            <a:r>
              <a:rPr lang="en-IN" dirty="0"/>
              <a:t>GitHub →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2809825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dbt Model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dbt</a:t>
            </a:r>
            <a:r>
              <a:rPr lang="en-US" b="1" dirty="0"/>
              <a:t> model generation</a:t>
            </a:r>
            <a:r>
              <a:rPr lang="en-US" dirty="0"/>
              <a:t> is the process of creating </a:t>
            </a:r>
            <a:r>
              <a:rPr lang="en-US" b="1" dirty="0"/>
              <a:t>SQL-based transformation models (tables/views)</a:t>
            </a:r>
            <a:r>
              <a:rPr lang="en-US" dirty="0"/>
              <a:t> in </a:t>
            </a:r>
            <a:r>
              <a:rPr lang="en-US" dirty="0" err="1"/>
              <a:t>dbt</a:t>
            </a:r>
            <a:r>
              <a:rPr lang="en-US" dirty="0"/>
              <a:t> either:</a:t>
            </a:r>
          </a:p>
          <a:p>
            <a:r>
              <a:rPr lang="en-US" dirty="0"/>
              <a:t>Manually (writing SQL files), or </a:t>
            </a:r>
          </a:p>
          <a:p>
            <a:r>
              <a:rPr lang="en-US" dirty="0"/>
              <a:t>Automatically using </a:t>
            </a:r>
            <a:r>
              <a:rPr lang="en-US" b="1" dirty="0"/>
              <a:t>AI from a prompt</a:t>
            </a:r>
            <a:r>
              <a:rPr lang="en-US" dirty="0"/>
              <a:t> </a:t>
            </a:r>
          </a:p>
          <a:p>
            <a:r>
              <a:rPr lang="en-US" dirty="0"/>
              <a:t>A </a:t>
            </a:r>
            <a:r>
              <a:rPr lang="en-US" b="1" dirty="0" err="1"/>
              <a:t>dbt</a:t>
            </a:r>
            <a:r>
              <a:rPr lang="en-US" b="1" dirty="0"/>
              <a:t> model = one SQL file</a:t>
            </a:r>
            <a:r>
              <a:rPr lang="en-US" dirty="0"/>
              <a:t> that transforms data.</a:t>
            </a:r>
          </a:p>
          <a:p>
            <a:endParaRPr lang="en-IN" dirty="0"/>
          </a:p>
          <a:p>
            <a:r>
              <a:rPr dirty="0"/>
              <a:t>Generate models using AI</a:t>
            </a:r>
          </a:p>
          <a:p>
            <a:r>
              <a:rPr dirty="0"/>
              <a:t>Auto-create sources</a:t>
            </a:r>
          </a:p>
          <a:p>
            <a:r>
              <a:rPr dirty="0"/>
              <a:t>Create exposures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A7EF-8F93-7813-270E-3747DAF11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Traditional vs AI-Based Model Generation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CCB55-5BC4-9591-CC5E-0D2C3B469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6000"/>
            <a:ext cx="7290055" cy="43624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 Traditional Way</a:t>
            </a:r>
          </a:p>
          <a:p>
            <a:pPr lvl="1"/>
            <a:r>
              <a:rPr lang="en-US" dirty="0"/>
              <a:t>Write SQL manually </a:t>
            </a:r>
          </a:p>
          <a:p>
            <a:pPr lvl="1"/>
            <a:r>
              <a:rPr lang="en-US" dirty="0"/>
              <a:t>Define joins, filters, aggregations </a:t>
            </a:r>
          </a:p>
          <a:p>
            <a:pPr lvl="1"/>
            <a:r>
              <a:rPr lang="en-US" dirty="0"/>
              <a:t>Create multiple files </a:t>
            </a:r>
          </a:p>
          <a:p>
            <a:r>
              <a:rPr lang="en-US" b="1" dirty="0"/>
              <a:t>AI-Assisted Way</a:t>
            </a:r>
          </a:p>
          <a:p>
            <a:r>
              <a:rPr lang="en-US" dirty="0"/>
              <a:t>You just give a prompt:</a:t>
            </a:r>
          </a:p>
          <a:p>
            <a:r>
              <a:rPr lang="en-US" dirty="0"/>
              <a:t>“Create a customer revenue model from orders table grouped by region”</a:t>
            </a:r>
          </a:p>
          <a:p>
            <a:r>
              <a:rPr lang="en-US" dirty="0"/>
              <a:t>AI generates:</a:t>
            </a:r>
          </a:p>
          <a:p>
            <a:pPr lvl="1"/>
            <a:r>
              <a:rPr lang="en-US" dirty="0"/>
              <a:t>SQL model </a:t>
            </a:r>
          </a:p>
          <a:p>
            <a:pPr lvl="1"/>
            <a:r>
              <a:rPr lang="en-US" dirty="0"/>
              <a:t>File name </a:t>
            </a:r>
          </a:p>
          <a:p>
            <a:pPr lvl="1"/>
            <a:r>
              <a:rPr lang="en-US" dirty="0"/>
              <a:t>Dependencies </a:t>
            </a:r>
          </a:p>
          <a:p>
            <a:pPr lvl="1"/>
            <a:r>
              <a:rPr lang="en-US" dirty="0"/>
              <a:t>Tests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3959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0A0C2-E952-3663-C7EE-EA928CF00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2910F-81B8-9C56-AD9B-8317C44B6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Prompt</a:t>
            </a:r>
          </a:p>
          <a:p>
            <a:r>
              <a:rPr lang="en-US" dirty="0"/>
              <a:t>“Build a sales fact model with total revenue per customer”</a:t>
            </a:r>
          </a:p>
          <a:p>
            <a:r>
              <a:rPr lang="en-US" b="1" dirty="0"/>
              <a:t>Generated </a:t>
            </a:r>
            <a:r>
              <a:rPr lang="en-US" b="1" dirty="0" err="1"/>
              <a:t>dbt</a:t>
            </a:r>
            <a:r>
              <a:rPr lang="en-US" b="1" dirty="0"/>
              <a:t> Model</a:t>
            </a:r>
          </a:p>
          <a:p>
            <a:r>
              <a:rPr lang="en-US" dirty="0"/>
              <a:t>-- models/</a:t>
            </a:r>
            <a:r>
              <a:rPr lang="en-US" dirty="0" err="1"/>
              <a:t>fact_sales.sql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SELECT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/>
              <a:t>customer_id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SUM(amount) AS </a:t>
            </a:r>
            <a:r>
              <a:rPr lang="en-US" dirty="0" err="1"/>
              <a:t>total_revenue</a:t>
            </a:r>
            <a:br>
              <a:rPr lang="en-US" dirty="0"/>
            </a:br>
            <a:r>
              <a:rPr lang="en-US" dirty="0"/>
              <a:t>FROM {{ ref('</a:t>
            </a:r>
            <a:r>
              <a:rPr lang="en-US" dirty="0" err="1"/>
              <a:t>stg_orders</a:t>
            </a:r>
            <a:r>
              <a:rPr lang="en-US" dirty="0"/>
              <a:t>') }}</a:t>
            </a:r>
            <a:br>
              <a:rPr lang="en-US" dirty="0"/>
            </a:br>
            <a:r>
              <a:rPr lang="en-US" dirty="0"/>
              <a:t>GROUP BY </a:t>
            </a:r>
            <a:r>
              <a:rPr lang="en-US" dirty="0" err="1"/>
              <a:t>customer_id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82411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dbt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dbt</a:t>
            </a:r>
            <a:r>
              <a:rPr lang="en-US" b="1" dirty="0"/>
              <a:t> testing</a:t>
            </a:r>
            <a:r>
              <a:rPr lang="en-US" dirty="0"/>
              <a:t> ensures that your data is </a:t>
            </a:r>
            <a:r>
              <a:rPr lang="en-US" b="1" dirty="0"/>
              <a:t>correct, clean, and reliable</a:t>
            </a:r>
            <a:r>
              <a:rPr lang="en-US" dirty="0"/>
              <a:t> by running checks on your models.</a:t>
            </a:r>
          </a:p>
          <a:p>
            <a:r>
              <a:rPr lang="en-US" dirty="0"/>
              <a:t>Instead of trusting data blindly, </a:t>
            </a:r>
            <a:r>
              <a:rPr lang="en-US" dirty="0" err="1"/>
              <a:t>dbt</a:t>
            </a:r>
            <a:r>
              <a:rPr lang="en-US" dirty="0"/>
              <a:t> lets you define </a:t>
            </a:r>
            <a:r>
              <a:rPr lang="en-US" b="1" dirty="0"/>
              <a:t>rules (tests)</a:t>
            </a:r>
            <a:r>
              <a:rPr lang="en-US" dirty="0"/>
              <a:t> like:</a:t>
            </a:r>
          </a:p>
          <a:p>
            <a:r>
              <a:rPr lang="en-US" dirty="0"/>
              <a:t>No nulls </a:t>
            </a:r>
          </a:p>
          <a:p>
            <a:r>
              <a:rPr lang="en-US" dirty="0"/>
              <a:t>No duplicates </a:t>
            </a:r>
          </a:p>
          <a:p>
            <a:r>
              <a:rPr lang="en-US" dirty="0"/>
              <a:t>Valid relationships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1048E-1F75-F895-1F3A-5EA125BA1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</a:t>
            </a:r>
            <a:r>
              <a:rPr lang="en-IN" dirty="0" err="1"/>
              <a:t>dbt</a:t>
            </a:r>
            <a:r>
              <a:rPr lang="en-IN" dirty="0"/>
              <a:t>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3E29-9BE0-DEEF-2D7C-2CC189F5C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Generic Tests (Built-in)</a:t>
            </a:r>
          </a:p>
          <a:p>
            <a:r>
              <a:rPr lang="en-IN" dirty="0"/>
              <a:t>Singular Tests (Custom SQL)</a:t>
            </a:r>
          </a:p>
        </p:txBody>
      </p:sp>
    </p:spTree>
    <p:extLst>
      <p:ext uri="{BB962C8B-B14F-4D97-AF65-F5344CB8AC3E}">
        <p14:creationId xmlns:p14="http://schemas.microsoft.com/office/powerpoint/2010/main" val="19195595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BD78-A615-BA08-A01F-132CCA855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Generic Tests (Built-in)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D590-4E04-C580-CAA1-B2A9C3E55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933575"/>
            <a:ext cx="7290055" cy="47529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These are pre-defined tests you configure in YAML.</a:t>
            </a:r>
          </a:p>
          <a:p>
            <a:r>
              <a:rPr lang="en-US" b="1" dirty="0"/>
              <a:t>a. </a:t>
            </a:r>
            <a:r>
              <a:rPr lang="en-US" b="1" dirty="0" err="1"/>
              <a:t>not_null</a:t>
            </a:r>
            <a:endParaRPr lang="en-US" b="1" dirty="0"/>
          </a:p>
          <a:p>
            <a:r>
              <a:rPr lang="en-US" dirty="0"/>
              <a:t>Checks if a column has no null values</a:t>
            </a:r>
          </a:p>
          <a:p>
            <a:r>
              <a:rPr lang="en-US" dirty="0"/>
              <a:t>columns:</a:t>
            </a:r>
            <a:br>
              <a:rPr lang="en-US" dirty="0"/>
            </a:br>
            <a:r>
              <a:rPr lang="en-US" dirty="0"/>
              <a:t>  - name: </a:t>
            </a:r>
            <a:r>
              <a:rPr lang="en-US" dirty="0" err="1"/>
              <a:t>customer_id</a:t>
            </a:r>
            <a:br>
              <a:rPr lang="en-US" dirty="0"/>
            </a:br>
            <a:r>
              <a:rPr lang="en-US" dirty="0"/>
              <a:t>    tests:</a:t>
            </a:r>
            <a:br>
              <a:rPr lang="en-US" dirty="0"/>
            </a:br>
            <a:r>
              <a:rPr lang="en-US" dirty="0"/>
              <a:t>      - </a:t>
            </a:r>
            <a:r>
              <a:rPr lang="en-US" dirty="0" err="1"/>
              <a:t>not_null</a:t>
            </a:r>
            <a:endParaRPr lang="en-US" dirty="0"/>
          </a:p>
          <a:p>
            <a:r>
              <a:rPr lang="en-US" b="1" dirty="0"/>
              <a:t>b. unique</a:t>
            </a:r>
          </a:p>
          <a:p>
            <a:r>
              <a:rPr lang="en-US" dirty="0"/>
              <a:t>Ensures values are not duplicated</a:t>
            </a:r>
          </a:p>
          <a:p>
            <a:r>
              <a:rPr lang="en-US" dirty="0"/>
              <a:t>columns:</a:t>
            </a:r>
            <a:br>
              <a:rPr lang="en-US" dirty="0"/>
            </a:br>
            <a:r>
              <a:rPr lang="en-US" dirty="0"/>
              <a:t>  - name: </a:t>
            </a:r>
            <a:r>
              <a:rPr lang="en-US" dirty="0" err="1"/>
              <a:t>order_id</a:t>
            </a:r>
            <a:br>
              <a:rPr lang="en-US" dirty="0"/>
            </a:br>
            <a:r>
              <a:rPr lang="en-US" dirty="0"/>
              <a:t>    tests:</a:t>
            </a:r>
            <a:br>
              <a:rPr lang="en-US" dirty="0"/>
            </a:br>
            <a:r>
              <a:rPr lang="en-US" dirty="0"/>
              <a:t>      - unique</a:t>
            </a:r>
          </a:p>
          <a:p>
            <a:br>
              <a:rPr lang="en-US" dirty="0"/>
            </a:b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9437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E17B-7AD5-547A-6CF4-1509580AB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EFF58-9666-688E-D598-652B8809C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c. </a:t>
            </a:r>
            <a:r>
              <a:rPr lang="en-US" b="1" dirty="0" err="1"/>
              <a:t>accepted_values</a:t>
            </a:r>
            <a:endParaRPr lang="en-US" b="1" dirty="0"/>
          </a:p>
          <a:p>
            <a:r>
              <a:rPr lang="en-US" dirty="0"/>
              <a:t>Ensures values are within a list</a:t>
            </a:r>
          </a:p>
          <a:p>
            <a:r>
              <a:rPr lang="en-US" dirty="0"/>
              <a:t>columns:</a:t>
            </a:r>
            <a:br>
              <a:rPr lang="en-US" dirty="0"/>
            </a:br>
            <a:r>
              <a:rPr lang="en-US" dirty="0"/>
              <a:t>  - name: status</a:t>
            </a:r>
            <a:br>
              <a:rPr lang="en-US" dirty="0"/>
            </a:br>
            <a:r>
              <a:rPr lang="en-US" dirty="0"/>
              <a:t>    tests:</a:t>
            </a:r>
            <a:br>
              <a:rPr lang="en-US" dirty="0"/>
            </a:br>
            <a:r>
              <a:rPr lang="en-US" dirty="0"/>
              <a:t>      - </a:t>
            </a:r>
            <a:r>
              <a:rPr lang="en-US" dirty="0" err="1"/>
              <a:t>accepted_values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   values: ['completed', 'pending']</a:t>
            </a:r>
          </a:p>
          <a:p>
            <a:r>
              <a:rPr lang="en-US" b="1" dirty="0"/>
              <a:t>d. relationships</a:t>
            </a:r>
          </a:p>
          <a:p>
            <a:r>
              <a:rPr lang="en-US" dirty="0"/>
              <a:t>Ensures referential integrity (joins are valid)</a:t>
            </a:r>
          </a:p>
          <a:p>
            <a:r>
              <a:rPr lang="en-US" dirty="0"/>
              <a:t>columns:</a:t>
            </a:r>
            <a:br>
              <a:rPr lang="en-US" dirty="0"/>
            </a:br>
            <a:r>
              <a:rPr lang="en-US" dirty="0"/>
              <a:t>  - name: </a:t>
            </a:r>
            <a:r>
              <a:rPr lang="en-US" dirty="0" err="1"/>
              <a:t>customer_id</a:t>
            </a:r>
            <a:br>
              <a:rPr lang="en-US" dirty="0"/>
            </a:br>
            <a:r>
              <a:rPr lang="en-US" dirty="0"/>
              <a:t>    tests:</a:t>
            </a:r>
            <a:br>
              <a:rPr lang="en-US" dirty="0"/>
            </a:br>
            <a:r>
              <a:rPr lang="en-US" dirty="0"/>
              <a:t>      - relationships:</a:t>
            </a:r>
            <a:br>
              <a:rPr lang="en-US" dirty="0"/>
            </a:br>
            <a:r>
              <a:rPr lang="en-US" dirty="0"/>
              <a:t>          to: ref('</a:t>
            </a:r>
            <a:r>
              <a:rPr lang="en-US" dirty="0" err="1"/>
              <a:t>dim_customer</a:t>
            </a:r>
            <a:r>
              <a:rPr lang="en-US" dirty="0"/>
              <a:t>')</a:t>
            </a:r>
            <a:br>
              <a:rPr lang="en-US" dirty="0"/>
            </a:br>
            <a:r>
              <a:rPr lang="en-US" dirty="0"/>
              <a:t>          field: </a:t>
            </a:r>
            <a:r>
              <a:rPr lang="en-US" dirty="0" err="1"/>
              <a:t>customer_id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0707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41DB8-2BD3-4372-1E29-4AC25873D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Singular Tests (Custom 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9CDF9-C5D9-1BA3-C60F-1A1A2246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write your own SQL test.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-- tests/</a:t>
            </a:r>
            <a:r>
              <a:rPr lang="en-US" dirty="0" err="1"/>
              <a:t>no_negative_revenue.sql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SELECT *</a:t>
            </a:r>
            <a:br>
              <a:rPr lang="en-US" dirty="0"/>
            </a:br>
            <a:r>
              <a:rPr lang="en-US" dirty="0"/>
              <a:t>FROM {{ ref('</a:t>
            </a:r>
            <a:r>
              <a:rPr lang="en-US" dirty="0" err="1"/>
              <a:t>fact_sales</a:t>
            </a:r>
            <a:r>
              <a:rPr lang="en-US" dirty="0"/>
              <a:t>') }}</a:t>
            </a:r>
            <a:br>
              <a:rPr lang="en-US" dirty="0"/>
            </a:br>
            <a:r>
              <a:rPr lang="en-US" dirty="0"/>
              <a:t>WHERE revenue &lt; 0</a:t>
            </a:r>
          </a:p>
          <a:p>
            <a:r>
              <a:rPr lang="en-US" dirty="0"/>
              <a:t>If this query returns rows → test FAILS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607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DE2E2-537D-3BBA-1265-8784D3144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</a:t>
            </a:r>
            <a:r>
              <a:rPr lang="en-IN" dirty="0" err="1"/>
              <a:t>dbt</a:t>
            </a:r>
            <a:r>
              <a:rPr lang="en-IN" dirty="0"/>
              <a:t> Tests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4C176-FFC2-0FD1-2FE7-05A82CDBE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How </a:t>
            </a:r>
            <a:r>
              <a:rPr lang="en-US" b="1" dirty="0" err="1"/>
              <a:t>dbt</a:t>
            </a:r>
            <a:r>
              <a:rPr lang="en-US" b="1" dirty="0"/>
              <a:t> Tests Work Internally</a:t>
            </a:r>
          </a:p>
          <a:p>
            <a:r>
              <a:rPr lang="en-US" dirty="0" err="1"/>
              <a:t>dbt</a:t>
            </a:r>
            <a:r>
              <a:rPr lang="en-US" dirty="0"/>
              <a:t> converts tests into SQL queries </a:t>
            </a:r>
          </a:p>
          <a:p>
            <a:r>
              <a:rPr lang="en-US" dirty="0"/>
              <a:t>Runs them on your warehouse </a:t>
            </a:r>
          </a:p>
          <a:p>
            <a:r>
              <a:rPr lang="en-US" dirty="0"/>
              <a:t>If rows are returned → </a:t>
            </a:r>
            <a:r>
              <a:rPr lang="en-US" b="1" dirty="0"/>
              <a:t>FAIL</a:t>
            </a:r>
            <a:r>
              <a:rPr lang="en-US" dirty="0"/>
              <a:t> </a:t>
            </a:r>
          </a:p>
          <a:p>
            <a:r>
              <a:rPr lang="en-US" dirty="0"/>
              <a:t>If zero rows → </a:t>
            </a:r>
            <a:r>
              <a:rPr lang="en-US" b="1" dirty="0"/>
              <a:t>PASS</a:t>
            </a:r>
            <a:r>
              <a:rPr lang="en-US" dirty="0"/>
              <a:t>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82382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Snowflake Cortex Analyst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Snowflake Cortex Analyst</a:t>
            </a:r>
            <a:r>
              <a:rPr lang="en-US" dirty="0"/>
              <a:t> is an AI-powered feature inside Snowflake that allows users to:</a:t>
            </a:r>
          </a:p>
          <a:p>
            <a:r>
              <a:rPr lang="en-US" dirty="0"/>
              <a:t>Ask questions in </a:t>
            </a:r>
            <a:r>
              <a:rPr lang="en-US" b="1" dirty="0"/>
              <a:t>natural language (English)</a:t>
            </a:r>
            <a:r>
              <a:rPr lang="en-US" dirty="0"/>
              <a:t> </a:t>
            </a:r>
          </a:p>
          <a:p>
            <a:r>
              <a:rPr lang="en-US" dirty="0"/>
              <a:t>Automatically generate </a:t>
            </a:r>
            <a:r>
              <a:rPr lang="en-US" b="1" dirty="0"/>
              <a:t>SQL queries</a:t>
            </a:r>
            <a:r>
              <a:rPr lang="en-US" dirty="0"/>
              <a:t> </a:t>
            </a:r>
          </a:p>
          <a:p>
            <a:r>
              <a:rPr lang="en-US" dirty="0"/>
              <a:t>Get results directly from the </a:t>
            </a:r>
            <a:r>
              <a:rPr lang="en-US" b="1" dirty="0"/>
              <a:t>data warehouse</a:t>
            </a:r>
            <a:endParaRPr lang="en-US" dirty="0"/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  <a:p>
            <a:r>
              <a:rPr dirty="0"/>
              <a:t>NL to SQL in warehouse</a:t>
            </a:r>
          </a:p>
          <a:p>
            <a:r>
              <a:rPr dirty="0"/>
              <a:t>Business-friendly analytics</a:t>
            </a:r>
          </a:p>
          <a:p>
            <a:r>
              <a:rPr dirty="0"/>
              <a:t>Self-service 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48CCB-3875-8DBB-421F-F7B3A2340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It Works (Step-by-Step)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90FA2-3CCD-CEE2-79CF-4571613489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896533"/>
            <a:ext cx="7290055" cy="4826000"/>
          </a:xfrm>
        </p:spPr>
        <p:txBody>
          <a:bodyPr>
            <a:normAutofit fontScale="62500" lnSpcReduction="20000"/>
          </a:bodyPr>
          <a:lstStyle/>
          <a:p>
            <a:r>
              <a:rPr lang="en-IN" b="1" dirty="0"/>
              <a:t>1. User Input (Natural Language)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“Show total revenue by region for last quarter”</a:t>
            </a:r>
          </a:p>
          <a:p>
            <a:r>
              <a:rPr lang="en-IN" b="1" dirty="0"/>
              <a:t>2. AI Understanding</a:t>
            </a:r>
          </a:p>
          <a:p>
            <a:r>
              <a:rPr lang="en-IN" dirty="0"/>
              <a:t>Understands intent (aggregation, grouping) </a:t>
            </a:r>
          </a:p>
          <a:p>
            <a:r>
              <a:rPr lang="en-IN" dirty="0"/>
              <a:t>Reads schema (tables, columns, relationships) </a:t>
            </a:r>
          </a:p>
          <a:p>
            <a:r>
              <a:rPr lang="en-IN" b="1" dirty="0"/>
              <a:t>3. SQL Generation</a:t>
            </a:r>
          </a:p>
          <a:p>
            <a:r>
              <a:rPr lang="en-IN" dirty="0"/>
              <a:t>Cortex converts it into SQL:</a:t>
            </a:r>
          </a:p>
          <a:p>
            <a:r>
              <a:rPr lang="en-IN" dirty="0"/>
              <a:t>SELECT region, SUM(revenue)</a:t>
            </a:r>
            <a:br>
              <a:rPr lang="en-IN" dirty="0"/>
            </a:br>
            <a:r>
              <a:rPr lang="en-IN" dirty="0"/>
              <a:t>FROM sales</a:t>
            </a:r>
            <a:br>
              <a:rPr lang="en-IN" dirty="0"/>
            </a:br>
            <a:r>
              <a:rPr lang="en-IN" dirty="0"/>
              <a:t>WHERE </a:t>
            </a:r>
            <a:r>
              <a:rPr lang="en-IN" dirty="0" err="1"/>
              <a:t>order_date</a:t>
            </a:r>
            <a:r>
              <a:rPr lang="en-IN" dirty="0"/>
              <a:t> &gt;= DATEADD(quarter, -1, CURRENT_DATE)</a:t>
            </a:r>
            <a:br>
              <a:rPr lang="en-IN" dirty="0"/>
            </a:br>
            <a:r>
              <a:rPr lang="en-IN" dirty="0"/>
              <a:t>GROUP BY region;</a:t>
            </a:r>
          </a:p>
          <a:p>
            <a:r>
              <a:rPr lang="en-IN" b="1" dirty="0"/>
              <a:t>4. Execution in Snowflake</a:t>
            </a:r>
          </a:p>
          <a:p>
            <a:r>
              <a:rPr lang="en-IN" dirty="0"/>
              <a:t>Query runs directly in Snowflake warehouse </a:t>
            </a:r>
          </a:p>
          <a:p>
            <a:r>
              <a:rPr lang="en-IN" dirty="0"/>
              <a:t>Uses existing data (no movement) </a:t>
            </a:r>
          </a:p>
          <a:p>
            <a:r>
              <a:rPr lang="en-IN" b="1" dirty="0"/>
              <a:t>5. Output</a:t>
            </a:r>
          </a:p>
          <a:p>
            <a:r>
              <a:rPr lang="en-IN" dirty="0"/>
              <a:t>Table / chart / insights returned instantly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63819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95958-5D7D-ADE9-645F-921B3869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F7EEF-C717-4E10-F513-0854D2B72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938867"/>
            <a:ext cx="7290055" cy="4919133"/>
          </a:xfrm>
        </p:spPr>
        <p:txBody>
          <a:bodyPr>
            <a:normAutofit fontScale="77500" lnSpcReduction="20000"/>
          </a:bodyPr>
          <a:lstStyle/>
          <a:p>
            <a:r>
              <a:rPr lang="en-IN" b="1" dirty="0"/>
              <a:t>1. NL → SQL</a:t>
            </a:r>
          </a:p>
          <a:p>
            <a:r>
              <a:rPr lang="en-IN" dirty="0"/>
              <a:t>Converts business questions to SQL </a:t>
            </a:r>
          </a:p>
          <a:p>
            <a:r>
              <a:rPr lang="en-IN" dirty="0"/>
              <a:t>Handles joins, filters, aggregations </a:t>
            </a:r>
          </a:p>
          <a:p>
            <a:r>
              <a:rPr lang="en-IN" b="1" dirty="0"/>
              <a:t>2. Schema Awareness</a:t>
            </a:r>
          </a:p>
          <a:p>
            <a:r>
              <a:rPr lang="en-IN" dirty="0"/>
              <a:t>Understands: </a:t>
            </a:r>
          </a:p>
          <a:p>
            <a:pPr lvl="1"/>
            <a:r>
              <a:rPr lang="en-IN" dirty="0"/>
              <a:t>Tables </a:t>
            </a:r>
          </a:p>
          <a:p>
            <a:pPr lvl="1"/>
            <a:r>
              <a:rPr lang="en-IN" dirty="0"/>
              <a:t>Columns </a:t>
            </a:r>
          </a:p>
          <a:p>
            <a:pPr lvl="1"/>
            <a:r>
              <a:rPr lang="en-IN" dirty="0"/>
              <a:t>Relationships </a:t>
            </a:r>
          </a:p>
          <a:p>
            <a:r>
              <a:rPr lang="en-IN" dirty="0"/>
              <a:t>Reduces wrong queries </a:t>
            </a:r>
          </a:p>
          <a:p>
            <a:r>
              <a:rPr lang="en-IN" b="1" dirty="0"/>
              <a:t>3. Self-Service Analytics</a:t>
            </a:r>
          </a:p>
          <a:p>
            <a:r>
              <a:rPr lang="en-IN" dirty="0"/>
              <a:t>Business users don’t need SQL knowledge </a:t>
            </a:r>
          </a:p>
          <a:p>
            <a:r>
              <a:rPr lang="en-IN" dirty="0"/>
              <a:t>Reduces dependency on data teams 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4. Works Inside Snowflake</a:t>
            </a:r>
          </a:p>
          <a:p>
            <a:r>
              <a:rPr lang="en-IN" dirty="0"/>
              <a:t>No external tools required </a:t>
            </a:r>
          </a:p>
          <a:p>
            <a:r>
              <a:rPr lang="en-IN" dirty="0"/>
              <a:t>Secure (data never leaves Snowflake)</a:t>
            </a:r>
          </a:p>
        </p:txBody>
      </p:sp>
    </p:spTree>
    <p:extLst>
      <p:ext uri="{BB962C8B-B14F-4D97-AF65-F5344CB8AC3E}">
        <p14:creationId xmlns:p14="http://schemas.microsoft.com/office/powerpoint/2010/main" val="13307745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8E568-4126-4871-772D-DE62FC095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Architecture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CFCC7-8830-5206-ED74-A52566947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4111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 </a:t>
            </a:r>
          </a:p>
          <a:p>
            <a:pPr marL="0" indent="0">
              <a:buNone/>
            </a:pPr>
            <a:r>
              <a:rPr lang="en-US" b="1" dirty="0"/>
              <a:t>User Question → Cortex Analyst → SQL Generation → Snowflake Engine → Results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Business Question</a:t>
            </a:r>
          </a:p>
          <a:p>
            <a:r>
              <a:rPr lang="en-US" dirty="0"/>
              <a:t>“Top 5 products by revenue this month”</a:t>
            </a:r>
          </a:p>
          <a:p>
            <a:r>
              <a:rPr lang="en-US" b="1" dirty="0"/>
              <a:t>Cortex Output</a:t>
            </a:r>
          </a:p>
          <a:p>
            <a:pPr lvl="1"/>
            <a:r>
              <a:rPr lang="en-US" dirty="0"/>
              <a:t>SQL query generated </a:t>
            </a:r>
          </a:p>
          <a:p>
            <a:pPr lvl="1"/>
            <a:r>
              <a:rPr lang="en-US" dirty="0"/>
              <a:t>Results displayed </a:t>
            </a:r>
          </a:p>
          <a:p>
            <a:pPr lvl="1"/>
            <a:r>
              <a:rPr lang="en-US" dirty="0"/>
              <a:t>Optional visualization</a:t>
            </a:r>
          </a:p>
          <a:p>
            <a:endParaRPr lang="en-US" b="1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56923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SQL Code Review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</a:t>
            </a:r>
            <a:r>
              <a:rPr lang="en-US" b="1" dirty="0"/>
              <a:t>SQL Code Review Agent</a:t>
            </a:r>
            <a:r>
              <a:rPr lang="en-US" dirty="0"/>
              <a:t> is an AI-powered assistant that automatically reviews SQL queries to ensure they are:</a:t>
            </a:r>
          </a:p>
          <a:p>
            <a:r>
              <a:rPr lang="en-US" b="1" dirty="0"/>
              <a:t>Correct</a:t>
            </a:r>
            <a:r>
              <a:rPr lang="en-US" dirty="0"/>
              <a:t> </a:t>
            </a:r>
          </a:p>
          <a:p>
            <a:r>
              <a:rPr lang="en-US" b="1" dirty="0"/>
              <a:t>Efficient</a:t>
            </a:r>
            <a:r>
              <a:rPr lang="en-US" dirty="0"/>
              <a:t> </a:t>
            </a:r>
          </a:p>
          <a:p>
            <a:r>
              <a:rPr lang="en-US" b="1" dirty="0"/>
              <a:t>Secure</a:t>
            </a:r>
            <a:r>
              <a:rPr lang="en-US" dirty="0"/>
              <a:t> </a:t>
            </a:r>
          </a:p>
          <a:p>
            <a:r>
              <a:rPr lang="en-US" b="1" dirty="0"/>
              <a:t>Readable</a:t>
            </a:r>
            <a:r>
              <a:rPr lang="en-US" dirty="0"/>
              <a:t> </a:t>
            </a:r>
          </a:p>
          <a:p>
            <a:r>
              <a:rPr lang="en-US" dirty="0"/>
              <a:t>It acts like a </a:t>
            </a:r>
            <a:r>
              <a:rPr lang="en-US" b="1" dirty="0"/>
              <a:t>senior data engineer reviewing your SQL</a:t>
            </a:r>
            <a:r>
              <a:rPr lang="en-US" dirty="0"/>
              <a:t>, but instantly.</a:t>
            </a:r>
          </a:p>
          <a:p>
            <a:pPr marL="0" indent="0">
              <a:buNone/>
            </a:pPr>
            <a:endParaRPr lang="en-IN" dirty="0"/>
          </a:p>
          <a:p>
            <a:r>
              <a:rPr dirty="0"/>
              <a:t>Security checks</a:t>
            </a:r>
          </a:p>
          <a:p>
            <a:r>
              <a:rPr dirty="0"/>
              <a:t>Performance tuning</a:t>
            </a:r>
          </a:p>
          <a:p>
            <a:r>
              <a:rPr dirty="0"/>
              <a:t>Code readability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6E9CE-19B4-4378-7B5C-1506335AA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Actually Do?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75347-7506-87F2-63AF-23A29D5A3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504267"/>
          </a:xfrm>
        </p:spPr>
        <p:txBody>
          <a:bodyPr>
            <a:normAutofit fontScale="62500" lnSpcReduction="20000"/>
          </a:bodyPr>
          <a:lstStyle/>
          <a:p>
            <a:r>
              <a:rPr lang="en-IN" b="1" dirty="0"/>
              <a:t>1. Syntax &amp; Logic Validation</a:t>
            </a:r>
          </a:p>
          <a:p>
            <a:r>
              <a:rPr lang="en-IN" dirty="0"/>
              <a:t>Detects missing joins </a:t>
            </a:r>
          </a:p>
          <a:p>
            <a:r>
              <a:rPr lang="en-IN" dirty="0"/>
              <a:t>Identifies wrong aggregations </a:t>
            </a:r>
          </a:p>
          <a:p>
            <a:r>
              <a:rPr lang="en-IN" dirty="0"/>
              <a:t>Flags incorrect filters </a:t>
            </a:r>
          </a:p>
          <a:p>
            <a:r>
              <a:rPr lang="en-IN" b="1" dirty="0"/>
              <a:t>2. Performance Optimization</a:t>
            </a:r>
          </a:p>
          <a:p>
            <a:r>
              <a:rPr lang="en-IN" b="1" dirty="0"/>
              <a:t>Example (Bad Query):</a:t>
            </a:r>
            <a:endParaRPr lang="en-IN" dirty="0"/>
          </a:p>
          <a:p>
            <a:r>
              <a:rPr lang="en-IN" dirty="0"/>
              <a:t>SELECT *</a:t>
            </a:r>
            <a:br>
              <a:rPr lang="en-IN" dirty="0"/>
            </a:br>
            <a:r>
              <a:rPr lang="en-IN" dirty="0"/>
              <a:t>FROM orders o</a:t>
            </a:r>
            <a:br>
              <a:rPr lang="en-IN" dirty="0"/>
            </a:br>
            <a:r>
              <a:rPr lang="en-IN" dirty="0"/>
              <a:t>JOIN customers c ON </a:t>
            </a:r>
            <a:r>
              <a:rPr lang="en-IN" dirty="0" err="1"/>
              <a:t>o.customer_id</a:t>
            </a:r>
            <a:r>
              <a:rPr lang="en-IN" dirty="0"/>
              <a:t> = </a:t>
            </a:r>
            <a:r>
              <a:rPr lang="en-IN" dirty="0" err="1"/>
              <a:t>c.customer_id</a:t>
            </a:r>
            <a:endParaRPr lang="en-IN" dirty="0"/>
          </a:p>
          <a:p>
            <a:r>
              <a:rPr lang="en-IN" b="1" dirty="0"/>
              <a:t>Issues:</a:t>
            </a:r>
            <a:endParaRPr lang="en-IN" dirty="0"/>
          </a:p>
          <a:p>
            <a:r>
              <a:rPr lang="en-IN" dirty="0"/>
              <a:t>SELECT * (unnecessary columns) </a:t>
            </a:r>
          </a:p>
          <a:p>
            <a:r>
              <a:rPr lang="en-IN" dirty="0"/>
              <a:t>No filtering → full table scan </a:t>
            </a:r>
          </a:p>
          <a:p>
            <a:r>
              <a:rPr lang="en-IN" b="1" dirty="0"/>
              <a:t>Optimized Version:</a:t>
            </a:r>
            <a:endParaRPr lang="en-IN" dirty="0"/>
          </a:p>
          <a:p>
            <a:r>
              <a:rPr lang="en-IN" dirty="0"/>
              <a:t>SELECT </a:t>
            </a:r>
            <a:r>
              <a:rPr lang="en-IN" dirty="0" err="1"/>
              <a:t>o.order_id</a:t>
            </a:r>
            <a:r>
              <a:rPr lang="en-IN" dirty="0"/>
              <a:t>, </a:t>
            </a:r>
            <a:r>
              <a:rPr lang="en-IN" dirty="0" err="1"/>
              <a:t>c.customer_name</a:t>
            </a:r>
            <a:r>
              <a:rPr lang="en-IN" dirty="0"/>
              <a:t>, </a:t>
            </a:r>
            <a:r>
              <a:rPr lang="en-IN" dirty="0" err="1"/>
              <a:t>o.amount</a:t>
            </a:r>
            <a:br>
              <a:rPr lang="en-IN" dirty="0"/>
            </a:br>
            <a:r>
              <a:rPr lang="en-IN" dirty="0"/>
              <a:t>FROM orders o</a:t>
            </a:r>
            <a:br>
              <a:rPr lang="en-IN" dirty="0"/>
            </a:br>
            <a:r>
              <a:rPr lang="en-IN" dirty="0"/>
              <a:t>JOIN customers c ON </a:t>
            </a:r>
            <a:r>
              <a:rPr lang="en-IN" dirty="0" err="1"/>
              <a:t>o.customer_id</a:t>
            </a:r>
            <a:r>
              <a:rPr lang="en-IN" dirty="0"/>
              <a:t> = </a:t>
            </a:r>
            <a:r>
              <a:rPr lang="en-IN" dirty="0" err="1"/>
              <a:t>c.customer_id</a:t>
            </a:r>
            <a:br>
              <a:rPr lang="en-IN" dirty="0"/>
            </a:br>
            <a:r>
              <a:rPr lang="en-IN" dirty="0"/>
              <a:t>WHERE </a:t>
            </a:r>
            <a:r>
              <a:rPr lang="en-IN" dirty="0" err="1"/>
              <a:t>o.order_date</a:t>
            </a:r>
            <a:r>
              <a:rPr lang="en-IN" dirty="0"/>
              <a:t> &gt;= CURRENT_DATE - INTERVAL '30 days'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24028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52368-00D8-45A6-EC23-27647B839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558800"/>
            <a:ext cx="7290055" cy="6096000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3. Security Checks</a:t>
            </a:r>
          </a:p>
          <a:p>
            <a:r>
              <a:rPr lang="en-IN" dirty="0"/>
              <a:t>Detects: </a:t>
            </a:r>
          </a:p>
          <a:p>
            <a:pPr lvl="1"/>
            <a:r>
              <a:rPr lang="en-IN" dirty="0"/>
              <a:t>SQL injection risks </a:t>
            </a:r>
          </a:p>
          <a:p>
            <a:pPr lvl="1"/>
            <a:r>
              <a:rPr lang="en-IN" dirty="0"/>
              <a:t>Unsafe dynamic queries </a:t>
            </a:r>
          </a:p>
          <a:p>
            <a:pPr lvl="1"/>
            <a:r>
              <a:rPr lang="en-IN" dirty="0"/>
              <a:t>Exposure of sensitive columns</a:t>
            </a:r>
          </a:p>
          <a:p>
            <a:r>
              <a:rPr lang="en-IN" b="1" dirty="0"/>
              <a:t>4. Readability &amp; Formatting</a:t>
            </a:r>
          </a:p>
          <a:p>
            <a:r>
              <a:rPr lang="en-IN" dirty="0"/>
              <a:t>Before:</a:t>
            </a:r>
          </a:p>
          <a:p>
            <a:r>
              <a:rPr lang="en-IN" dirty="0"/>
              <a:t>select * from orders o join customers c on </a:t>
            </a:r>
            <a:r>
              <a:rPr lang="en-IN" dirty="0" err="1"/>
              <a:t>o.customer_id</a:t>
            </a:r>
            <a:r>
              <a:rPr lang="en-IN" dirty="0"/>
              <a:t>=</a:t>
            </a:r>
            <a:r>
              <a:rPr lang="en-IN" dirty="0" err="1"/>
              <a:t>c.customer_id</a:t>
            </a:r>
            <a:endParaRPr lang="en-IN" dirty="0"/>
          </a:p>
          <a:p>
            <a:r>
              <a:rPr lang="en-IN" dirty="0"/>
              <a:t>After:</a:t>
            </a:r>
          </a:p>
          <a:p>
            <a:r>
              <a:rPr lang="en-IN" dirty="0"/>
              <a:t>SELECT </a:t>
            </a:r>
            <a:br>
              <a:rPr lang="en-IN" dirty="0"/>
            </a:br>
            <a:r>
              <a:rPr lang="en-IN" dirty="0"/>
              <a:t>    </a:t>
            </a:r>
            <a:r>
              <a:rPr lang="en-IN" dirty="0" err="1"/>
              <a:t>o.order_id</a:t>
            </a:r>
            <a:r>
              <a:rPr lang="en-IN" dirty="0"/>
              <a:t>,</a:t>
            </a:r>
            <a:br>
              <a:rPr lang="en-IN" dirty="0"/>
            </a:br>
            <a:r>
              <a:rPr lang="en-IN" dirty="0"/>
              <a:t>    </a:t>
            </a:r>
            <a:r>
              <a:rPr lang="en-IN" dirty="0" err="1"/>
              <a:t>c.customer_name</a:t>
            </a:r>
            <a:br>
              <a:rPr lang="en-IN" dirty="0"/>
            </a:br>
            <a:r>
              <a:rPr lang="en-IN" dirty="0"/>
              <a:t>FROM orders o</a:t>
            </a:r>
            <a:br>
              <a:rPr lang="en-IN" dirty="0"/>
            </a:br>
            <a:r>
              <a:rPr lang="en-IN" dirty="0"/>
              <a:t>JOIN customers c </a:t>
            </a:r>
            <a:br>
              <a:rPr lang="en-IN" dirty="0"/>
            </a:br>
            <a:r>
              <a:rPr lang="en-IN" dirty="0"/>
              <a:t>    ON </a:t>
            </a:r>
            <a:r>
              <a:rPr lang="en-IN" dirty="0" err="1"/>
              <a:t>o.customer_id</a:t>
            </a:r>
            <a:r>
              <a:rPr lang="en-IN" dirty="0"/>
              <a:t> = </a:t>
            </a:r>
            <a:r>
              <a:rPr lang="en-IN" dirty="0" err="1"/>
              <a:t>c.customer_id</a:t>
            </a:r>
            <a:r>
              <a:rPr lang="en-IN" dirty="0"/>
              <a:t>;</a:t>
            </a:r>
          </a:p>
          <a:p>
            <a:r>
              <a:rPr lang="en-IN" b="1" dirty="0"/>
              <a:t>5. Best Practices Enforcement</a:t>
            </a:r>
          </a:p>
          <a:p>
            <a:r>
              <a:rPr lang="en-IN" dirty="0"/>
              <a:t>Avoid SELECT * </a:t>
            </a:r>
          </a:p>
          <a:p>
            <a:r>
              <a:rPr lang="en-IN" dirty="0"/>
              <a:t>Use proper aliases </a:t>
            </a:r>
          </a:p>
          <a:p>
            <a:r>
              <a:rPr lang="en-IN" dirty="0"/>
              <a:t>Use indexed columns </a:t>
            </a:r>
          </a:p>
          <a:p>
            <a:r>
              <a:rPr lang="en-IN" dirty="0"/>
              <a:t>Reduce unnecessary joins</a:t>
            </a:r>
          </a:p>
          <a:p>
            <a:pPr marL="128016" lvl="1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539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EEB6E-186A-EC78-6AD6-70BDA270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6D2FF-2213-158E-F584-1EEDD9524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b="1" dirty="0"/>
          </a:p>
          <a:p>
            <a:r>
              <a:rPr lang="en-IN" b="1" dirty="0"/>
              <a:t>SQL Query → AI Agent → Analysis → Suggestions → Improved SQL</a:t>
            </a:r>
          </a:p>
          <a:p>
            <a:endParaRPr lang="en-IN" b="1" dirty="0"/>
          </a:p>
          <a:p>
            <a:r>
              <a:rPr lang="en-IN" b="1" dirty="0"/>
              <a:t>Tools That Act as SQL Review Agents</a:t>
            </a:r>
          </a:p>
          <a:p>
            <a:r>
              <a:rPr lang="en-IN" dirty="0" err="1"/>
              <a:t>SQLFluff</a:t>
            </a:r>
            <a:r>
              <a:rPr lang="en-IN" dirty="0"/>
              <a:t> → linting + formatting </a:t>
            </a:r>
          </a:p>
          <a:p>
            <a:r>
              <a:rPr lang="en-IN" dirty="0"/>
              <a:t>Claude Code → optimization + explanation </a:t>
            </a:r>
          </a:p>
          <a:p>
            <a:r>
              <a:rPr lang="en-IN" dirty="0"/>
              <a:t>GitHub Copilot → inline suggestions </a:t>
            </a:r>
          </a:p>
          <a:p>
            <a:r>
              <a:rPr lang="en-IN" dirty="0" err="1"/>
              <a:t>ChatDB</a:t>
            </a:r>
            <a:r>
              <a:rPr lang="en-IN" dirty="0"/>
              <a:t> → query validation</a:t>
            </a:r>
          </a:p>
          <a:p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7070090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Claude Code</a:t>
            </a:r>
          </a:p>
          <a:p>
            <a:r>
              <a:t>GitHub Copilot</a:t>
            </a:r>
          </a:p>
          <a:p>
            <a:r>
              <a:t>dbt Cloud</a:t>
            </a:r>
          </a:p>
          <a:p>
            <a:r>
              <a:t>SQLFluff</a:t>
            </a:r>
          </a:p>
          <a:p>
            <a:r>
              <a:t>ChatDB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dbt 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models/</a:t>
            </a:r>
          </a:p>
          <a:p>
            <a:r>
              <a:t>sources.yml</a:t>
            </a:r>
          </a:p>
          <a:p>
            <a:r>
              <a:t>schema.yml</a:t>
            </a:r>
          </a:p>
          <a:p>
            <a:r>
              <a:t>tests/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Optimization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vs After query</a:t>
            </a:r>
          </a:p>
          <a:p>
            <a:r>
              <a:t>Execution time</a:t>
            </a:r>
          </a:p>
          <a:p>
            <a:r>
              <a:t>Cost improvement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Always validate AI output</a:t>
            </a:r>
          </a:p>
          <a:p>
            <a:r>
              <a:t>Use version control</a:t>
            </a:r>
          </a:p>
          <a:p>
            <a:r>
              <a:t>Monitor performance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accelerates SQL development</a:t>
            </a:r>
          </a:p>
          <a:p>
            <a:r>
              <a:t>dbt + AI = faster pipelines</a:t>
            </a:r>
          </a:p>
          <a:p>
            <a:r>
              <a:t>Automation improves quality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37</TotalTime>
  <Words>2057</Words>
  <Application>Microsoft Office PowerPoint</Application>
  <PresentationFormat>On-screen Show (4:3)</PresentationFormat>
  <Paragraphs>383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Arial</vt:lpstr>
      <vt:lpstr>Tw Cen MT</vt:lpstr>
      <vt:lpstr>Tw Cen MT Condensed</vt:lpstr>
      <vt:lpstr>Wingdings</vt:lpstr>
      <vt:lpstr>Wingdings 3</vt:lpstr>
      <vt:lpstr>Integral</vt:lpstr>
      <vt:lpstr>AI-Assisted SQL, dbt &amp; Data Modelling</vt:lpstr>
      <vt:lpstr>Agenda</vt:lpstr>
      <vt:lpstr>What is NL2SQL?</vt:lpstr>
      <vt:lpstr>How NL2Sql WOrks</vt:lpstr>
      <vt:lpstr>Step By STEP</vt:lpstr>
      <vt:lpstr>ContD</vt:lpstr>
      <vt:lpstr>Key Components</vt:lpstr>
      <vt:lpstr>NL2SQL Patterns</vt:lpstr>
      <vt:lpstr>Examples</vt:lpstr>
      <vt:lpstr>NL2SQL Challenges</vt:lpstr>
      <vt:lpstr>SQL Optimization Concepts</vt:lpstr>
      <vt:lpstr>AI for SQL Optimization</vt:lpstr>
      <vt:lpstr>Dimensional Modelling</vt:lpstr>
      <vt:lpstr>CONTD</vt:lpstr>
      <vt:lpstr>AI-Assisted Modelling</vt:lpstr>
      <vt:lpstr>CONTD</vt:lpstr>
      <vt:lpstr>Tools Used in AI-Assisted Modelling</vt:lpstr>
      <vt:lpstr>dbt Overview</vt:lpstr>
      <vt:lpstr>Where dbt Fits</vt:lpstr>
      <vt:lpstr>Core Concepts in dbt</vt:lpstr>
      <vt:lpstr>PowerPoint Presentation</vt:lpstr>
      <vt:lpstr>PowerPoint Presentation</vt:lpstr>
      <vt:lpstr>Types of Models</vt:lpstr>
      <vt:lpstr>Tools Around dbt</vt:lpstr>
      <vt:lpstr>dbt Model Generation</vt:lpstr>
      <vt:lpstr>Traditional vs AI-Based Model Generation</vt:lpstr>
      <vt:lpstr>Example</vt:lpstr>
      <vt:lpstr>dbt Testing</vt:lpstr>
      <vt:lpstr>Types of dbt Tests</vt:lpstr>
      <vt:lpstr>Generic Tests (Built-in)</vt:lpstr>
      <vt:lpstr>CONTD</vt:lpstr>
      <vt:lpstr>Singular Tests (Custom SQL)</vt:lpstr>
      <vt:lpstr>How dbt Tests Work</vt:lpstr>
      <vt:lpstr>Snowflake Cortex Analyst</vt:lpstr>
      <vt:lpstr>How It Works (Step-by-Step)</vt:lpstr>
      <vt:lpstr>Key Features</vt:lpstr>
      <vt:lpstr>Architecture </vt:lpstr>
      <vt:lpstr>SQL Code Review Agent</vt:lpstr>
      <vt:lpstr>What Does It Actually Do?</vt:lpstr>
      <vt:lpstr>PowerPoint Presentation</vt:lpstr>
      <vt:lpstr>How It Works</vt:lpstr>
      <vt:lpstr>Tools Ecosystem</vt:lpstr>
      <vt:lpstr>dbt Project Structure</vt:lpstr>
      <vt:lpstr>Optimization Report</vt:lpstr>
      <vt:lpstr>Best Practices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155</cp:revision>
  <dcterms:created xsi:type="dcterms:W3CDTF">2013-01-27T09:14:16Z</dcterms:created>
  <dcterms:modified xsi:type="dcterms:W3CDTF">2026-05-05T04:21:19Z</dcterms:modified>
  <cp:category/>
</cp:coreProperties>
</file>