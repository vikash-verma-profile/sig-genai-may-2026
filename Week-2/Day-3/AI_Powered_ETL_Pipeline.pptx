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9" r:id="rId5"/>
    <p:sldId id="280" r:id="rId6"/>
    <p:sldId id="281" r:id="rId7"/>
    <p:sldId id="259" r:id="rId8"/>
    <p:sldId id="282" r:id="rId9"/>
    <p:sldId id="283" r:id="rId10"/>
    <p:sldId id="284" r:id="rId11"/>
    <p:sldId id="260" r:id="rId12"/>
    <p:sldId id="285" r:id="rId13"/>
    <p:sldId id="286" r:id="rId14"/>
    <p:sldId id="287" r:id="rId15"/>
    <p:sldId id="261" r:id="rId16"/>
    <p:sldId id="288" r:id="rId17"/>
    <p:sldId id="289" r:id="rId18"/>
    <p:sldId id="262" r:id="rId19"/>
    <p:sldId id="290" r:id="rId20"/>
    <p:sldId id="291" r:id="rId21"/>
    <p:sldId id="263" r:id="rId22"/>
    <p:sldId id="292" r:id="rId23"/>
    <p:sldId id="293" r:id="rId24"/>
    <p:sldId id="264" r:id="rId25"/>
    <p:sldId id="294" r:id="rId26"/>
    <p:sldId id="295" r:id="rId27"/>
    <p:sldId id="296" r:id="rId28"/>
    <p:sldId id="297" r:id="rId29"/>
    <p:sldId id="265" r:id="rId30"/>
    <p:sldId id="298" r:id="rId31"/>
    <p:sldId id="299" r:id="rId32"/>
    <p:sldId id="300" r:id="rId33"/>
    <p:sldId id="301" r:id="rId34"/>
    <p:sldId id="266" r:id="rId35"/>
    <p:sldId id="302" r:id="rId36"/>
    <p:sldId id="303" r:id="rId37"/>
    <p:sldId id="304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71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5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26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8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8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3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2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90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8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15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27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Pipeline Development &amp; ETL/ELT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Intelligent Data Pipelines using GenAI</a:t>
            </a:r>
          </a:p>
          <a:p>
            <a:r>
              <a:t>Tools: Claude Code, Cursor, Spark, Prefect,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data engineering</a:t>
            </a:r>
          </a:p>
          <a:p>
            <a:r>
              <a:t>Traditional vs AI pipelines</a:t>
            </a:r>
          </a:p>
          <a:p>
            <a:r>
              <a:t>Pipeline lifecycle</a:t>
            </a:r>
          </a:p>
          <a:p>
            <a:r>
              <a:t>Medallion architecture</a:t>
            </a:r>
          </a:p>
          <a:p>
            <a:r>
              <a:t>Tools &amp;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en-US"/>
              <a:t>Traditional vs AI-Powered ETL/ELT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rPr dirty="0"/>
              <a:t>Manual coding vs AI generation</a:t>
            </a:r>
          </a:p>
          <a:p>
            <a:r>
              <a:rPr dirty="0"/>
              <a:t>Static vs adaptive pipelines</a:t>
            </a:r>
          </a:p>
          <a:p>
            <a:r>
              <a:rPr dirty="0"/>
              <a:t>Slow vs rapid development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FB02-971C-39A6-E0D7-AB11DFD5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Manual Coding vs AI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6768-B6B2-0A63-7F99-552B15CC7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85950"/>
            <a:ext cx="7290055" cy="442341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Traditional (Manual Coding):</a:t>
            </a:r>
            <a:endParaRPr lang="en-IN" dirty="0"/>
          </a:p>
          <a:p>
            <a:r>
              <a:rPr lang="en-IN" dirty="0"/>
              <a:t>Engineers write everything from scratch </a:t>
            </a:r>
          </a:p>
          <a:p>
            <a:r>
              <a:rPr lang="en-IN" dirty="0"/>
              <a:t>Includes ingestion, transformation, validation, error handling </a:t>
            </a:r>
          </a:p>
          <a:p>
            <a:r>
              <a:rPr lang="en-IN" dirty="0"/>
              <a:t>Requires strong coding skills and time </a:t>
            </a:r>
          </a:p>
          <a:p>
            <a:r>
              <a:rPr lang="en-IN" b="1" dirty="0"/>
              <a:t>AI-Powered:</a:t>
            </a:r>
            <a:endParaRPr lang="en-IN" dirty="0"/>
          </a:p>
          <a:p>
            <a:r>
              <a:rPr lang="en-IN" dirty="0"/>
              <a:t>You describe requirements in plain English </a:t>
            </a:r>
          </a:p>
          <a:p>
            <a:r>
              <a:rPr lang="en-IN" dirty="0"/>
              <a:t>AI tools generate: </a:t>
            </a:r>
          </a:p>
          <a:p>
            <a:pPr lvl="1"/>
            <a:r>
              <a:rPr lang="en-IN" dirty="0" err="1"/>
              <a:t>PySpark</a:t>
            </a:r>
            <a:r>
              <a:rPr lang="en-IN" dirty="0"/>
              <a:t>/SQL code </a:t>
            </a:r>
          </a:p>
          <a:p>
            <a:pPr lvl="1"/>
            <a:r>
              <a:rPr lang="en-IN" dirty="0"/>
              <a:t>Pipeline structure </a:t>
            </a:r>
          </a:p>
          <a:p>
            <a:pPr lvl="1"/>
            <a:r>
              <a:rPr lang="en-IN" dirty="0"/>
              <a:t>Even test cases </a:t>
            </a:r>
          </a:p>
          <a:p>
            <a:r>
              <a:rPr lang="en-IN" b="1" dirty="0"/>
              <a:t>Key Message:</a:t>
            </a:r>
            <a:br>
              <a:rPr lang="en-IN" dirty="0"/>
            </a:br>
            <a:r>
              <a:rPr lang="en-IN" dirty="0"/>
              <a:t>AI shifts work from </a:t>
            </a:r>
            <a:r>
              <a:rPr lang="en-IN" b="1" dirty="0"/>
              <a:t>writing code → reviewing and refining code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938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2606-517F-2088-72F8-89E04C88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vs Adaptive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F4164-6B42-7FE0-FBA3-AF7E87D36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371975"/>
          </a:xfrm>
        </p:spPr>
        <p:txBody>
          <a:bodyPr>
            <a:normAutofit/>
          </a:bodyPr>
          <a:lstStyle/>
          <a:p>
            <a:r>
              <a:rPr lang="en-IN" b="1" dirty="0"/>
              <a:t>Traditional (Static Pipelines):</a:t>
            </a:r>
            <a:endParaRPr lang="en-IN" dirty="0"/>
          </a:p>
          <a:p>
            <a:r>
              <a:rPr lang="en-IN" dirty="0"/>
              <a:t>Fixed logic </a:t>
            </a:r>
          </a:p>
          <a:p>
            <a:r>
              <a:rPr lang="en-IN" dirty="0"/>
              <a:t>Any change in data (new column, type change) → pipeline breaks </a:t>
            </a:r>
          </a:p>
          <a:p>
            <a:r>
              <a:rPr lang="en-IN" dirty="0"/>
              <a:t>Requires manual fixes </a:t>
            </a:r>
          </a:p>
          <a:p>
            <a:r>
              <a:rPr lang="en-IN" b="1" dirty="0"/>
              <a:t>AI-Powered (Adaptive Pipelines):</a:t>
            </a:r>
            <a:endParaRPr lang="en-IN" dirty="0"/>
          </a:p>
          <a:p>
            <a:r>
              <a:rPr lang="en-IN" dirty="0"/>
              <a:t>AI helps detect schema changes </a:t>
            </a:r>
          </a:p>
          <a:p>
            <a:r>
              <a:rPr lang="en-IN" dirty="0"/>
              <a:t>Suggests fixes automatically </a:t>
            </a:r>
          </a:p>
          <a:p>
            <a:r>
              <a:rPr lang="en-IN" dirty="0"/>
              <a:t>Supports dynamic schema evolution </a:t>
            </a:r>
          </a:p>
          <a:p>
            <a:r>
              <a:rPr lang="en-IN" b="1" dirty="0"/>
              <a:t>Key Message:</a:t>
            </a:r>
            <a:br>
              <a:rPr lang="en-IN" dirty="0"/>
            </a:br>
            <a:r>
              <a:rPr lang="en-IN" dirty="0"/>
              <a:t>Pipelines move from </a:t>
            </a:r>
            <a:r>
              <a:rPr lang="en-IN" b="1" dirty="0"/>
              <a:t>rigid → flexible and intelligent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20FB-D12C-6AF0-0896-279616A7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Slow vs Rapid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DA609-70CD-CA52-FCBA-9FEC6C5C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314825"/>
          </a:xfrm>
        </p:spPr>
        <p:txBody>
          <a:bodyPr/>
          <a:lstStyle/>
          <a:p>
            <a:r>
              <a:rPr lang="en-IN" b="1" dirty="0"/>
              <a:t>Traditional:</a:t>
            </a:r>
            <a:endParaRPr lang="en-IN" dirty="0"/>
          </a:p>
          <a:p>
            <a:r>
              <a:rPr lang="en-IN" dirty="0"/>
              <a:t>Development lifecycle is long: </a:t>
            </a:r>
          </a:p>
          <a:p>
            <a:pPr lvl="1"/>
            <a:r>
              <a:rPr lang="en-IN" dirty="0"/>
              <a:t>Design → Code → Debug → Test </a:t>
            </a:r>
          </a:p>
          <a:p>
            <a:r>
              <a:rPr lang="en-IN" dirty="0"/>
              <a:t>Can take days or weeks </a:t>
            </a:r>
          </a:p>
          <a:p>
            <a:r>
              <a:rPr lang="en-IN" b="1" dirty="0"/>
              <a:t>AI-Powered:</a:t>
            </a:r>
            <a:endParaRPr lang="en-IN" dirty="0"/>
          </a:p>
          <a:p>
            <a:r>
              <a:rPr lang="en-IN" dirty="0"/>
              <a:t>Workflow becomes: </a:t>
            </a:r>
          </a:p>
          <a:p>
            <a:pPr lvl="1"/>
            <a:r>
              <a:rPr lang="en-IN" dirty="0"/>
              <a:t>Prompt → Generate → Test → Deploy </a:t>
            </a:r>
          </a:p>
          <a:p>
            <a:r>
              <a:rPr lang="en-IN" dirty="0"/>
              <a:t>Development time reduces drastically </a:t>
            </a:r>
          </a:p>
          <a:p>
            <a:r>
              <a:rPr lang="en-IN" b="1" dirty="0"/>
              <a:t>Key Message:</a:t>
            </a:r>
            <a:br>
              <a:rPr lang="en-IN" dirty="0"/>
            </a:br>
            <a:r>
              <a:rPr lang="en-IN" dirty="0"/>
              <a:t>AI enables </a:t>
            </a:r>
            <a:r>
              <a:rPr lang="en-IN" b="1" dirty="0"/>
              <a:t>10x faster pipeline development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76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en-IN"/>
              <a:t>AI-Powered Pipeline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LLMs generate pipeline code</a:t>
            </a:r>
          </a:p>
          <a:p>
            <a:r>
              <a:t>Business requirement → executable pipeline</a:t>
            </a:r>
          </a:p>
          <a:p>
            <a:r>
              <a:t>Faster delivery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1F1D-26D4-BA34-09F5-3877A736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LLMs Generate Pipeline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D289-EF63-6595-F9D7-C5CF5AF16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4291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Large Language Models (like Claude, Copilot) can </a:t>
            </a:r>
            <a:r>
              <a:rPr lang="en-US" b="1" dirty="0"/>
              <a:t>write data pipeline code automatically</a:t>
            </a:r>
            <a:r>
              <a:rPr lang="en-US" dirty="0"/>
              <a:t> </a:t>
            </a:r>
          </a:p>
          <a:p>
            <a:r>
              <a:rPr lang="en-US" dirty="0"/>
              <a:t>Instead of coding manually, you just provide a requirement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“Build a </a:t>
            </a:r>
            <a:r>
              <a:rPr lang="en-US" dirty="0" err="1"/>
              <a:t>PySpark</a:t>
            </a:r>
            <a:r>
              <a:rPr lang="en-US" dirty="0"/>
              <a:t> pipeline to ingest data from S3, clean it, and store in Delta tables”</a:t>
            </a:r>
          </a:p>
          <a:p>
            <a:r>
              <a:rPr lang="en-US" dirty="0"/>
              <a:t>AI will generate:</a:t>
            </a:r>
          </a:p>
          <a:p>
            <a:r>
              <a:rPr lang="en-US" dirty="0"/>
              <a:t>Ingestion logic </a:t>
            </a:r>
          </a:p>
          <a:p>
            <a:r>
              <a:rPr lang="en-US" dirty="0"/>
              <a:t>Transformation code </a:t>
            </a:r>
          </a:p>
          <a:p>
            <a:r>
              <a:rPr lang="en-US" dirty="0"/>
              <a:t>Error handling </a:t>
            </a:r>
          </a:p>
          <a:p>
            <a:r>
              <a:rPr lang="en-US" dirty="0"/>
              <a:t>Even test cases </a:t>
            </a:r>
          </a:p>
          <a:p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You move from </a:t>
            </a:r>
            <a:r>
              <a:rPr lang="en-US" b="1" dirty="0"/>
              <a:t>developer → reviewer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27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E1FF-2EBA-3FBB-04C0-F47A7CA7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Requirement → Executable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4630A-CE28-8A2E-2234-FC2002853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4577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Traditionally: </a:t>
            </a:r>
          </a:p>
          <a:p>
            <a:pPr lvl="1"/>
            <a:r>
              <a:rPr lang="en-IN" dirty="0"/>
              <a:t>Requirement → Design → Code → Test → Deploy </a:t>
            </a:r>
          </a:p>
          <a:p>
            <a:r>
              <a:rPr lang="en-IN" dirty="0"/>
              <a:t>With AI: </a:t>
            </a:r>
          </a:p>
          <a:p>
            <a:pPr lvl="1"/>
            <a:r>
              <a:rPr lang="en-IN" dirty="0"/>
              <a:t>Requirement → AI → Working pipeline </a:t>
            </a:r>
          </a:p>
          <a:p>
            <a:r>
              <a:rPr lang="en-IN" dirty="0"/>
              <a:t>AI bridges the gap between:</a:t>
            </a:r>
          </a:p>
          <a:p>
            <a:r>
              <a:rPr lang="en-IN" dirty="0"/>
              <a:t>Business users </a:t>
            </a:r>
          </a:p>
          <a:p>
            <a:r>
              <a:rPr lang="en-IN" dirty="0"/>
              <a:t>Data engineers </a:t>
            </a:r>
          </a:p>
          <a:p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A business says:</a:t>
            </a:r>
          </a:p>
          <a:p>
            <a:r>
              <a:rPr lang="en-IN" dirty="0"/>
              <a:t>“I need daily sales aggregation by region”</a:t>
            </a:r>
          </a:p>
          <a:p>
            <a:r>
              <a:rPr lang="en-IN" dirty="0"/>
              <a:t>AI converts this directly into:</a:t>
            </a:r>
          </a:p>
          <a:p>
            <a:r>
              <a:rPr lang="en-IN" dirty="0"/>
              <a:t>SQL/</a:t>
            </a:r>
            <a:r>
              <a:rPr lang="en-IN" dirty="0" err="1"/>
              <a:t>PySpark</a:t>
            </a:r>
            <a:r>
              <a:rPr lang="en-IN" dirty="0"/>
              <a:t> logic </a:t>
            </a:r>
          </a:p>
          <a:p>
            <a:r>
              <a:rPr lang="en-IN" dirty="0"/>
              <a:t>Aggregation pipelines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943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A9E7-511D-97EF-309A-BE0C18B1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Faster Delivery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A7E5A-CFF6-2B14-B111-8807D2056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significantly reduces development time: </a:t>
            </a:r>
          </a:p>
          <a:p>
            <a:pPr lvl="1"/>
            <a:r>
              <a:rPr lang="en-US" dirty="0"/>
              <a:t>No need to write everything from scratch </a:t>
            </a:r>
          </a:p>
          <a:p>
            <a:pPr lvl="1"/>
            <a:r>
              <a:rPr lang="en-US" dirty="0"/>
              <a:t>Faster debugging with AI suggestions </a:t>
            </a:r>
          </a:p>
          <a:p>
            <a:pPr lvl="1"/>
            <a:r>
              <a:rPr lang="en-US" dirty="0"/>
              <a:t>Auto-generated tests </a:t>
            </a:r>
          </a:p>
          <a:p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What took </a:t>
            </a:r>
            <a:r>
              <a:rPr lang="en-US" b="1" dirty="0"/>
              <a:t>days → now hours or minutes</a:t>
            </a:r>
            <a:r>
              <a:rPr lang="en-US" dirty="0"/>
              <a:t> </a:t>
            </a:r>
          </a:p>
          <a:p>
            <a:r>
              <a:rPr lang="en-US" dirty="0"/>
              <a:t>Faster iteration and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320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Spec → Scaffold → Test → Optimize → 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99246-A2BC-3345-A4C7-C2C628624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95275"/>
            <a:ext cx="7290055" cy="648652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1. Spec (Specification)</a:t>
            </a:r>
          </a:p>
          <a:p>
            <a:r>
              <a:rPr lang="en-US" dirty="0"/>
              <a:t>Start with a </a:t>
            </a:r>
            <a:r>
              <a:rPr lang="en-US" b="1" dirty="0"/>
              <a:t>natural language requirement</a:t>
            </a:r>
            <a:r>
              <a:rPr lang="en-US" dirty="0"/>
              <a:t> </a:t>
            </a:r>
          </a:p>
          <a:p>
            <a:r>
              <a:rPr lang="en-US" dirty="0"/>
              <a:t>No coding needed initially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“Build a pipeline to ingest sales data, clean duplicates, and generate daily reports”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Business requirement becomes the starting point</a:t>
            </a:r>
          </a:p>
          <a:p>
            <a:r>
              <a:rPr lang="en-IN" b="1" dirty="0"/>
              <a:t>2. Scaffold (Auto Code Generation)</a:t>
            </a:r>
          </a:p>
          <a:p>
            <a:r>
              <a:rPr lang="en-IN" dirty="0"/>
              <a:t>AI generates: </a:t>
            </a:r>
          </a:p>
          <a:p>
            <a:pPr lvl="1"/>
            <a:r>
              <a:rPr lang="en-IN" dirty="0" err="1"/>
              <a:t>PySpark</a:t>
            </a:r>
            <a:r>
              <a:rPr lang="en-IN" dirty="0"/>
              <a:t>/SQL code </a:t>
            </a:r>
          </a:p>
          <a:p>
            <a:pPr lvl="1"/>
            <a:r>
              <a:rPr lang="en-IN" dirty="0"/>
              <a:t>Project structure </a:t>
            </a:r>
          </a:p>
          <a:p>
            <a:pPr lvl="1"/>
            <a:r>
              <a:rPr lang="en-IN" dirty="0"/>
              <a:t>Config files </a:t>
            </a:r>
          </a:p>
          <a:p>
            <a:r>
              <a:rPr lang="en-IN" b="1" dirty="0"/>
              <a:t>Output includes:</a:t>
            </a:r>
            <a:endParaRPr lang="en-IN" dirty="0"/>
          </a:p>
          <a:p>
            <a:r>
              <a:rPr lang="en-IN" dirty="0"/>
              <a:t>Bronze, Silver, Gold layers </a:t>
            </a:r>
          </a:p>
          <a:p>
            <a:r>
              <a:rPr lang="en-IN" dirty="0"/>
              <a:t>DAGs (Airflow/Prefect) </a:t>
            </a:r>
          </a:p>
          <a:p>
            <a:r>
              <a:rPr lang="en-IN" dirty="0"/>
              <a:t>Basic transformations </a:t>
            </a:r>
          </a:p>
          <a:p>
            <a:r>
              <a:rPr lang="en-IN" b="1" dirty="0"/>
              <a:t>Key Idea:</a:t>
            </a:r>
            <a:br>
              <a:rPr lang="en-IN" dirty="0"/>
            </a:br>
            <a:r>
              <a:rPr lang="en-IN" dirty="0"/>
              <a:t>AI creates a </a:t>
            </a:r>
            <a:r>
              <a:rPr lang="en-IN" b="1" dirty="0"/>
              <a:t>ready-to-run pipeline skeleton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649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0F4A4-993E-56FD-FB2B-8E2DCD3E7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14350"/>
            <a:ext cx="7290055" cy="61341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3. Test</a:t>
            </a:r>
          </a:p>
          <a:p>
            <a:r>
              <a:rPr lang="en-US" dirty="0"/>
              <a:t>AI generates: </a:t>
            </a:r>
          </a:p>
          <a:p>
            <a:pPr lvl="1"/>
            <a:r>
              <a:rPr lang="en-US" dirty="0"/>
              <a:t>Unit tests </a:t>
            </a:r>
          </a:p>
          <a:p>
            <a:pPr lvl="1"/>
            <a:r>
              <a:rPr lang="en-US" dirty="0"/>
              <a:t>Data validation checks 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Schema validation </a:t>
            </a:r>
          </a:p>
          <a:p>
            <a:r>
              <a:rPr lang="en-US" dirty="0"/>
              <a:t>Null checks </a:t>
            </a:r>
          </a:p>
          <a:p>
            <a:r>
              <a:rPr lang="en-US" dirty="0"/>
              <a:t>Row count checks 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Quality is built early, not after deployment</a:t>
            </a:r>
          </a:p>
          <a:p>
            <a:r>
              <a:rPr lang="en-IN" b="1" dirty="0"/>
              <a:t>4. Optimize</a:t>
            </a:r>
          </a:p>
          <a:p>
            <a:r>
              <a:rPr lang="en-IN" dirty="0"/>
              <a:t>Improve performance using AI suggestions: </a:t>
            </a:r>
          </a:p>
          <a:p>
            <a:pPr lvl="1"/>
            <a:r>
              <a:rPr lang="en-IN" dirty="0"/>
              <a:t>Better joins (broadcast, partitioning) </a:t>
            </a:r>
          </a:p>
          <a:p>
            <a:pPr lvl="1"/>
            <a:r>
              <a:rPr lang="en-IN" dirty="0"/>
              <a:t>Efficient transformations </a:t>
            </a:r>
          </a:p>
          <a:p>
            <a:pPr lvl="1"/>
            <a:r>
              <a:rPr lang="en-IN" dirty="0"/>
              <a:t>Cost optimization </a:t>
            </a:r>
          </a:p>
          <a:p>
            <a:r>
              <a:rPr lang="en-IN" b="1" dirty="0"/>
              <a:t>Key Idea:</a:t>
            </a:r>
            <a:br>
              <a:rPr lang="en-IN" dirty="0"/>
            </a:br>
            <a:r>
              <a:rPr lang="en-IN" dirty="0"/>
              <a:t>AI helps refine pipeline for </a:t>
            </a:r>
            <a:r>
              <a:rPr lang="en-IN" b="1" dirty="0"/>
              <a:t>performance &amp; scalability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94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D6773-EA1C-5718-C215-438F9A00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14375"/>
            <a:ext cx="7290055" cy="5594985"/>
          </a:xfrm>
        </p:spPr>
        <p:txBody>
          <a:bodyPr/>
          <a:lstStyle/>
          <a:p>
            <a:r>
              <a:rPr lang="en-US" b="1" dirty="0"/>
              <a:t>5. Deploy</a:t>
            </a:r>
          </a:p>
          <a:p>
            <a:r>
              <a:rPr lang="en-US" dirty="0"/>
              <a:t>Push code to GitHub </a:t>
            </a:r>
          </a:p>
          <a:p>
            <a:r>
              <a:rPr lang="en-US" dirty="0"/>
              <a:t>CI/CD tools (GitHub Actions) handle: </a:t>
            </a:r>
          </a:p>
          <a:p>
            <a:pPr lvl="1"/>
            <a:r>
              <a:rPr lang="en-US" dirty="0"/>
              <a:t>Testing </a:t>
            </a:r>
          </a:p>
          <a:p>
            <a:pPr lvl="1"/>
            <a:r>
              <a:rPr lang="en-US" dirty="0"/>
              <a:t>Deployment </a:t>
            </a:r>
          </a:p>
          <a:p>
            <a:pPr lvl="1"/>
            <a:r>
              <a:rPr lang="en-US" dirty="0"/>
              <a:t>Scheduling 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Pipeline goes </a:t>
            </a:r>
            <a:r>
              <a:rPr lang="en-US" b="1" dirty="0"/>
              <a:t>production-ready quickly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222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Scaffold from Natural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Prompt-based pipeline generation</a:t>
            </a:r>
          </a:p>
          <a:p>
            <a:r>
              <a:t>Creates full project 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50748-9ACF-1414-348A-4734974A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9550"/>
            <a:ext cx="7290055" cy="6099810"/>
          </a:xfrm>
        </p:spPr>
        <p:txBody>
          <a:bodyPr/>
          <a:lstStyle/>
          <a:p>
            <a:r>
              <a:rPr lang="en-US" b="1" dirty="0"/>
              <a:t>1. Prompt-Based Pipeline Generation</a:t>
            </a:r>
          </a:p>
          <a:p>
            <a:r>
              <a:rPr lang="en-US" dirty="0"/>
              <a:t>Instead of writing code manually, you </a:t>
            </a:r>
            <a:r>
              <a:rPr lang="en-US" b="1" dirty="0"/>
              <a:t>describe what you want in plain English</a:t>
            </a:r>
            <a:r>
              <a:rPr lang="en-US" dirty="0"/>
              <a:t> </a:t>
            </a:r>
          </a:p>
          <a:p>
            <a:r>
              <a:rPr lang="en-US" b="1" dirty="0"/>
              <a:t>Example Prompt:</a:t>
            </a:r>
            <a:endParaRPr lang="en-US" dirty="0"/>
          </a:p>
          <a:p>
            <a:r>
              <a:rPr lang="en-US" dirty="0"/>
              <a:t>“Create a </a:t>
            </a:r>
            <a:r>
              <a:rPr lang="en-US" dirty="0" err="1"/>
              <a:t>PySpark</a:t>
            </a:r>
            <a:r>
              <a:rPr lang="en-US" dirty="0"/>
              <a:t> pipeline that reads CSV data from S3, removes duplicates, applies schema validation, and stores it in Delta tables using Bronze, Silver, and Gold layers.”</a:t>
            </a:r>
          </a:p>
          <a:p>
            <a:r>
              <a:rPr lang="en-US" dirty="0"/>
              <a:t>AI understands this and generates: </a:t>
            </a:r>
          </a:p>
          <a:p>
            <a:pPr lvl="1"/>
            <a:r>
              <a:rPr lang="en-US" dirty="0" err="1"/>
              <a:t>PySpark</a:t>
            </a:r>
            <a:r>
              <a:rPr lang="en-US" dirty="0"/>
              <a:t> code </a:t>
            </a:r>
          </a:p>
          <a:p>
            <a:pPr lvl="1"/>
            <a:r>
              <a:rPr lang="en-US" dirty="0"/>
              <a:t>Data transformations </a:t>
            </a:r>
          </a:p>
          <a:p>
            <a:pPr lvl="1"/>
            <a:r>
              <a:rPr lang="en-US" dirty="0"/>
              <a:t>Pipeline flow 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You don’t start with code—you start with </a:t>
            </a:r>
            <a:r>
              <a:rPr lang="en-US" b="1" dirty="0"/>
              <a:t>intent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31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A8831-8F07-25EE-F3C7-2D77ABBCF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04800"/>
            <a:ext cx="7290055" cy="6004560"/>
          </a:xfrm>
        </p:spPr>
        <p:txBody>
          <a:bodyPr/>
          <a:lstStyle/>
          <a:p>
            <a:r>
              <a:rPr lang="en-IN" b="1" dirty="0"/>
              <a:t>2. Creates Full Project Structure</a:t>
            </a:r>
          </a:p>
          <a:p>
            <a:r>
              <a:rPr lang="en-IN" dirty="0"/>
              <a:t>AI doesn’t just generate one file—it builds a </a:t>
            </a:r>
            <a:r>
              <a:rPr lang="en-IN" b="1" dirty="0"/>
              <a:t>complete production-ready project</a:t>
            </a:r>
            <a:endParaRPr lang="en-IN" dirty="0"/>
          </a:p>
          <a:p>
            <a:r>
              <a:rPr lang="en-IN" b="1" dirty="0"/>
              <a:t>Example Structure:</a:t>
            </a:r>
            <a:endParaRPr lang="en-IN" dirty="0"/>
          </a:p>
          <a:p>
            <a:r>
              <a:rPr lang="en-IN" dirty="0"/>
              <a:t>project/</a:t>
            </a:r>
            <a:br>
              <a:rPr lang="en-IN" dirty="0"/>
            </a:br>
            <a:r>
              <a:rPr lang="en-IN" dirty="0"/>
              <a:t> ├── bronze/        → Raw ingestion</a:t>
            </a:r>
            <a:br>
              <a:rPr lang="en-IN" dirty="0"/>
            </a:br>
            <a:r>
              <a:rPr lang="en-IN" dirty="0"/>
              <a:t> ├── silver/        → Cleaned data</a:t>
            </a:r>
            <a:br>
              <a:rPr lang="en-IN" dirty="0"/>
            </a:br>
            <a:r>
              <a:rPr lang="en-IN" dirty="0"/>
              <a:t> ├── gold/          → Aggregated data</a:t>
            </a:r>
            <a:br>
              <a:rPr lang="en-IN" dirty="0"/>
            </a:br>
            <a:r>
              <a:rPr lang="en-IN" dirty="0"/>
              <a:t> ├── </a:t>
            </a:r>
            <a:r>
              <a:rPr lang="en-IN" dirty="0" err="1"/>
              <a:t>dags</a:t>
            </a:r>
            <a:r>
              <a:rPr lang="en-IN" dirty="0"/>
              <a:t>/          → Airflow/Prefect workflows</a:t>
            </a:r>
            <a:br>
              <a:rPr lang="en-IN" dirty="0"/>
            </a:br>
            <a:r>
              <a:rPr lang="en-IN" dirty="0"/>
              <a:t> ├── tests/         → Unit tests</a:t>
            </a:r>
            <a:br>
              <a:rPr lang="en-IN" dirty="0"/>
            </a:br>
            <a:r>
              <a:rPr lang="en-IN" dirty="0"/>
              <a:t> ├── config/        → Config files</a:t>
            </a:r>
            <a:br>
              <a:rPr lang="en-IN" dirty="0"/>
            </a:br>
            <a:r>
              <a:rPr lang="en-IN" dirty="0"/>
              <a:t> └── README.md      → Documentation</a:t>
            </a:r>
          </a:p>
          <a:p>
            <a:r>
              <a:rPr lang="en-IN" dirty="0"/>
              <a:t>Includes: </a:t>
            </a:r>
          </a:p>
          <a:p>
            <a:pPr lvl="1"/>
            <a:r>
              <a:rPr lang="en-IN" dirty="0"/>
              <a:t>Modular code </a:t>
            </a:r>
          </a:p>
          <a:p>
            <a:pPr lvl="1"/>
            <a:r>
              <a:rPr lang="en-IN" dirty="0"/>
              <a:t>Config-driven design </a:t>
            </a:r>
          </a:p>
          <a:p>
            <a:pPr lvl="1"/>
            <a:r>
              <a:rPr lang="en-IN" dirty="0"/>
              <a:t>Testing setup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54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Incremental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CDC, watermarking</a:t>
            </a:r>
          </a:p>
          <a:p>
            <a:r>
              <a:t>Efficient data updates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23AE-583C-B707-2D39-E19AAD0EA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00049"/>
            <a:ext cx="7290055" cy="625792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1. What is Incremental Ingestion?</a:t>
            </a:r>
          </a:p>
          <a:p>
            <a:r>
              <a:rPr lang="en-US" dirty="0"/>
              <a:t>Instead of loading full data every time, </a:t>
            </a:r>
          </a:p>
          <a:p>
            <a:r>
              <a:rPr lang="en-US" dirty="0"/>
              <a:t>We only load: </a:t>
            </a:r>
          </a:p>
          <a:p>
            <a:pPr lvl="1"/>
            <a:r>
              <a:rPr lang="en-US" b="1" dirty="0"/>
              <a:t>New records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Updated records</a:t>
            </a:r>
            <a:r>
              <a:rPr lang="en-US" dirty="0"/>
              <a:t> </a:t>
            </a:r>
          </a:p>
          <a:p>
            <a:r>
              <a:rPr lang="en-US" b="1" dirty="0"/>
              <a:t>Why?</a:t>
            </a:r>
            <a:endParaRPr lang="en-US" dirty="0"/>
          </a:p>
          <a:p>
            <a:r>
              <a:rPr lang="en-US" dirty="0"/>
              <a:t>Faster processing </a:t>
            </a:r>
          </a:p>
          <a:p>
            <a:r>
              <a:rPr lang="en-US" dirty="0"/>
              <a:t>Lower cost </a:t>
            </a:r>
          </a:p>
          <a:p>
            <a:r>
              <a:rPr lang="en-US" dirty="0"/>
              <a:t>Better scalability </a:t>
            </a:r>
          </a:p>
          <a:p>
            <a:r>
              <a:rPr lang="en-US" b="1" dirty="0"/>
              <a:t>2. CDC (Change Data Capture)</a:t>
            </a:r>
          </a:p>
          <a:p>
            <a:r>
              <a:rPr lang="en-US" dirty="0"/>
              <a:t>Tracks changes in source systems: </a:t>
            </a:r>
          </a:p>
          <a:p>
            <a:pPr lvl="1"/>
            <a:r>
              <a:rPr lang="en-US" dirty="0"/>
              <a:t>Inserts </a:t>
            </a:r>
          </a:p>
          <a:p>
            <a:pPr lvl="1"/>
            <a:r>
              <a:rPr lang="en-US" dirty="0"/>
              <a:t>Updates </a:t>
            </a:r>
          </a:p>
          <a:p>
            <a:pPr lvl="1"/>
            <a:r>
              <a:rPr lang="en-US" dirty="0"/>
              <a:t>Deletes 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a customer updates their email → only that record is captured</a:t>
            </a:r>
          </a:p>
          <a:p>
            <a:r>
              <a:rPr lang="en-US" b="1" dirty="0"/>
              <a:t>How it's done:</a:t>
            </a:r>
            <a:endParaRPr lang="en-US" dirty="0"/>
          </a:p>
          <a:p>
            <a:r>
              <a:rPr lang="en-US" dirty="0"/>
              <a:t>Database logs (like </a:t>
            </a:r>
            <a:r>
              <a:rPr lang="en-US" dirty="0" err="1"/>
              <a:t>binlog</a:t>
            </a:r>
            <a:r>
              <a:rPr lang="en-US" dirty="0"/>
              <a:t>) </a:t>
            </a:r>
          </a:p>
          <a:p>
            <a:r>
              <a:rPr lang="en-US" dirty="0"/>
              <a:t>Tools like </a:t>
            </a:r>
            <a:r>
              <a:rPr lang="en-US" dirty="0" err="1"/>
              <a:t>Debezium</a:t>
            </a:r>
            <a:r>
              <a:rPr lang="en-US" dirty="0"/>
              <a:t> </a:t>
            </a:r>
          </a:p>
          <a:p>
            <a:r>
              <a:rPr lang="en-US" b="1" dirty="0"/>
              <a:t>Key Benefit:</a:t>
            </a:r>
            <a:br>
              <a:rPr lang="en-US" dirty="0"/>
            </a:br>
            <a:r>
              <a:rPr lang="en-US" dirty="0"/>
              <a:t>→ Real-time or near real-time updates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450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D0E02-AE73-81D5-1017-11EF07C5A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09575"/>
            <a:ext cx="7290055" cy="62103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3. Watermarking</a:t>
            </a:r>
          </a:p>
          <a:p>
            <a:r>
              <a:rPr lang="en-US" dirty="0"/>
              <a:t>Uses a </a:t>
            </a:r>
            <a:r>
              <a:rPr lang="en-US" b="1" dirty="0"/>
              <a:t>timestamp or ID</a:t>
            </a:r>
            <a:r>
              <a:rPr lang="en-US" dirty="0"/>
              <a:t> to track last processed data </a:t>
            </a:r>
          </a:p>
          <a:p>
            <a:r>
              <a:rPr lang="en-US" b="1" dirty="0"/>
              <a:t>Example Logic:</a:t>
            </a:r>
            <a:endParaRPr lang="en-US" dirty="0"/>
          </a:p>
          <a:p>
            <a:r>
              <a:rPr lang="en-US" dirty="0" err="1"/>
              <a:t>df.filter</a:t>
            </a:r>
            <a:r>
              <a:rPr lang="en-US" dirty="0"/>
              <a:t>(col("</a:t>
            </a:r>
            <a:r>
              <a:rPr lang="en-US" dirty="0" err="1"/>
              <a:t>updated_at</a:t>
            </a:r>
            <a:r>
              <a:rPr lang="en-US" dirty="0"/>
              <a:t>") &gt; </a:t>
            </a:r>
            <a:r>
              <a:rPr lang="en-US" dirty="0" err="1"/>
              <a:t>last_processed_time</a:t>
            </a:r>
            <a:r>
              <a:rPr lang="en-US" dirty="0"/>
              <a:t>)</a:t>
            </a:r>
          </a:p>
          <a:p>
            <a:r>
              <a:rPr lang="en-US" dirty="0"/>
              <a:t>Only fetch data after last run </a:t>
            </a:r>
          </a:p>
          <a:p>
            <a:r>
              <a:rPr lang="en-US" b="1" dirty="0"/>
              <a:t>Key Benefit:</a:t>
            </a:r>
            <a:br>
              <a:rPr lang="en-US" dirty="0"/>
            </a:br>
            <a:r>
              <a:rPr lang="en-US" dirty="0"/>
              <a:t>→ Simple and efficient for batch pipelines</a:t>
            </a:r>
          </a:p>
          <a:p>
            <a:r>
              <a:rPr lang="en-US" b="1" dirty="0"/>
              <a:t>4. Efficient Data Updates</a:t>
            </a:r>
          </a:p>
          <a:p>
            <a:r>
              <a:rPr lang="en-US" dirty="0"/>
              <a:t>Instead of:</a:t>
            </a:r>
          </a:p>
          <a:p>
            <a:r>
              <a:rPr lang="en-US" dirty="0"/>
              <a:t>Reloading entire dataset (expensive ) </a:t>
            </a:r>
          </a:p>
          <a:p>
            <a:r>
              <a:rPr lang="en-US" dirty="0"/>
              <a:t>We:</a:t>
            </a:r>
          </a:p>
          <a:p>
            <a:r>
              <a:rPr lang="en-US" dirty="0"/>
              <a:t>Process only changes (efficient ) </a:t>
            </a:r>
          </a:p>
          <a:p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Faster pipelines </a:t>
            </a:r>
          </a:p>
          <a:p>
            <a:r>
              <a:rPr lang="en-US" dirty="0"/>
              <a:t>Reduced compute cost </a:t>
            </a:r>
          </a:p>
          <a:p>
            <a:r>
              <a:rPr lang="en-US" dirty="0"/>
              <a:t>Better performance </a:t>
            </a:r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Daily sales pipeline:</a:t>
            </a:r>
          </a:p>
          <a:p>
            <a:r>
              <a:rPr lang="en-US" dirty="0"/>
              <a:t>Day 1 → load all data </a:t>
            </a:r>
          </a:p>
          <a:p>
            <a:r>
              <a:rPr lang="en-US" dirty="0"/>
              <a:t>Day 2 → load only new transactions </a:t>
            </a:r>
          </a:p>
          <a:p>
            <a:r>
              <a:rPr lang="en-US" dirty="0"/>
              <a:t>Day 3 → load only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585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Schema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Auto-detect schema changes</a:t>
            </a:r>
          </a:p>
          <a:p>
            <a:r>
              <a:t>Merge schema support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4F3FE-4FCB-7399-76F3-F908C7B68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52425"/>
            <a:ext cx="7290055" cy="595693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1. What is Schema Evolution?</a:t>
            </a:r>
          </a:p>
          <a:p>
            <a:r>
              <a:rPr lang="en-US" dirty="0"/>
              <a:t>Schema = structure of data (columns, data types) </a:t>
            </a:r>
          </a:p>
          <a:p>
            <a:r>
              <a:rPr lang="en-US" dirty="0"/>
              <a:t>Over time, source data changes: </a:t>
            </a:r>
          </a:p>
          <a:p>
            <a:pPr lvl="1"/>
            <a:r>
              <a:rPr lang="en-US" dirty="0"/>
              <a:t>New columns added </a:t>
            </a:r>
          </a:p>
          <a:p>
            <a:pPr lvl="1"/>
            <a:r>
              <a:rPr lang="en-US" dirty="0"/>
              <a:t>Data types modified </a:t>
            </a:r>
          </a:p>
          <a:p>
            <a:pPr lvl="1"/>
            <a:r>
              <a:rPr lang="en-US" dirty="0"/>
              <a:t>Columns removed </a:t>
            </a:r>
          </a:p>
          <a:p>
            <a:r>
              <a:rPr lang="en-US" b="1" dirty="0"/>
              <a:t>Problem (Traditional Pipelines):</a:t>
            </a:r>
            <a:endParaRPr lang="en-US" dirty="0"/>
          </a:p>
          <a:p>
            <a:r>
              <a:rPr lang="en-US" dirty="0"/>
              <a:t>Pipelines break when schema changes </a:t>
            </a:r>
          </a:p>
          <a:p>
            <a:r>
              <a:rPr lang="en-US" dirty="0"/>
              <a:t>Requires manual fixes </a:t>
            </a:r>
          </a:p>
          <a:p>
            <a:r>
              <a:rPr lang="en-US" b="1" dirty="0"/>
              <a:t>2. Auto-Detect Schema Changes</a:t>
            </a:r>
          </a:p>
          <a:p>
            <a:r>
              <a:rPr lang="en-US" dirty="0"/>
              <a:t>AI and modern tools can: </a:t>
            </a:r>
          </a:p>
          <a:p>
            <a:pPr lvl="1"/>
            <a:r>
              <a:rPr lang="en-US" dirty="0"/>
              <a:t>Detect new columns automatically </a:t>
            </a:r>
          </a:p>
          <a:p>
            <a:pPr lvl="1"/>
            <a:r>
              <a:rPr lang="en-US" dirty="0"/>
              <a:t>Identify missing or changed fields </a:t>
            </a:r>
          </a:p>
          <a:p>
            <a:pPr lvl="1"/>
            <a:r>
              <a:rPr lang="en-US" dirty="0"/>
              <a:t>Suggest updates 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Today:</a:t>
            </a:r>
          </a:p>
          <a:p>
            <a:r>
              <a:rPr lang="en-US" dirty="0"/>
              <a:t>id, name, sales</a:t>
            </a:r>
          </a:p>
          <a:p>
            <a:r>
              <a:rPr lang="en-US" dirty="0"/>
              <a:t>Tomorrow:</a:t>
            </a:r>
          </a:p>
          <a:p>
            <a:r>
              <a:rPr lang="en-US" dirty="0"/>
              <a:t>id, name, sales, region   ← new column</a:t>
            </a:r>
          </a:p>
          <a:p>
            <a:r>
              <a:rPr lang="en-US" dirty="0"/>
              <a:t>AI detects this change and adapts pipeline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461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00AA0-CF94-3DF1-D523-991EB9807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90525"/>
            <a:ext cx="7290055" cy="591883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3. Merge Schema Support</a:t>
            </a:r>
          </a:p>
          <a:p>
            <a:r>
              <a:rPr lang="en-US" dirty="0"/>
              <a:t>Instead of failing, pipeline </a:t>
            </a:r>
            <a:r>
              <a:rPr lang="en-US" b="1" dirty="0"/>
              <a:t>merges new schema with existing data</a:t>
            </a:r>
            <a:r>
              <a:rPr lang="en-US" dirty="0"/>
              <a:t> </a:t>
            </a:r>
          </a:p>
          <a:p>
            <a:r>
              <a:rPr lang="en-US" b="1" dirty="0"/>
              <a:t>Example in </a:t>
            </a:r>
            <a:r>
              <a:rPr lang="en-US" b="1" dirty="0" err="1"/>
              <a:t>PySpark</a:t>
            </a:r>
            <a:r>
              <a:rPr lang="en-US" b="1" dirty="0"/>
              <a:t>/Delta:</a:t>
            </a:r>
            <a:endParaRPr lang="en-US" dirty="0"/>
          </a:p>
          <a:p>
            <a:r>
              <a:rPr lang="en-US" dirty="0" err="1"/>
              <a:t>spark.read.option</a:t>
            </a:r>
            <a:r>
              <a:rPr lang="en-US" dirty="0"/>
              <a:t>("</a:t>
            </a:r>
            <a:r>
              <a:rPr lang="en-US" dirty="0" err="1"/>
              <a:t>mergeSchema</a:t>
            </a:r>
            <a:r>
              <a:rPr lang="en-US" dirty="0"/>
              <a:t>", "true")</a:t>
            </a:r>
          </a:p>
          <a:p>
            <a:r>
              <a:rPr lang="en-US" dirty="0"/>
              <a:t>Adds new columns without breaking existing data </a:t>
            </a:r>
          </a:p>
          <a:p>
            <a:r>
              <a:rPr lang="en-US" b="1" dirty="0"/>
              <a:t>4. Why It Matters</a:t>
            </a:r>
          </a:p>
          <a:p>
            <a:r>
              <a:rPr lang="en-US" dirty="0"/>
              <a:t>Prevents pipeline failures </a:t>
            </a:r>
          </a:p>
          <a:p>
            <a:r>
              <a:rPr lang="en-US" dirty="0"/>
              <a:t>Reduces manual intervention </a:t>
            </a:r>
          </a:p>
          <a:p>
            <a:r>
              <a:rPr lang="en-US" dirty="0"/>
              <a:t>Supports evolving business requirements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E-commerce system:</a:t>
            </a:r>
          </a:p>
          <a:p>
            <a:r>
              <a:rPr lang="en-US" dirty="0"/>
              <a:t>Initially tracks: </a:t>
            </a:r>
            <a:r>
              <a:rPr lang="en-US" dirty="0" err="1"/>
              <a:t>order_id</a:t>
            </a:r>
            <a:r>
              <a:rPr lang="en-US" dirty="0"/>
              <a:t>, amount </a:t>
            </a:r>
          </a:p>
          <a:p>
            <a:r>
              <a:rPr lang="en-US" dirty="0"/>
              <a:t>Later adds: discount, </a:t>
            </a:r>
            <a:r>
              <a:rPr lang="en-US" dirty="0" err="1"/>
              <a:t>delivery_time</a:t>
            </a:r>
            <a:r>
              <a:rPr lang="en-US" dirty="0"/>
              <a:t> </a:t>
            </a:r>
          </a:p>
          <a:p>
            <a:r>
              <a:rPr lang="en-US" dirty="0"/>
              <a:t>With schema evolution:</a:t>
            </a:r>
          </a:p>
          <a:p>
            <a:r>
              <a:rPr lang="en-US" dirty="0"/>
              <a:t>Pipeline continues working without code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990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PySpark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Optimized joins</a:t>
            </a:r>
          </a:p>
          <a:p>
            <a:r>
              <a:t>Partitioning strategies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7B3A0-5985-9B2C-57C1-C3E92CCC8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38150"/>
            <a:ext cx="7290055" cy="5871210"/>
          </a:xfrm>
        </p:spPr>
        <p:txBody>
          <a:bodyPr>
            <a:normAutofit/>
          </a:bodyPr>
          <a:lstStyle/>
          <a:p>
            <a:r>
              <a:rPr lang="en-IN" b="1" dirty="0"/>
              <a:t>1. Why Optimization is Needed</a:t>
            </a:r>
          </a:p>
          <a:p>
            <a:r>
              <a:rPr lang="en-IN" dirty="0" err="1"/>
              <a:t>PySpark</a:t>
            </a:r>
            <a:r>
              <a:rPr lang="en-IN" dirty="0"/>
              <a:t> handles </a:t>
            </a:r>
            <a:r>
              <a:rPr lang="en-IN" b="1" dirty="0"/>
              <a:t>large-scale data</a:t>
            </a:r>
            <a:r>
              <a:rPr lang="en-IN" dirty="0"/>
              <a:t> </a:t>
            </a:r>
          </a:p>
          <a:p>
            <a:r>
              <a:rPr lang="en-IN" dirty="0"/>
              <a:t>Poorly written jobs can: </a:t>
            </a:r>
          </a:p>
          <a:p>
            <a:pPr lvl="1"/>
            <a:r>
              <a:rPr lang="en-IN" dirty="0"/>
              <a:t>Run very slow </a:t>
            </a:r>
          </a:p>
          <a:p>
            <a:pPr lvl="1"/>
            <a:r>
              <a:rPr lang="en-IN" dirty="0"/>
              <a:t>Consume high resources </a:t>
            </a:r>
          </a:p>
          <a:p>
            <a:pPr lvl="1"/>
            <a:r>
              <a:rPr lang="en-IN" dirty="0"/>
              <a:t>Increase cost </a:t>
            </a:r>
          </a:p>
          <a:p>
            <a:r>
              <a:rPr lang="en-IN" b="1" dirty="0"/>
              <a:t>Goal:</a:t>
            </a:r>
            <a:br>
              <a:rPr lang="en-IN" dirty="0"/>
            </a:br>
            <a:r>
              <a:rPr lang="en-IN" dirty="0"/>
              <a:t>→ Process data </a:t>
            </a:r>
            <a:r>
              <a:rPr lang="en-IN" b="1" dirty="0"/>
              <a:t>faster and cheaper</a:t>
            </a:r>
            <a:endParaRPr lang="en-IN" dirty="0"/>
          </a:p>
          <a:p>
            <a:r>
              <a:rPr lang="en-IN" b="1" dirty="0"/>
              <a:t>2. Optimized Joins</a:t>
            </a:r>
          </a:p>
          <a:p>
            <a:r>
              <a:rPr lang="en-IN" dirty="0"/>
              <a:t>Joins are one of the </a:t>
            </a:r>
            <a:r>
              <a:rPr lang="en-IN" b="1" dirty="0"/>
              <a:t>most expensive operations</a:t>
            </a:r>
            <a:r>
              <a:rPr lang="en-IN" dirty="0"/>
              <a:t> in Spark.</a:t>
            </a:r>
          </a:p>
          <a:p>
            <a:r>
              <a:rPr lang="en-IN" b="1" dirty="0"/>
              <a:t>Problem:</a:t>
            </a:r>
          </a:p>
          <a:p>
            <a:r>
              <a:rPr lang="en-IN" dirty="0"/>
              <a:t>Large datasets → heavy shuffling across nodes </a:t>
            </a:r>
          </a:p>
          <a:p>
            <a:r>
              <a:rPr lang="en-IN" dirty="0"/>
              <a:t>Leads to slow performance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701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ACD3-F3B9-377E-1100-19309DBB6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76250"/>
            <a:ext cx="7290055" cy="5833110"/>
          </a:xfrm>
        </p:spPr>
        <p:txBody>
          <a:bodyPr>
            <a:normAutofit/>
          </a:bodyPr>
          <a:lstStyle/>
          <a:p>
            <a:r>
              <a:rPr lang="en-IN" b="1" dirty="0"/>
              <a:t>Solution: Broadcast Join</a:t>
            </a:r>
          </a:p>
          <a:p>
            <a:r>
              <a:rPr lang="en-IN" dirty="0"/>
              <a:t>If one dataset is small → broadcast it to all nodes </a:t>
            </a:r>
          </a:p>
          <a:p>
            <a:r>
              <a:rPr lang="en-IN" dirty="0"/>
              <a:t>from </a:t>
            </a:r>
            <a:r>
              <a:rPr lang="en-IN" dirty="0" err="1"/>
              <a:t>pyspark.sql.functions</a:t>
            </a:r>
            <a:r>
              <a:rPr lang="en-IN" dirty="0"/>
              <a:t> import broadcast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df_large.join</a:t>
            </a:r>
            <a:r>
              <a:rPr lang="en-IN" dirty="0"/>
              <a:t>(broadcast(</a:t>
            </a:r>
            <a:r>
              <a:rPr lang="en-IN" dirty="0" err="1"/>
              <a:t>df_small</a:t>
            </a:r>
            <a:r>
              <a:rPr lang="en-IN" dirty="0"/>
              <a:t>), "id")</a:t>
            </a:r>
          </a:p>
          <a:p>
            <a:r>
              <a:rPr lang="en-IN" b="1" dirty="0"/>
              <a:t>Benefit:</a:t>
            </a:r>
            <a:endParaRPr lang="en-IN" dirty="0"/>
          </a:p>
          <a:p>
            <a:r>
              <a:rPr lang="en-IN" dirty="0"/>
              <a:t>Avoids data shuffle </a:t>
            </a:r>
          </a:p>
          <a:p>
            <a:r>
              <a:rPr lang="en-IN" dirty="0"/>
              <a:t>Faster joins </a:t>
            </a:r>
          </a:p>
          <a:p>
            <a:r>
              <a:rPr lang="en-IN" b="1" dirty="0"/>
              <a:t>Other Join Optimizations</a:t>
            </a:r>
          </a:p>
          <a:p>
            <a:r>
              <a:rPr lang="en-IN" dirty="0"/>
              <a:t>Use correct join type (inner vs left) </a:t>
            </a:r>
          </a:p>
          <a:p>
            <a:r>
              <a:rPr lang="en-IN" dirty="0"/>
              <a:t>Filter data before joining </a:t>
            </a:r>
          </a:p>
          <a:p>
            <a:r>
              <a:rPr lang="en-IN" dirty="0"/>
              <a:t>Avoid unnecessary joins</a:t>
            </a:r>
          </a:p>
        </p:txBody>
      </p:sp>
    </p:spTree>
    <p:extLst>
      <p:ext uri="{BB962C8B-B14F-4D97-AF65-F5344CB8AC3E}">
        <p14:creationId xmlns:p14="http://schemas.microsoft.com/office/powerpoint/2010/main" val="1639211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710A-0155-FCA4-DABE-C9DBBB59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52425"/>
            <a:ext cx="7290055" cy="595693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3. Partitioning Strategies</a:t>
            </a:r>
          </a:p>
          <a:p>
            <a:r>
              <a:rPr lang="en-IN" dirty="0"/>
              <a:t>Partitioning controls how data is distributed across the cluster.</a:t>
            </a:r>
          </a:p>
          <a:p>
            <a:r>
              <a:rPr lang="en-IN" b="1" dirty="0"/>
              <a:t>Repartition</a:t>
            </a:r>
          </a:p>
          <a:p>
            <a:r>
              <a:rPr lang="en-IN" dirty="0"/>
              <a:t>Increases partitions (for parallelism) </a:t>
            </a:r>
          </a:p>
          <a:p>
            <a:r>
              <a:rPr lang="en-IN" dirty="0" err="1"/>
              <a:t>df.repartition</a:t>
            </a:r>
            <a:r>
              <a:rPr lang="en-IN" dirty="0"/>
              <a:t>(10)</a:t>
            </a:r>
          </a:p>
          <a:p>
            <a:r>
              <a:rPr lang="en-IN" b="1" dirty="0"/>
              <a:t>Coalesce</a:t>
            </a:r>
          </a:p>
          <a:p>
            <a:r>
              <a:rPr lang="en-IN" dirty="0"/>
              <a:t>Reduces partitions (less shuffle) </a:t>
            </a:r>
          </a:p>
          <a:p>
            <a:r>
              <a:rPr lang="en-IN" dirty="0" err="1"/>
              <a:t>df.coalesce</a:t>
            </a:r>
            <a:r>
              <a:rPr lang="en-IN" dirty="0"/>
              <a:t>(2)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Partition by Column (Best Practice)</a:t>
            </a:r>
          </a:p>
          <a:p>
            <a:r>
              <a:rPr lang="en-IN" dirty="0" err="1"/>
              <a:t>df.write.partitionBy</a:t>
            </a:r>
            <a:r>
              <a:rPr lang="en-IN" dirty="0"/>
              <a:t>("date")</a:t>
            </a:r>
          </a:p>
          <a:p>
            <a:r>
              <a:rPr lang="en-IN" b="1" dirty="0"/>
              <a:t>Benefit:</a:t>
            </a:r>
            <a:endParaRPr lang="en-IN" dirty="0"/>
          </a:p>
          <a:p>
            <a:r>
              <a:rPr lang="en-IN" dirty="0"/>
              <a:t>Faster reads </a:t>
            </a:r>
          </a:p>
          <a:p>
            <a:r>
              <a:rPr lang="en-IN" dirty="0"/>
              <a:t>Efficient filtering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925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CC513-46A7-6C14-F620-1FD72D066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52475"/>
            <a:ext cx="7290055" cy="5556885"/>
          </a:xfrm>
        </p:spPr>
        <p:txBody>
          <a:bodyPr>
            <a:normAutofit/>
          </a:bodyPr>
          <a:lstStyle/>
          <a:p>
            <a:r>
              <a:rPr lang="en-US" b="1" dirty="0"/>
              <a:t>4. Why It Matters</a:t>
            </a:r>
          </a:p>
          <a:p>
            <a:r>
              <a:rPr lang="en-US" dirty="0"/>
              <a:t>Faster job execution </a:t>
            </a:r>
          </a:p>
          <a:p>
            <a:r>
              <a:rPr lang="en-US" dirty="0"/>
              <a:t>Lower compute cost </a:t>
            </a:r>
          </a:p>
          <a:p>
            <a:r>
              <a:rPr lang="en-US" dirty="0"/>
              <a:t>Better scalability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Sales data:</a:t>
            </a:r>
          </a:p>
          <a:p>
            <a:r>
              <a:rPr lang="en-US" dirty="0"/>
              <a:t>Without optimization → job runs in 30 mins </a:t>
            </a:r>
          </a:p>
          <a:p>
            <a:r>
              <a:rPr lang="en-US" dirty="0"/>
              <a:t>With optimization → runs in 5 mins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274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Retry logic</a:t>
            </a:r>
          </a:p>
          <a:p>
            <a:r>
              <a:t>Idempotent pipelines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BCE5-1B27-31C9-8504-F6CF0D3FF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23875"/>
            <a:ext cx="7290055" cy="5785485"/>
          </a:xfrm>
        </p:spPr>
        <p:txBody>
          <a:bodyPr>
            <a:normAutofit/>
          </a:bodyPr>
          <a:lstStyle/>
          <a:p>
            <a:r>
              <a:rPr lang="en-IN" b="1" dirty="0"/>
              <a:t>1. Why Error Handling is Important</a:t>
            </a:r>
          </a:p>
          <a:p>
            <a:r>
              <a:rPr lang="en-IN" dirty="0"/>
              <a:t>Data pipelines deal with: </a:t>
            </a:r>
          </a:p>
          <a:p>
            <a:pPr lvl="1"/>
            <a:r>
              <a:rPr lang="en-IN" dirty="0"/>
              <a:t>Network failures </a:t>
            </a:r>
          </a:p>
          <a:p>
            <a:pPr lvl="1"/>
            <a:r>
              <a:rPr lang="en-IN" dirty="0"/>
              <a:t>Missing/corrupt data </a:t>
            </a:r>
          </a:p>
          <a:p>
            <a:pPr lvl="1"/>
            <a:r>
              <a:rPr lang="en-IN" dirty="0"/>
              <a:t>System crashes </a:t>
            </a:r>
          </a:p>
          <a:p>
            <a:r>
              <a:rPr lang="en-IN" dirty="0"/>
              <a:t>Without proper handling:</a:t>
            </a:r>
          </a:p>
          <a:p>
            <a:r>
              <a:rPr lang="en-IN" dirty="0"/>
              <a:t>Pipelines fail </a:t>
            </a:r>
          </a:p>
          <a:p>
            <a:r>
              <a:rPr lang="en-IN" dirty="0"/>
              <a:t>Data becomes inconsistent </a:t>
            </a:r>
          </a:p>
          <a:p>
            <a:r>
              <a:rPr lang="en-IN" dirty="0"/>
              <a:t>Manual intervention is needed </a:t>
            </a:r>
          </a:p>
          <a:p>
            <a:r>
              <a:rPr lang="en-IN" b="1" dirty="0"/>
              <a:t>Goal:</a:t>
            </a:r>
            <a:br>
              <a:rPr lang="en-IN" dirty="0"/>
            </a:br>
            <a:r>
              <a:rPr lang="en-IN" dirty="0"/>
              <a:t>→ Ensure pipelines </a:t>
            </a:r>
            <a:r>
              <a:rPr lang="en-IN" b="1" dirty="0"/>
              <a:t>don’t break easily and recover automatically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785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26F3-4A2E-A587-BF40-E58AD6649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47675"/>
            <a:ext cx="7290055" cy="586168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2. Retry Logic</a:t>
            </a:r>
          </a:p>
          <a:p>
            <a:r>
              <a:rPr lang="en-US" dirty="0"/>
              <a:t>Automatically retries failed operations </a:t>
            </a:r>
          </a:p>
          <a:p>
            <a:r>
              <a:rPr lang="en-US" b="1" dirty="0"/>
              <a:t>Example Scenarios:</a:t>
            </a:r>
            <a:endParaRPr lang="en-US" dirty="0"/>
          </a:p>
          <a:p>
            <a:r>
              <a:rPr lang="en-US" dirty="0"/>
              <a:t>API temporarily down </a:t>
            </a:r>
          </a:p>
          <a:p>
            <a:r>
              <a:rPr lang="en-US" dirty="0"/>
              <a:t>Database connection issue </a:t>
            </a:r>
          </a:p>
          <a:p>
            <a:r>
              <a:rPr lang="en-US" dirty="0"/>
              <a:t>File not available yet </a:t>
            </a:r>
          </a:p>
          <a:p>
            <a:r>
              <a:rPr lang="en-US" b="1" dirty="0"/>
              <a:t>Basic Example:</a:t>
            </a:r>
            <a:endParaRPr lang="en-US" dirty="0"/>
          </a:p>
          <a:p>
            <a:r>
              <a:rPr lang="en-US" dirty="0"/>
              <a:t>import time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range(3):</a:t>
            </a:r>
            <a:br>
              <a:rPr lang="en-US" dirty="0"/>
            </a:br>
            <a:r>
              <a:rPr lang="en-US" dirty="0"/>
              <a:t>    try: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process_data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break</a:t>
            </a:r>
            <a:br>
              <a:rPr lang="en-US" dirty="0"/>
            </a:br>
            <a:r>
              <a:rPr lang="en-US" dirty="0"/>
              <a:t>    except Exception: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time.sleep</a:t>
            </a:r>
            <a:r>
              <a:rPr lang="en-US" dirty="0"/>
              <a:t>(5)</a:t>
            </a:r>
          </a:p>
          <a:p>
            <a:r>
              <a:rPr lang="en-US" b="1" dirty="0"/>
              <a:t>Key Benefit:</a:t>
            </a:r>
            <a:endParaRPr lang="en-US" dirty="0"/>
          </a:p>
          <a:p>
            <a:r>
              <a:rPr lang="en-US" dirty="0"/>
              <a:t>Handles </a:t>
            </a:r>
            <a:r>
              <a:rPr lang="en-US" b="1" dirty="0"/>
              <a:t>temporary failures</a:t>
            </a:r>
            <a:r>
              <a:rPr lang="en-US" dirty="0"/>
              <a:t> </a:t>
            </a:r>
          </a:p>
          <a:p>
            <a:r>
              <a:rPr lang="en-US" dirty="0"/>
              <a:t>Reduces manual intervention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8B48-0BE2-4AFF-1779-E8FEAD6BD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66725"/>
            <a:ext cx="7290055" cy="584263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3. Idempotent Pipelines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Running the same pipeline multiple times gives the </a:t>
            </a:r>
            <a:r>
              <a:rPr lang="en-US" b="1" dirty="0"/>
              <a:t>same result (no duplicates or corruption)</a:t>
            </a:r>
            <a:endParaRPr lang="en-US" dirty="0"/>
          </a:p>
          <a:p>
            <a:r>
              <a:rPr lang="en-US" b="1" dirty="0"/>
              <a:t>Problem Without Idempotency</a:t>
            </a:r>
          </a:p>
          <a:p>
            <a:r>
              <a:rPr lang="en-US" dirty="0"/>
              <a:t>Duplicate records </a:t>
            </a:r>
          </a:p>
          <a:p>
            <a:r>
              <a:rPr lang="en-US" dirty="0"/>
              <a:t>Incorrect aggregations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Solution: Idempotent Design</a:t>
            </a:r>
          </a:p>
          <a:p>
            <a:r>
              <a:rPr lang="en-US" b="1" dirty="0"/>
              <a:t>Techniques: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 err="1"/>
              <a:t>upserts</a:t>
            </a:r>
            <a:r>
              <a:rPr lang="en-US" b="1" dirty="0"/>
              <a:t> (MERGE)</a:t>
            </a:r>
            <a:r>
              <a:rPr lang="en-US" dirty="0"/>
              <a:t> instead of inserts </a:t>
            </a:r>
          </a:p>
          <a:p>
            <a:r>
              <a:rPr lang="en-US" dirty="0"/>
              <a:t>Deduplication </a:t>
            </a:r>
          </a:p>
          <a:p>
            <a:r>
              <a:rPr lang="en-US" dirty="0"/>
              <a:t>Use unique keys </a:t>
            </a:r>
          </a:p>
          <a:p>
            <a:r>
              <a:rPr lang="en-US" b="1" dirty="0"/>
              <a:t>Example (Delta Lake):</a:t>
            </a:r>
            <a:endParaRPr lang="en-US" dirty="0"/>
          </a:p>
          <a:p>
            <a:r>
              <a:rPr lang="en-US" dirty="0"/>
              <a:t>MERGE INTO target t</a:t>
            </a:r>
            <a:br>
              <a:rPr lang="en-US" dirty="0"/>
            </a:br>
            <a:r>
              <a:rPr lang="en-US" dirty="0"/>
              <a:t>USING source s</a:t>
            </a:r>
            <a:br>
              <a:rPr lang="en-US" dirty="0"/>
            </a:br>
            <a:r>
              <a:rPr lang="en-US" dirty="0"/>
              <a:t>ON t.id = s.id</a:t>
            </a:r>
            <a:br>
              <a:rPr lang="en-US" dirty="0"/>
            </a:br>
            <a:r>
              <a:rPr lang="en-US" dirty="0"/>
              <a:t>WHEN MATCHED THEN UPDATE</a:t>
            </a:r>
            <a:br>
              <a:rPr lang="en-US" dirty="0"/>
            </a:br>
            <a:r>
              <a:rPr lang="en-US" dirty="0"/>
              <a:t>WHEN NOT MATCHED THEN INSERT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151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F6DF-FEC0-2D7B-2B2E-1ED107643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61950"/>
            <a:ext cx="7290055" cy="5947410"/>
          </a:xfrm>
        </p:spPr>
        <p:txBody>
          <a:bodyPr>
            <a:normAutofit/>
          </a:bodyPr>
          <a:lstStyle/>
          <a:p>
            <a:r>
              <a:rPr lang="en-US" b="1" dirty="0"/>
              <a:t>4. Why It Matters</a:t>
            </a:r>
          </a:p>
          <a:p>
            <a:r>
              <a:rPr lang="en-US" dirty="0"/>
              <a:t>Safe reprocessing </a:t>
            </a:r>
          </a:p>
          <a:p>
            <a:r>
              <a:rPr lang="en-US" dirty="0"/>
              <a:t>Consistent data </a:t>
            </a:r>
          </a:p>
          <a:p>
            <a:r>
              <a:rPr lang="en-US" dirty="0"/>
              <a:t>Reliable pipelines </a:t>
            </a:r>
          </a:p>
          <a:p>
            <a:r>
              <a:rPr lang="en-US" dirty="0"/>
              <a:t>Easier recovery from failures </a:t>
            </a:r>
          </a:p>
          <a:p>
            <a:endParaRPr lang="en-US" dirty="0"/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Daily pipeline fails at 2 AM:</a:t>
            </a:r>
          </a:p>
          <a:p>
            <a:r>
              <a:rPr lang="en-US" dirty="0"/>
              <a:t>Without retry → job fails completely </a:t>
            </a:r>
          </a:p>
          <a:p>
            <a:r>
              <a:rPr lang="en-US" dirty="0"/>
              <a:t>With retry → auto-recovers </a:t>
            </a:r>
          </a:p>
          <a:p>
            <a:r>
              <a:rPr lang="en-US" dirty="0"/>
              <a:t>If rerun:</a:t>
            </a:r>
          </a:p>
          <a:p>
            <a:r>
              <a:rPr lang="en-US" dirty="0"/>
              <a:t>Without idempotency → duplicate data </a:t>
            </a:r>
          </a:p>
          <a:p>
            <a:r>
              <a:rPr lang="en-US" dirty="0"/>
              <a:t>With idempotency → clean data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313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Auto DAG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Airflow / Prefect DAG auto-generated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C17DD-35B4-9F9B-AD8F-A073615D4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14325"/>
            <a:ext cx="7290055" cy="599503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Auto DAG Generation</a:t>
            </a:r>
          </a:p>
          <a:p>
            <a:r>
              <a:rPr lang="en-US" dirty="0"/>
              <a:t>This slide explains how AI can automatically create </a:t>
            </a:r>
            <a:r>
              <a:rPr lang="en-US" b="1" dirty="0"/>
              <a:t>workflow orchestration pipelines (DAGs)</a:t>
            </a:r>
            <a:r>
              <a:rPr lang="en-US" dirty="0"/>
              <a:t> instead of writing them manually.</a:t>
            </a:r>
          </a:p>
          <a:p>
            <a:r>
              <a:rPr lang="en-US" b="1" dirty="0"/>
              <a:t>1. What is a DAG?</a:t>
            </a:r>
          </a:p>
          <a:p>
            <a:r>
              <a:rPr lang="en-US" dirty="0"/>
              <a:t>DAG = </a:t>
            </a:r>
            <a:r>
              <a:rPr lang="en-US" b="1" dirty="0"/>
              <a:t>Directed Acyclic Graph</a:t>
            </a:r>
            <a:r>
              <a:rPr lang="en-US" dirty="0"/>
              <a:t> </a:t>
            </a:r>
          </a:p>
          <a:p>
            <a:r>
              <a:rPr lang="en-US" dirty="0"/>
              <a:t>Represents: </a:t>
            </a:r>
          </a:p>
          <a:p>
            <a:pPr lvl="1"/>
            <a:r>
              <a:rPr lang="en-US" dirty="0"/>
              <a:t>Tasks (nodes) </a:t>
            </a:r>
          </a:p>
          <a:p>
            <a:pPr lvl="1"/>
            <a:r>
              <a:rPr lang="en-US" dirty="0"/>
              <a:t>Dependencies (edges) </a:t>
            </a:r>
          </a:p>
          <a:p>
            <a:r>
              <a:rPr lang="en-US" b="1" dirty="0"/>
              <a:t>Example Flow:</a:t>
            </a:r>
            <a:endParaRPr lang="en-US" dirty="0"/>
          </a:p>
          <a:p>
            <a:r>
              <a:rPr lang="en-US" dirty="0"/>
              <a:t>Ingest → Clean → Transform → Load </a:t>
            </a:r>
          </a:p>
          <a:p>
            <a:r>
              <a:rPr lang="en-US" b="1" dirty="0"/>
              <a:t>2. Traditional Approach (Manual DAG Creation)</a:t>
            </a:r>
          </a:p>
          <a:p>
            <a:r>
              <a:rPr lang="en-US" dirty="0"/>
              <a:t>Engineers write DAGs manually in tools like: </a:t>
            </a:r>
          </a:p>
          <a:p>
            <a:pPr lvl="1"/>
            <a:r>
              <a:rPr lang="en-US" dirty="0"/>
              <a:t>Airflow </a:t>
            </a:r>
          </a:p>
          <a:p>
            <a:pPr lvl="1"/>
            <a:r>
              <a:rPr lang="en-US" dirty="0"/>
              <a:t>Prefect </a:t>
            </a:r>
          </a:p>
          <a:p>
            <a:r>
              <a:rPr lang="en-US" dirty="0"/>
              <a:t>Need to define: </a:t>
            </a:r>
          </a:p>
          <a:p>
            <a:pPr lvl="1"/>
            <a:r>
              <a:rPr lang="en-US" dirty="0"/>
              <a:t>Tasks </a:t>
            </a:r>
          </a:p>
          <a:p>
            <a:pPr lvl="1"/>
            <a:r>
              <a:rPr lang="en-US" dirty="0"/>
              <a:t>Dependencies </a:t>
            </a:r>
          </a:p>
          <a:p>
            <a:pPr lvl="1"/>
            <a:r>
              <a:rPr lang="en-US" dirty="0"/>
              <a:t>Scheduling </a:t>
            </a:r>
          </a:p>
          <a:p>
            <a:pPr lvl="1"/>
            <a:r>
              <a:rPr lang="en-US" dirty="0"/>
              <a:t>Retry logic 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Time-consuming </a:t>
            </a:r>
          </a:p>
          <a:p>
            <a:r>
              <a:rPr lang="en-US" dirty="0"/>
              <a:t>Error-prone </a:t>
            </a:r>
          </a:p>
          <a:p>
            <a:r>
              <a:rPr lang="en-US" dirty="0"/>
              <a:t>Repetitive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06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728D7-38D6-FB6D-1847-6162EE51A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71500"/>
            <a:ext cx="7290055" cy="573786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3. AI-Powered Auto DAG Generation</a:t>
            </a:r>
          </a:p>
          <a:p>
            <a:r>
              <a:rPr lang="en-US" dirty="0"/>
              <a:t>You describe pipeline in natural language: </a:t>
            </a:r>
          </a:p>
          <a:p>
            <a:r>
              <a:rPr lang="en-US" b="1" dirty="0"/>
              <a:t>Example Prompt:</a:t>
            </a:r>
            <a:endParaRPr lang="en-US" dirty="0"/>
          </a:p>
          <a:p>
            <a:r>
              <a:rPr lang="en-US" dirty="0"/>
              <a:t>“Create a pipeline that ingests data daily, cleans it, aggregates it, and loads into Gold tables.”</a:t>
            </a:r>
          </a:p>
          <a:p>
            <a:r>
              <a:rPr lang="en-US" dirty="0"/>
              <a:t>AI generates:</a:t>
            </a:r>
          </a:p>
          <a:p>
            <a:r>
              <a:rPr lang="en-US" dirty="0"/>
              <a:t>DAG structure </a:t>
            </a:r>
          </a:p>
          <a:p>
            <a:r>
              <a:rPr lang="en-US" dirty="0"/>
              <a:t>Task dependencies </a:t>
            </a:r>
          </a:p>
          <a:p>
            <a:r>
              <a:rPr lang="en-US" dirty="0"/>
              <a:t>Scheduling rules </a:t>
            </a:r>
          </a:p>
          <a:p>
            <a:r>
              <a:rPr lang="en-US" dirty="0"/>
              <a:t>Retry configurations </a:t>
            </a:r>
          </a:p>
          <a:p>
            <a:r>
              <a:rPr lang="en-US" b="1" dirty="0"/>
              <a:t>4. Example (Conceptual Flow)</a:t>
            </a:r>
          </a:p>
          <a:p>
            <a:r>
              <a:rPr lang="en-US" dirty="0"/>
              <a:t>Instead of writing manually:</a:t>
            </a:r>
          </a:p>
          <a:p>
            <a:r>
              <a:rPr lang="en-US" dirty="0"/>
              <a:t>task1 &gt;&gt; task2 &gt;&gt; task3</a:t>
            </a:r>
          </a:p>
          <a:p>
            <a:r>
              <a:rPr lang="en-US" dirty="0"/>
              <a:t>AI generates full DAG:</a:t>
            </a:r>
          </a:p>
          <a:p>
            <a:r>
              <a:rPr lang="en-US" dirty="0" err="1"/>
              <a:t>ingest_task</a:t>
            </a:r>
            <a:r>
              <a:rPr lang="en-US" dirty="0"/>
              <a:t> </a:t>
            </a:r>
          </a:p>
          <a:p>
            <a:r>
              <a:rPr lang="en-US" dirty="0" err="1"/>
              <a:t>clean_task</a:t>
            </a:r>
            <a:r>
              <a:rPr lang="en-US" dirty="0"/>
              <a:t> </a:t>
            </a:r>
          </a:p>
          <a:p>
            <a:r>
              <a:rPr lang="en-US" dirty="0" err="1"/>
              <a:t>transform_task</a:t>
            </a:r>
            <a:r>
              <a:rPr lang="en-US" dirty="0"/>
              <a:t> </a:t>
            </a:r>
          </a:p>
          <a:p>
            <a:r>
              <a:rPr lang="en-US" dirty="0" err="1"/>
              <a:t>load_task</a:t>
            </a:r>
            <a:r>
              <a:rPr lang="en-US" dirty="0"/>
              <a:t> </a:t>
            </a:r>
          </a:p>
          <a:p>
            <a:r>
              <a:rPr lang="en-US" dirty="0"/>
              <a:t>With proper order and dependencies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399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BFB5-23C0-B089-47BB-7E7C69DC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838200"/>
            <a:ext cx="7290055" cy="547116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5. Supported Tools</a:t>
            </a:r>
          </a:p>
          <a:p>
            <a:r>
              <a:rPr lang="en-US" b="1" dirty="0"/>
              <a:t>Airflow</a:t>
            </a:r>
            <a:r>
              <a:rPr lang="en-US" dirty="0"/>
              <a:t> → Python-based orchestration </a:t>
            </a:r>
          </a:p>
          <a:p>
            <a:r>
              <a:rPr lang="en-US" b="1" dirty="0"/>
              <a:t>Prefect / Mage</a:t>
            </a:r>
            <a:r>
              <a:rPr lang="en-US" dirty="0"/>
              <a:t> → modern workflow tools </a:t>
            </a:r>
          </a:p>
          <a:p>
            <a:r>
              <a:rPr lang="en-US" dirty="0"/>
              <a:t>AI integrates with these to:</a:t>
            </a:r>
          </a:p>
          <a:p>
            <a:r>
              <a:rPr lang="en-US" dirty="0"/>
              <a:t>Auto-create workflows </a:t>
            </a:r>
          </a:p>
          <a:p>
            <a:r>
              <a:rPr lang="en-US" dirty="0"/>
              <a:t>Suggest best practices</a:t>
            </a:r>
          </a:p>
          <a:p>
            <a:r>
              <a:rPr lang="en-US" b="1" dirty="0"/>
              <a:t>6. Why It Matters</a:t>
            </a:r>
          </a:p>
          <a:p>
            <a:r>
              <a:rPr lang="en-US" dirty="0"/>
              <a:t>Saves development time </a:t>
            </a:r>
          </a:p>
          <a:p>
            <a:r>
              <a:rPr lang="en-US" dirty="0"/>
              <a:t>Standardizes pipeline orchestration </a:t>
            </a:r>
          </a:p>
          <a:p>
            <a:r>
              <a:rPr lang="en-US" dirty="0"/>
              <a:t>Reduces errors </a:t>
            </a:r>
          </a:p>
          <a:p>
            <a:r>
              <a:rPr lang="en-US" dirty="0"/>
              <a:t>Faster deployment </a:t>
            </a:r>
          </a:p>
          <a:p>
            <a:endParaRPr lang="en-US" dirty="0"/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Instead of writing 200 lines of DAG code:</a:t>
            </a:r>
          </a:p>
          <a:p>
            <a:r>
              <a:rPr lang="en-US" dirty="0"/>
              <a:t>You write 2–3 lines of prompt </a:t>
            </a:r>
          </a:p>
          <a:p>
            <a:r>
              <a:rPr lang="en-US" dirty="0"/>
              <a:t>AI generates full workflow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225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Medallion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Bronze: raw</a:t>
            </a:r>
          </a:p>
          <a:p>
            <a:r>
              <a:t>Silver: cleaned</a:t>
            </a:r>
          </a:p>
          <a:p>
            <a:r>
              <a:t>Gold: business-ready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CSV</a:t>
            </a:r>
          </a:p>
          <a:p>
            <a:r>
              <a:t>Bronze: raw ingest</a:t>
            </a:r>
          </a:p>
          <a:p>
            <a:r>
              <a:t>Silver: clean</a:t>
            </a:r>
          </a:p>
          <a:p>
            <a:r>
              <a:t>Gold: aggregates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bronze/</a:t>
            </a:r>
          </a:p>
          <a:p>
            <a:r>
              <a:t>silver/</a:t>
            </a:r>
          </a:p>
          <a:p>
            <a:r>
              <a:t>gold/</a:t>
            </a:r>
          </a:p>
          <a:p>
            <a:r>
              <a:t>tests/</a:t>
            </a:r>
          </a:p>
          <a:p>
            <a:r>
              <a:t>dags/</a:t>
            </a:r>
          </a:p>
          <a:p>
            <a:r>
              <a:t>config/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→ Clean → Aggregate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schema</a:t>
            </a:r>
          </a:p>
          <a:p>
            <a:r>
              <a:t>Validate transformations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Actions</a:t>
            </a:r>
          </a:p>
          <a:p>
            <a:r>
              <a:t>Test → Deploy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development</a:t>
            </a:r>
          </a:p>
          <a:p>
            <a:r>
              <a:t>Reduced errors</a:t>
            </a:r>
          </a:p>
          <a:p>
            <a:r>
              <a:t>Scalable pipelines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quality</a:t>
            </a:r>
          </a:p>
          <a:p>
            <a:r>
              <a:t>Validation needed</a:t>
            </a:r>
          </a:p>
          <a:p>
            <a:r>
              <a:t>AI risks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code</a:t>
            </a:r>
          </a:p>
          <a:p>
            <a:r>
              <a:t>Add tests</a:t>
            </a:r>
          </a:p>
          <a:p>
            <a:r>
              <a:t>Use version control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 → Generate → Test → Deploy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</a:t>
            </a:r>
          </a:p>
          <a:p>
            <a:r>
              <a:t>Retail</a:t>
            </a:r>
          </a:p>
          <a:p>
            <a:r>
              <a:t>Healthcare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</TotalTime>
  <Words>2009</Words>
  <Application>Microsoft Office PowerPoint</Application>
  <PresentationFormat>On-screen Show (4:3)</PresentationFormat>
  <Paragraphs>418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Tw Cen MT</vt:lpstr>
      <vt:lpstr>Tw Cen MT Condensed</vt:lpstr>
      <vt:lpstr>Wingdings 3</vt:lpstr>
      <vt:lpstr>Integral</vt:lpstr>
      <vt:lpstr>AI-Powered Pipeline Development &amp; ETL/ELT Coding</vt:lpstr>
      <vt:lpstr>Agenda</vt:lpstr>
      <vt:lpstr>Traditional vs AI-Powered ETL/ELT</vt:lpstr>
      <vt:lpstr>Manual Coding vs AI Generation</vt:lpstr>
      <vt:lpstr>Static vs Adaptive Pipelines</vt:lpstr>
      <vt:lpstr>Slow vs Rapid Development</vt:lpstr>
      <vt:lpstr>AI-Powered Pipeline Development</vt:lpstr>
      <vt:lpstr>LLMs Generate Pipeline Code</vt:lpstr>
      <vt:lpstr>Business Requirement → Executable Pipeline</vt:lpstr>
      <vt:lpstr>Faster Delivery </vt:lpstr>
      <vt:lpstr>AI Workflow</vt:lpstr>
      <vt:lpstr>PowerPoint Presentation</vt:lpstr>
      <vt:lpstr>PowerPoint Presentation</vt:lpstr>
      <vt:lpstr>PowerPoint Presentation</vt:lpstr>
      <vt:lpstr>Scaffold from Natural Language</vt:lpstr>
      <vt:lpstr>PowerPoint Presentation</vt:lpstr>
      <vt:lpstr>PowerPoint Presentation</vt:lpstr>
      <vt:lpstr>Incremental Ingestion</vt:lpstr>
      <vt:lpstr>PowerPoint Presentation</vt:lpstr>
      <vt:lpstr>PowerPoint Presentation</vt:lpstr>
      <vt:lpstr>Schema Evolution</vt:lpstr>
      <vt:lpstr>PowerPoint Presentation</vt:lpstr>
      <vt:lpstr>PowerPoint Presentation</vt:lpstr>
      <vt:lpstr>PySpark Optimization</vt:lpstr>
      <vt:lpstr>PowerPoint Presentation</vt:lpstr>
      <vt:lpstr>PowerPoint Presentation</vt:lpstr>
      <vt:lpstr>PowerPoint Presentation</vt:lpstr>
      <vt:lpstr>PowerPoint Presentation</vt:lpstr>
      <vt:lpstr>Error Handling</vt:lpstr>
      <vt:lpstr>PowerPoint Presentation</vt:lpstr>
      <vt:lpstr>PowerPoint Presentation</vt:lpstr>
      <vt:lpstr>PowerPoint Presentation</vt:lpstr>
      <vt:lpstr>PowerPoint Presentation</vt:lpstr>
      <vt:lpstr>Auto DAG Generation</vt:lpstr>
      <vt:lpstr>PowerPoint Presentation</vt:lpstr>
      <vt:lpstr>PowerPoint Presentation</vt:lpstr>
      <vt:lpstr>PowerPoint Presentation</vt:lpstr>
      <vt:lpstr>Medallion Architecture</vt:lpstr>
      <vt:lpstr>Pipeline Spec</vt:lpstr>
      <vt:lpstr>Project Structure</vt:lpstr>
      <vt:lpstr>PySpark Flow</vt:lpstr>
      <vt:lpstr>Unit Testing</vt:lpstr>
      <vt:lpstr>CI/CD</vt:lpstr>
      <vt:lpstr>Benefits</vt:lpstr>
      <vt:lpstr>Challenges</vt:lpstr>
      <vt:lpstr>Best Practices</vt:lpstr>
      <vt:lpstr>Demo Workflow</vt:lpstr>
      <vt:lpstr>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71</cp:revision>
  <dcterms:created xsi:type="dcterms:W3CDTF">2013-01-27T09:14:16Z</dcterms:created>
  <dcterms:modified xsi:type="dcterms:W3CDTF">2026-05-06T02:11:05Z</dcterms:modified>
  <cp:category/>
</cp:coreProperties>
</file>