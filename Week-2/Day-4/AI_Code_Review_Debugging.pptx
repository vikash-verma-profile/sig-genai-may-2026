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80" r:id="rId5"/>
    <p:sldId id="281" r:id="rId6"/>
    <p:sldId id="282" r:id="rId7"/>
    <p:sldId id="259" r:id="rId8"/>
    <p:sldId id="283" r:id="rId9"/>
    <p:sldId id="284" r:id="rId10"/>
    <p:sldId id="285" r:id="rId11"/>
    <p:sldId id="260" r:id="rId12"/>
    <p:sldId id="286" r:id="rId13"/>
    <p:sldId id="287" r:id="rId14"/>
    <p:sldId id="288" r:id="rId15"/>
    <p:sldId id="289" r:id="rId16"/>
    <p:sldId id="261" r:id="rId17"/>
    <p:sldId id="290" r:id="rId18"/>
    <p:sldId id="291" r:id="rId19"/>
    <p:sldId id="292" r:id="rId20"/>
    <p:sldId id="262" r:id="rId21"/>
    <p:sldId id="293" r:id="rId22"/>
    <p:sldId id="294" r:id="rId23"/>
    <p:sldId id="295" r:id="rId24"/>
    <p:sldId id="296" r:id="rId25"/>
    <p:sldId id="297" r:id="rId26"/>
    <p:sldId id="263" r:id="rId27"/>
    <p:sldId id="298" r:id="rId28"/>
    <p:sldId id="299" r:id="rId29"/>
    <p:sldId id="300" r:id="rId30"/>
    <p:sldId id="301" r:id="rId31"/>
    <p:sldId id="264" r:id="rId32"/>
    <p:sldId id="302" r:id="rId33"/>
    <p:sldId id="303" r:id="rId34"/>
    <p:sldId id="304" r:id="rId35"/>
    <p:sldId id="305" r:id="rId36"/>
    <p:sldId id="265" r:id="rId37"/>
    <p:sldId id="306" r:id="rId38"/>
    <p:sldId id="307" r:id="rId39"/>
    <p:sldId id="308" r:id="rId40"/>
    <p:sldId id="309" r:id="rId41"/>
    <p:sldId id="266" r:id="rId42"/>
    <p:sldId id="310" r:id="rId43"/>
    <p:sldId id="311" r:id="rId44"/>
    <p:sldId id="312" r:id="rId45"/>
    <p:sldId id="267" r:id="rId46"/>
    <p:sldId id="313" r:id="rId47"/>
    <p:sldId id="314" r:id="rId48"/>
    <p:sldId id="315" r:id="rId49"/>
    <p:sldId id="268" r:id="rId50"/>
    <p:sldId id="269" r:id="rId51"/>
    <p:sldId id="270" r:id="rId52"/>
    <p:sldId id="271" r:id="rId53"/>
    <p:sldId id="272" r:id="rId54"/>
    <p:sldId id="273" r:id="rId55"/>
    <p:sldId id="274" r:id="rId56"/>
    <p:sldId id="275" r:id="rId57"/>
    <p:sldId id="276" r:id="rId58"/>
    <p:sldId id="277" r:id="rId59"/>
    <p:sldId id="278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97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37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61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91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76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74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0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8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Review, Debugging &amp; Documentation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development practices</a:t>
            </a:r>
          </a:p>
          <a:p>
            <a:r>
              <a:t>Tools: Claude, Copilot, Notion AI, Mintlify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code review</a:t>
            </a:r>
          </a:p>
          <a:p>
            <a:r>
              <a:t>Bug diagnosis</a:t>
            </a:r>
          </a:p>
          <a:p>
            <a:r>
              <a:t>Documentation automation</a:t>
            </a:r>
          </a:p>
          <a:p>
            <a:r>
              <a:t>Runbooks</a:t>
            </a:r>
          </a:p>
          <a:p>
            <a:r>
              <a:t>AI collaboration</a:t>
            </a:r>
          </a:p>
          <a:p>
            <a:r>
              <a:t>Hands-on use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production failures</a:t>
            </a:r>
          </a:p>
          <a:p>
            <a:r>
              <a:t>Improve maintainability</a:t>
            </a:r>
          </a:p>
          <a:p>
            <a:r>
              <a:t>Faster debugging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E663-C7B4-69F2-75AA-68B7314D2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42950"/>
            <a:ext cx="7290055" cy="5566410"/>
          </a:xfrm>
        </p:spPr>
        <p:txBody>
          <a:bodyPr>
            <a:normAutofit/>
          </a:bodyPr>
          <a:lstStyle/>
          <a:p>
            <a:r>
              <a:rPr lang="en-US" b="1" dirty="0"/>
              <a:t>1. Reduce Production Failures</a:t>
            </a:r>
          </a:p>
          <a:p>
            <a:r>
              <a:rPr lang="en-US" dirty="0"/>
              <a:t>In traditional development: </a:t>
            </a:r>
          </a:p>
          <a:p>
            <a:pPr lvl="1"/>
            <a:r>
              <a:rPr lang="en-US" dirty="0"/>
              <a:t>Bugs often go unnoticed until production </a:t>
            </a:r>
          </a:p>
          <a:p>
            <a:pPr lvl="1"/>
            <a:r>
              <a:rPr lang="en-US" dirty="0"/>
              <a:t>Leads to system downtime, data issues, business impact </a:t>
            </a:r>
          </a:p>
          <a:p>
            <a:r>
              <a:rPr lang="en-US" dirty="0"/>
              <a:t>With AI: </a:t>
            </a:r>
          </a:p>
          <a:p>
            <a:pPr lvl="1"/>
            <a:r>
              <a:rPr lang="en-US" dirty="0"/>
              <a:t>Detect issues early (code review + testing) </a:t>
            </a:r>
          </a:p>
          <a:p>
            <a:pPr lvl="1"/>
            <a:r>
              <a:rPr lang="en-US" dirty="0"/>
              <a:t>Identify edge cases and missing validations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Missing null check → pipeline crash </a:t>
            </a:r>
          </a:p>
          <a:p>
            <a:r>
              <a:rPr lang="en-US" dirty="0"/>
              <a:t>AI flags it before deployment </a:t>
            </a:r>
          </a:p>
          <a:p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→ Prevention is better than fixing production issues</a:t>
            </a:r>
          </a:p>
        </p:txBody>
      </p:sp>
    </p:spTree>
    <p:extLst>
      <p:ext uri="{BB962C8B-B14F-4D97-AF65-F5344CB8AC3E}">
        <p14:creationId xmlns:p14="http://schemas.microsoft.com/office/powerpoint/2010/main" val="381186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0D00C-8EEC-17FE-7B3E-27C7C4CCD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23850"/>
            <a:ext cx="7290055" cy="5985510"/>
          </a:xfrm>
        </p:spPr>
        <p:txBody>
          <a:bodyPr>
            <a:normAutofit/>
          </a:bodyPr>
          <a:lstStyle/>
          <a:p>
            <a:r>
              <a:rPr lang="en-US" b="1" dirty="0"/>
              <a:t>2. Improve Maintainability</a:t>
            </a:r>
          </a:p>
          <a:p>
            <a:r>
              <a:rPr lang="en-US" dirty="0"/>
              <a:t>Poorly documented code becomes: </a:t>
            </a:r>
          </a:p>
          <a:p>
            <a:pPr lvl="1"/>
            <a:r>
              <a:rPr lang="en-US" dirty="0"/>
              <a:t>Hard to understand </a:t>
            </a:r>
          </a:p>
          <a:p>
            <a:pPr lvl="1"/>
            <a:r>
              <a:rPr lang="en-US" dirty="0"/>
              <a:t>Difficult to modify </a:t>
            </a:r>
          </a:p>
          <a:p>
            <a:pPr lvl="1"/>
            <a:r>
              <a:rPr lang="en-US" dirty="0"/>
              <a:t>Risky for new developers </a:t>
            </a:r>
          </a:p>
          <a:p>
            <a:r>
              <a:rPr lang="en-US" dirty="0"/>
              <a:t>AI helps by generating: </a:t>
            </a:r>
          </a:p>
          <a:p>
            <a:pPr lvl="1"/>
            <a:r>
              <a:rPr lang="en-US" dirty="0"/>
              <a:t>Docstrings </a:t>
            </a:r>
          </a:p>
          <a:p>
            <a:pPr lvl="1"/>
            <a:r>
              <a:rPr lang="en-US" dirty="0"/>
              <a:t>README </a:t>
            </a:r>
          </a:p>
          <a:p>
            <a:pPr lvl="1"/>
            <a:r>
              <a:rPr lang="en-US" dirty="0"/>
              <a:t>Design documentation 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r>
              <a:rPr lang="en-US" dirty="0"/>
              <a:t>Easier onboarding </a:t>
            </a:r>
          </a:p>
          <a:p>
            <a:r>
              <a:rPr lang="en-US" dirty="0"/>
              <a:t>Faster feature updates </a:t>
            </a:r>
          </a:p>
          <a:p>
            <a:r>
              <a:rPr lang="en-US" dirty="0"/>
              <a:t>Cleaner codebase </a:t>
            </a:r>
          </a:p>
          <a:p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→ Maintainable code = long-term scalability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35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A3E5-DBEA-D389-DAA9-9FC8E5408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952500"/>
            <a:ext cx="7290055" cy="5356860"/>
          </a:xfrm>
        </p:spPr>
        <p:txBody>
          <a:bodyPr>
            <a:normAutofit/>
          </a:bodyPr>
          <a:lstStyle/>
          <a:p>
            <a:r>
              <a:rPr lang="en-IN" b="1" dirty="0"/>
              <a:t>3. Faster Debugging</a:t>
            </a:r>
          </a:p>
          <a:p>
            <a:r>
              <a:rPr lang="en-IN" dirty="0"/>
              <a:t>Traditional debugging: </a:t>
            </a:r>
          </a:p>
          <a:p>
            <a:pPr lvl="1"/>
            <a:r>
              <a:rPr lang="en-IN" dirty="0"/>
              <a:t>Read logs </a:t>
            </a:r>
          </a:p>
          <a:p>
            <a:pPr lvl="1"/>
            <a:r>
              <a:rPr lang="en-IN" dirty="0"/>
              <a:t>Trace code manually </a:t>
            </a:r>
          </a:p>
          <a:p>
            <a:pPr lvl="1"/>
            <a:r>
              <a:rPr lang="en-IN" dirty="0"/>
              <a:t>Takes hours </a:t>
            </a:r>
          </a:p>
          <a:p>
            <a:r>
              <a:rPr lang="en-IN" dirty="0"/>
              <a:t>AI debugging: </a:t>
            </a:r>
          </a:p>
          <a:p>
            <a:pPr lvl="1"/>
            <a:r>
              <a:rPr lang="en-IN" dirty="0"/>
              <a:t>Provide code + error </a:t>
            </a:r>
          </a:p>
          <a:p>
            <a:pPr lvl="1"/>
            <a:r>
              <a:rPr lang="en-IN" dirty="0"/>
              <a:t>AI identifies root cause instantly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Stack trace → AI explains exact issue and fix </a:t>
            </a:r>
          </a:p>
          <a:p>
            <a:r>
              <a:rPr lang="en-IN" b="1" dirty="0"/>
              <a:t>Key Point:</a:t>
            </a:r>
            <a:br>
              <a:rPr lang="en-IN" dirty="0"/>
            </a:br>
            <a:r>
              <a:rPr lang="en-IN" dirty="0"/>
              <a:t>→ Faster issue resolution → less downtime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08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vulnerabilities</a:t>
            </a:r>
          </a:p>
          <a:p>
            <a:r>
              <a:t>Find performance issues</a:t>
            </a:r>
          </a:p>
          <a:p>
            <a:r>
              <a:t>Improve code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43204-B0EC-AE76-9F99-B24451C5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38125"/>
            <a:ext cx="7290055" cy="6071235"/>
          </a:xfrm>
        </p:spPr>
        <p:txBody>
          <a:bodyPr>
            <a:normAutofit/>
          </a:bodyPr>
          <a:lstStyle/>
          <a:p>
            <a:r>
              <a:rPr lang="en-IN" b="1" dirty="0"/>
              <a:t>1. Detect Vulnerabilities</a:t>
            </a:r>
          </a:p>
          <a:p>
            <a:r>
              <a:rPr lang="en-IN" dirty="0"/>
              <a:t>AI scans code for </a:t>
            </a:r>
            <a:r>
              <a:rPr lang="en-IN" b="1" dirty="0"/>
              <a:t>security risks</a:t>
            </a:r>
            <a:r>
              <a:rPr lang="en-IN" dirty="0"/>
              <a:t> such as: </a:t>
            </a:r>
          </a:p>
          <a:p>
            <a:pPr lvl="1"/>
            <a:r>
              <a:rPr lang="en-IN" dirty="0"/>
              <a:t>Hardcoded passwords or API keys </a:t>
            </a:r>
          </a:p>
          <a:p>
            <a:pPr lvl="1"/>
            <a:r>
              <a:rPr lang="en-IN" dirty="0"/>
              <a:t>Unsafe SQL queries (SQL injection risk) </a:t>
            </a:r>
          </a:p>
          <a:p>
            <a:pPr lvl="1"/>
            <a:r>
              <a:rPr lang="en-IN" dirty="0"/>
              <a:t>Improper data handling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password = "admin123"   #  Hardcoded credential</a:t>
            </a:r>
          </a:p>
          <a:p>
            <a:r>
              <a:rPr lang="en-IN" dirty="0"/>
              <a:t>AI will flag this and suggest using:</a:t>
            </a:r>
          </a:p>
          <a:p>
            <a:r>
              <a:rPr lang="en-IN" dirty="0"/>
              <a:t>Environment variables </a:t>
            </a:r>
          </a:p>
          <a:p>
            <a:r>
              <a:rPr lang="en-IN" dirty="0"/>
              <a:t>Secure vaults </a:t>
            </a:r>
          </a:p>
          <a:p>
            <a:r>
              <a:rPr lang="en-IN" b="1" dirty="0"/>
              <a:t>Key Point:</a:t>
            </a:r>
            <a:br>
              <a:rPr lang="en-IN" dirty="0"/>
            </a:br>
            <a:r>
              <a:rPr lang="en-IN" dirty="0"/>
              <a:t>→ Prevent security issues before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27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3029-DB0E-BCB7-71AE-CDC31B458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95300"/>
            <a:ext cx="7290055" cy="5814060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2. Find Performance Issues</a:t>
            </a:r>
          </a:p>
          <a:p>
            <a:r>
              <a:rPr lang="en-IN" dirty="0"/>
              <a:t>AI identifies inefficient code patterns like: </a:t>
            </a:r>
          </a:p>
          <a:p>
            <a:pPr lvl="1"/>
            <a:r>
              <a:rPr lang="en-IN" dirty="0"/>
              <a:t>Full table scans </a:t>
            </a:r>
          </a:p>
          <a:p>
            <a:pPr lvl="1"/>
            <a:r>
              <a:rPr lang="en-IN" dirty="0"/>
              <a:t>Unoptimized joins </a:t>
            </a:r>
          </a:p>
          <a:p>
            <a:pPr lvl="1"/>
            <a:r>
              <a:rPr lang="en-IN" dirty="0"/>
              <a:t>Repeated computations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Joining two large tables without optimization </a:t>
            </a:r>
          </a:p>
          <a:p>
            <a:r>
              <a:rPr lang="en-IN" dirty="0"/>
              <a:t>AI suggests:</a:t>
            </a:r>
          </a:p>
          <a:p>
            <a:r>
              <a:rPr lang="en-IN" dirty="0"/>
              <a:t>Broadcast joins </a:t>
            </a:r>
          </a:p>
          <a:p>
            <a:r>
              <a:rPr lang="en-IN" dirty="0"/>
              <a:t>Filtering before join </a:t>
            </a:r>
          </a:p>
          <a:p>
            <a:r>
              <a:rPr lang="en-IN" dirty="0"/>
              <a:t>Proper partitioning </a:t>
            </a:r>
          </a:p>
          <a:p>
            <a:r>
              <a:rPr lang="en-IN" b="1" dirty="0"/>
              <a:t>Key Point:</a:t>
            </a:r>
            <a:br>
              <a:rPr lang="en-IN" dirty="0"/>
            </a:br>
            <a:r>
              <a:rPr lang="en-IN" dirty="0"/>
              <a:t>→ Faster pipelines and lower compute cost</a:t>
            </a:r>
          </a:p>
          <a:p>
            <a:r>
              <a:rPr lang="en-US" b="1" dirty="0"/>
              <a:t>3. Improve Code Quality</a:t>
            </a:r>
          </a:p>
          <a:p>
            <a:r>
              <a:rPr lang="en-US" dirty="0"/>
              <a:t>AI reviews for: </a:t>
            </a:r>
          </a:p>
          <a:p>
            <a:pPr lvl="1"/>
            <a:r>
              <a:rPr lang="en-US" dirty="0"/>
              <a:t>Code readability </a:t>
            </a:r>
          </a:p>
          <a:p>
            <a:pPr lvl="1"/>
            <a:r>
              <a:rPr lang="en-US" dirty="0"/>
              <a:t>Best practices </a:t>
            </a:r>
          </a:p>
          <a:p>
            <a:pPr lvl="1"/>
            <a:r>
              <a:rPr lang="en-US" dirty="0"/>
              <a:t>Missing validations </a:t>
            </a:r>
          </a:p>
          <a:p>
            <a:r>
              <a:rPr lang="en-US" b="1" dirty="0"/>
              <a:t>Improvements include:</a:t>
            </a:r>
            <a:endParaRPr lang="en-US" dirty="0"/>
          </a:p>
          <a:p>
            <a:r>
              <a:rPr lang="en-US" dirty="0"/>
              <a:t>Better variable naming </a:t>
            </a:r>
          </a:p>
          <a:p>
            <a:r>
              <a:rPr lang="en-US" dirty="0"/>
              <a:t>Modular functions </a:t>
            </a:r>
          </a:p>
          <a:p>
            <a:r>
              <a:rPr lang="en-US" dirty="0"/>
              <a:t>Adding comments and docstrings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008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145C-0FDC-4741-1E91-909CCDFC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C6BD-E6F6-DED2-F7DB-193972F2F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AI:</a:t>
            </a:r>
          </a:p>
          <a:p>
            <a:r>
              <a:rPr lang="en-US" dirty="0"/>
              <a:t>Manual review → slow and inconsistent </a:t>
            </a:r>
          </a:p>
          <a:p>
            <a:r>
              <a:rPr lang="en-US" dirty="0"/>
              <a:t>With AI:</a:t>
            </a:r>
          </a:p>
          <a:p>
            <a:r>
              <a:rPr lang="en-US" dirty="0"/>
              <a:t>Instant feedback </a:t>
            </a:r>
          </a:p>
          <a:p>
            <a:r>
              <a:rPr lang="en-US" dirty="0"/>
              <a:t>Standardized quality checks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22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exposed keys</a:t>
            </a:r>
          </a:p>
          <a:p>
            <a:r>
              <a:t>Optimize joins</a:t>
            </a:r>
          </a:p>
          <a:p>
            <a:r>
              <a:t>Avoid full scans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1708-1355-85EC-1874-B279C0249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76275"/>
            <a:ext cx="7290055" cy="563308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1. Detect Exposed Keys (Security)</a:t>
            </a:r>
          </a:p>
          <a:p>
            <a:r>
              <a:rPr lang="en-US" dirty="0"/>
              <a:t>One of the most common risks is </a:t>
            </a:r>
            <a:r>
              <a:rPr lang="en-US" b="1" dirty="0"/>
              <a:t>hardcoded secrets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API keys </a:t>
            </a:r>
          </a:p>
          <a:p>
            <a:pPr lvl="1"/>
            <a:r>
              <a:rPr lang="en-US" dirty="0"/>
              <a:t>Database passwords </a:t>
            </a:r>
          </a:p>
          <a:p>
            <a:pPr lvl="1"/>
            <a:r>
              <a:rPr lang="en-US" dirty="0"/>
              <a:t>Access tokens </a:t>
            </a:r>
          </a:p>
          <a:p>
            <a:r>
              <a:rPr lang="en-US" b="1" dirty="0"/>
              <a:t>Example (Bad Practice):</a:t>
            </a:r>
            <a:endParaRPr lang="en-US" dirty="0"/>
          </a:p>
          <a:p>
            <a:r>
              <a:rPr lang="en-US" dirty="0" err="1"/>
              <a:t>api_key</a:t>
            </a:r>
            <a:r>
              <a:rPr lang="en-US" dirty="0"/>
              <a:t> = "12345-SECRET"</a:t>
            </a:r>
          </a:p>
          <a:p>
            <a:r>
              <a:rPr lang="en-US" b="1" dirty="0"/>
              <a:t>Risk:</a:t>
            </a:r>
            <a:endParaRPr lang="en-US" dirty="0"/>
          </a:p>
          <a:p>
            <a:r>
              <a:rPr lang="en-US" dirty="0"/>
              <a:t>Anyone accessing the code can misuse credentials </a:t>
            </a:r>
          </a:p>
          <a:p>
            <a:r>
              <a:rPr lang="en-US" dirty="0"/>
              <a:t>Can lead to </a:t>
            </a:r>
            <a:r>
              <a:rPr lang="en-US" b="1" dirty="0"/>
              <a:t>data breaches or system compromise</a:t>
            </a:r>
            <a:r>
              <a:rPr lang="en-US" dirty="0"/>
              <a:t> </a:t>
            </a:r>
          </a:p>
          <a:p>
            <a:r>
              <a:rPr lang="en-US" b="1" dirty="0"/>
              <a:t>AI Role:</a:t>
            </a:r>
            <a:endParaRPr lang="en-US" dirty="0"/>
          </a:p>
          <a:p>
            <a:r>
              <a:rPr lang="en-US" dirty="0"/>
              <a:t>Automatically scans code </a:t>
            </a:r>
          </a:p>
          <a:p>
            <a:r>
              <a:rPr lang="en-US" dirty="0"/>
              <a:t>Flags exposed secrets </a:t>
            </a:r>
          </a:p>
          <a:p>
            <a:r>
              <a:rPr lang="en-US" dirty="0"/>
              <a:t>Suggests: </a:t>
            </a:r>
          </a:p>
          <a:p>
            <a:pPr lvl="1"/>
            <a:r>
              <a:rPr lang="en-US" dirty="0"/>
              <a:t>Environment variables </a:t>
            </a:r>
          </a:p>
          <a:p>
            <a:pPr lvl="1"/>
            <a:r>
              <a:rPr lang="en-US" dirty="0"/>
              <a:t>Secret managers (AWS Secrets Manager, Azure Key Vault) </a:t>
            </a:r>
          </a:p>
          <a:p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→ Never store sensitive data directly in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69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1FCD-F439-5EA0-25B8-061CC8001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00075"/>
            <a:ext cx="7290055" cy="570928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2. Optimize Joins (Performance)</a:t>
            </a:r>
          </a:p>
          <a:p>
            <a:r>
              <a:rPr lang="en-IN" dirty="0"/>
              <a:t>Joins are </a:t>
            </a:r>
            <a:r>
              <a:rPr lang="en-IN" b="1" dirty="0"/>
              <a:t>expensive operations</a:t>
            </a:r>
            <a:r>
              <a:rPr lang="en-IN" dirty="0"/>
              <a:t> in data processing </a:t>
            </a:r>
          </a:p>
          <a:p>
            <a:r>
              <a:rPr lang="en-IN" b="1" dirty="0"/>
              <a:t>Problem:</a:t>
            </a:r>
            <a:endParaRPr lang="en-IN" dirty="0"/>
          </a:p>
          <a:p>
            <a:r>
              <a:rPr lang="en-IN" dirty="0"/>
              <a:t>Joining large datasets causes: </a:t>
            </a:r>
          </a:p>
          <a:p>
            <a:pPr lvl="1"/>
            <a:r>
              <a:rPr lang="en-IN" dirty="0"/>
              <a:t>Heavy data shuffling </a:t>
            </a:r>
          </a:p>
          <a:p>
            <a:pPr lvl="1"/>
            <a:r>
              <a:rPr lang="en-IN" dirty="0"/>
              <a:t>Slow execution </a:t>
            </a:r>
          </a:p>
          <a:p>
            <a:r>
              <a:rPr lang="en-IN" b="1" dirty="0"/>
              <a:t>Example Issue:</a:t>
            </a:r>
            <a:endParaRPr lang="en-IN" dirty="0"/>
          </a:p>
          <a:p>
            <a:r>
              <a:rPr lang="en-IN" dirty="0"/>
              <a:t>Joining two large tables without optimization </a:t>
            </a:r>
          </a:p>
          <a:p>
            <a:r>
              <a:rPr lang="en-IN" b="1" dirty="0"/>
              <a:t>AI Suggestions: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broadcast joins</a:t>
            </a:r>
            <a:r>
              <a:rPr lang="en-IN" dirty="0"/>
              <a:t> for small tables </a:t>
            </a:r>
          </a:p>
          <a:p>
            <a:r>
              <a:rPr lang="en-IN" dirty="0"/>
              <a:t>Filter data before joining </a:t>
            </a:r>
          </a:p>
          <a:p>
            <a:r>
              <a:rPr lang="en-IN" dirty="0"/>
              <a:t>Choose correct join type </a:t>
            </a:r>
          </a:p>
          <a:p>
            <a:r>
              <a:rPr lang="en-IN" b="1" dirty="0"/>
              <a:t>Key Point:</a:t>
            </a:r>
            <a:br>
              <a:rPr lang="en-IN" dirty="0"/>
            </a:br>
            <a:r>
              <a:rPr lang="en-IN" dirty="0"/>
              <a:t>→ Efficient joins = faster </a:t>
            </a:r>
            <a:r>
              <a:rPr lang="en-IN" dirty="0" err="1"/>
              <a:t>pipeliness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851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087B-AD49-8867-A7F2-30B848714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466725"/>
            <a:ext cx="7290055" cy="584263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3. Avoid Full Scans (Performance)</a:t>
            </a:r>
          </a:p>
          <a:p>
            <a:r>
              <a:rPr lang="en-US" dirty="0"/>
              <a:t>Full scan = reading entire dataset every time 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High compute cost </a:t>
            </a:r>
          </a:p>
          <a:p>
            <a:r>
              <a:rPr lang="en-US" dirty="0"/>
              <a:t>Slow processing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Query without filters: </a:t>
            </a:r>
          </a:p>
          <a:p>
            <a:r>
              <a:rPr lang="en-US" dirty="0"/>
              <a:t>SELECT * FROM sales;</a:t>
            </a:r>
          </a:p>
          <a:p>
            <a:r>
              <a:rPr lang="en-US" b="1" dirty="0"/>
              <a:t>Better Approach:</a:t>
            </a:r>
            <a:endParaRPr lang="en-US" dirty="0"/>
          </a:p>
          <a:p>
            <a:r>
              <a:rPr lang="en-US" dirty="0"/>
              <a:t>SELECT * FROM sales WHERE date = '2024-01-01';</a:t>
            </a:r>
          </a:p>
          <a:p>
            <a:r>
              <a:rPr lang="en-US" b="1" dirty="0"/>
              <a:t>AI Helps By:</a:t>
            </a:r>
            <a:endParaRPr lang="en-US" dirty="0"/>
          </a:p>
          <a:p>
            <a:r>
              <a:rPr lang="en-US" dirty="0"/>
              <a:t>Suggesting filters </a:t>
            </a:r>
          </a:p>
          <a:p>
            <a:r>
              <a:rPr lang="en-US" dirty="0"/>
              <a:t>Recommending partitioning </a:t>
            </a:r>
          </a:p>
          <a:p>
            <a:r>
              <a:rPr lang="en-US" dirty="0"/>
              <a:t>Identifying unnecessary scans </a:t>
            </a:r>
          </a:p>
          <a:p>
            <a:r>
              <a:rPr lang="en-US" b="1" dirty="0"/>
              <a:t>Key Point:</a:t>
            </a:r>
            <a:br>
              <a:rPr lang="en-US" dirty="0"/>
            </a:br>
            <a:r>
              <a:rPr lang="en-US" dirty="0"/>
              <a:t>→ Read only what you need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546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70A0-05AC-2F40-30CD-9C899CA8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Real-Life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AEC2-6B45-EB22-4455-F13249476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optimization: </a:t>
            </a:r>
          </a:p>
          <a:p>
            <a:pPr lvl="1"/>
            <a:r>
              <a:rPr lang="en-US" dirty="0"/>
              <a:t>Job takes 30 minutes </a:t>
            </a:r>
          </a:p>
          <a:p>
            <a:r>
              <a:rPr lang="en-US" dirty="0"/>
              <a:t>With optimization: </a:t>
            </a:r>
          </a:p>
          <a:p>
            <a:pPr lvl="1"/>
            <a:r>
              <a:rPr lang="en-US" dirty="0"/>
              <a:t>Job takes 5 minutes </a:t>
            </a:r>
          </a:p>
          <a:p>
            <a:r>
              <a:rPr lang="en-US" dirty="0"/>
              <a:t>Without security: </a:t>
            </a:r>
          </a:p>
          <a:p>
            <a:pPr lvl="1"/>
            <a:r>
              <a:rPr lang="en-US" dirty="0"/>
              <a:t>Risk of data leak </a:t>
            </a:r>
          </a:p>
          <a:p>
            <a:r>
              <a:rPr lang="en-US" dirty="0"/>
              <a:t>With AI checks: </a:t>
            </a:r>
          </a:p>
          <a:p>
            <a:pPr lvl="1"/>
            <a:r>
              <a:rPr lang="en-US" dirty="0"/>
              <a:t>Secure and compliant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716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stack traces</a:t>
            </a:r>
          </a:p>
          <a:p>
            <a:r>
              <a:t>AI finds root cause</a:t>
            </a:r>
          </a:p>
          <a:p>
            <a:r>
              <a:t>Suggest fixes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4567-FE7C-3A69-BC0D-961107E02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85800"/>
            <a:ext cx="7290055" cy="5623560"/>
          </a:xfrm>
        </p:spPr>
        <p:txBody>
          <a:bodyPr>
            <a:normAutofit/>
          </a:bodyPr>
          <a:lstStyle/>
          <a:p>
            <a:r>
              <a:rPr lang="en-US" b="1" dirty="0"/>
              <a:t>1. Use Stack Traces</a:t>
            </a:r>
          </a:p>
          <a:p>
            <a:r>
              <a:rPr lang="en-US" dirty="0"/>
              <a:t>When an error occurs, systems generate a </a:t>
            </a:r>
            <a:r>
              <a:rPr lang="en-US" b="1" dirty="0"/>
              <a:t>stack trace</a:t>
            </a:r>
            <a:r>
              <a:rPr lang="en-US" dirty="0"/>
              <a:t> </a:t>
            </a:r>
          </a:p>
          <a:p>
            <a:r>
              <a:rPr lang="en-US" dirty="0"/>
              <a:t>It shows: </a:t>
            </a:r>
          </a:p>
          <a:p>
            <a:pPr lvl="1"/>
            <a:r>
              <a:rPr lang="en-US" dirty="0"/>
              <a:t>Where the error happened </a:t>
            </a:r>
          </a:p>
          <a:p>
            <a:pPr lvl="1"/>
            <a:r>
              <a:rPr lang="en-US" dirty="0"/>
              <a:t>Which function caused it </a:t>
            </a:r>
          </a:p>
          <a:p>
            <a:pPr lvl="1"/>
            <a:r>
              <a:rPr lang="en-US" dirty="0"/>
              <a:t>Execution path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 err="1"/>
              <a:t>NullPointerException</a:t>
            </a:r>
            <a:r>
              <a:rPr lang="en-US" dirty="0"/>
              <a:t> at line 45 in </a:t>
            </a:r>
            <a:r>
              <a:rPr lang="en-US" dirty="0" err="1"/>
              <a:t>process_data</a:t>
            </a:r>
            <a:r>
              <a:rPr lang="en-US" dirty="0"/>
              <a:t>()</a:t>
            </a:r>
          </a:p>
          <a:p>
            <a:r>
              <a:rPr lang="en-US" b="1" dirty="0"/>
              <a:t>Traditional Approach:</a:t>
            </a:r>
            <a:endParaRPr lang="en-US" dirty="0"/>
          </a:p>
          <a:p>
            <a:r>
              <a:rPr lang="en-US" dirty="0"/>
              <a:t>Manually trace code </a:t>
            </a:r>
          </a:p>
          <a:p>
            <a:r>
              <a:rPr lang="en-US" dirty="0"/>
              <a:t>Check logs </a:t>
            </a:r>
          </a:p>
          <a:p>
            <a:r>
              <a:rPr lang="en-US" dirty="0"/>
              <a:t>Debug step by step </a:t>
            </a:r>
          </a:p>
          <a:p>
            <a:r>
              <a:rPr lang="en-US" dirty="0"/>
              <a:t>→ Time-consuming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81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D233-F129-1A89-CAB8-D3A4079AD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323850"/>
            <a:ext cx="7290055" cy="5985510"/>
          </a:xfrm>
        </p:spPr>
        <p:txBody>
          <a:bodyPr>
            <a:normAutofit/>
          </a:bodyPr>
          <a:lstStyle/>
          <a:p>
            <a:r>
              <a:rPr lang="en-IN" b="1" dirty="0"/>
              <a:t>2. AI Finds Root Cause</a:t>
            </a:r>
          </a:p>
          <a:p>
            <a:r>
              <a:rPr lang="en-IN" dirty="0"/>
              <a:t>You provide: </a:t>
            </a:r>
          </a:p>
          <a:p>
            <a:pPr lvl="1"/>
            <a:r>
              <a:rPr lang="en-IN" dirty="0"/>
              <a:t>Code </a:t>
            </a:r>
          </a:p>
          <a:p>
            <a:pPr lvl="1"/>
            <a:r>
              <a:rPr lang="en-IN" dirty="0"/>
              <a:t>Error message / stack trace </a:t>
            </a:r>
          </a:p>
          <a:p>
            <a:r>
              <a:rPr lang="en-IN" dirty="0"/>
              <a:t>AI </a:t>
            </a:r>
            <a:r>
              <a:rPr lang="en-IN" dirty="0" err="1"/>
              <a:t>analyzes</a:t>
            </a:r>
            <a:r>
              <a:rPr lang="en-IN" dirty="0"/>
              <a:t>: </a:t>
            </a:r>
          </a:p>
          <a:p>
            <a:pPr lvl="1"/>
            <a:r>
              <a:rPr lang="en-IN" dirty="0"/>
              <a:t>Code logic </a:t>
            </a:r>
          </a:p>
          <a:p>
            <a:pPr lvl="1"/>
            <a:r>
              <a:rPr lang="en-IN" dirty="0"/>
              <a:t>Data flow </a:t>
            </a:r>
          </a:p>
          <a:p>
            <a:pPr lvl="1"/>
            <a:r>
              <a:rPr lang="en-IN" dirty="0"/>
              <a:t>Dependencies </a:t>
            </a:r>
          </a:p>
          <a:p>
            <a:r>
              <a:rPr lang="en-IN" b="1" dirty="0"/>
              <a:t>AI Output:</a:t>
            </a:r>
            <a:endParaRPr lang="en-IN" dirty="0"/>
          </a:p>
          <a:p>
            <a:r>
              <a:rPr lang="en-IN" dirty="0"/>
              <a:t>Exact reason for failure </a:t>
            </a:r>
          </a:p>
          <a:p>
            <a:r>
              <a:rPr lang="en-IN" dirty="0"/>
              <a:t>Explanation in simple terms </a:t>
            </a:r>
          </a:p>
          <a:p>
            <a:r>
              <a:rPr lang="en-IN" b="1" dirty="0"/>
              <a:t>Example Insight:</a:t>
            </a:r>
            <a:endParaRPr lang="en-IN" dirty="0"/>
          </a:p>
          <a:p>
            <a:r>
              <a:rPr lang="en-IN" dirty="0"/>
              <a:t>“The error occurs because the input </a:t>
            </a:r>
            <a:r>
              <a:rPr lang="en-IN" dirty="0" err="1"/>
              <a:t>DataFrame</a:t>
            </a:r>
            <a:r>
              <a:rPr lang="en-IN" dirty="0"/>
              <a:t> contains null values and no null check is applied.”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043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3E28D-F995-FCA3-7C18-3BD5A681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14375"/>
            <a:ext cx="7290055" cy="559498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3. Suggest Fixes</a:t>
            </a:r>
          </a:p>
          <a:p>
            <a:r>
              <a:rPr lang="en-US" dirty="0"/>
              <a:t>AI doesn’t just explain the issue—it also provides solutions </a:t>
            </a:r>
          </a:p>
          <a:p>
            <a:r>
              <a:rPr lang="en-US" b="1" dirty="0"/>
              <a:t>Example Fix:</a:t>
            </a:r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df.fillna</a:t>
            </a:r>
            <a:r>
              <a:rPr lang="en-US" dirty="0"/>
              <a:t>(0)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if </a:t>
            </a:r>
            <a:r>
              <a:rPr lang="en-US" dirty="0" err="1"/>
              <a:t>df</a:t>
            </a:r>
            <a:r>
              <a:rPr lang="en-US" dirty="0"/>
              <a:t> is not None:</a:t>
            </a:r>
            <a:br>
              <a:rPr lang="en-US" dirty="0"/>
            </a:br>
            <a:r>
              <a:rPr lang="en-US" dirty="0"/>
              <a:t>    process(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r>
              <a:rPr lang="en-IN" b="1" dirty="0"/>
              <a:t>Why This is Powerful</a:t>
            </a:r>
          </a:p>
          <a:p>
            <a:r>
              <a:rPr lang="en-IN" dirty="0"/>
              <a:t>Reduces debugging time from </a:t>
            </a:r>
            <a:r>
              <a:rPr lang="en-IN" b="1" dirty="0"/>
              <a:t>hours → minutes</a:t>
            </a:r>
            <a:r>
              <a:rPr lang="en-IN" dirty="0"/>
              <a:t> </a:t>
            </a:r>
          </a:p>
          <a:p>
            <a:r>
              <a:rPr lang="en-IN" dirty="0"/>
              <a:t>Helps identify issues even for complex pipelines </a:t>
            </a:r>
          </a:p>
          <a:p>
            <a:r>
              <a:rPr lang="en-IN" dirty="0"/>
              <a:t>Assists junior developers in understanding errors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Real-Life Example</a:t>
            </a:r>
          </a:p>
          <a:p>
            <a:r>
              <a:rPr lang="en-IN" dirty="0"/>
              <a:t>Pipeline fails at 2 AM:</a:t>
            </a:r>
          </a:p>
          <a:p>
            <a:r>
              <a:rPr lang="en-IN" dirty="0"/>
              <a:t>Traditional → Engineer checks logs manually </a:t>
            </a:r>
          </a:p>
          <a:p>
            <a:r>
              <a:rPr lang="en-IN" dirty="0"/>
              <a:t>AI → Paste stack trace → instant root cause + fix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904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issues</a:t>
            </a:r>
          </a:p>
          <a:p>
            <a:r>
              <a:t>Logic errors</a:t>
            </a:r>
          </a:p>
          <a:p>
            <a:r>
              <a:t>Dependency failures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6F8C-632D-F948-4465-4CF99917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Root Cause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4B93-90EC-C3B6-5D86-9E83ED455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Root Cause Analysis is Important</a:t>
            </a:r>
          </a:p>
          <a:p>
            <a:r>
              <a:rPr lang="en-US" dirty="0"/>
              <a:t>Fixing only the error = temporary solution </a:t>
            </a:r>
          </a:p>
          <a:p>
            <a:r>
              <a:rPr lang="en-US" dirty="0"/>
              <a:t>Finding the root cause = </a:t>
            </a:r>
            <a:r>
              <a:rPr lang="en-US" b="1" dirty="0"/>
              <a:t>permanent fix</a:t>
            </a:r>
            <a:r>
              <a:rPr lang="en-US" dirty="0"/>
              <a:t>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Error: “Job failed” </a:t>
            </a:r>
          </a:p>
          <a:p>
            <a:r>
              <a:rPr lang="en-US" dirty="0"/>
              <a:t>Root cause: Missing data or wrong schema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9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C322-A2DB-E923-4986-5DC6FEEA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66750"/>
            <a:ext cx="7290055" cy="5642610"/>
          </a:xfrm>
        </p:spPr>
        <p:txBody>
          <a:bodyPr>
            <a:normAutofit/>
          </a:bodyPr>
          <a:lstStyle/>
          <a:p>
            <a:r>
              <a:rPr lang="en-IN" b="1" dirty="0"/>
              <a:t>1. Data Issues</a:t>
            </a:r>
          </a:p>
          <a:p>
            <a:r>
              <a:rPr lang="en-IN" dirty="0"/>
              <a:t>Problems related to </a:t>
            </a:r>
            <a:r>
              <a:rPr lang="en-IN" b="1" dirty="0"/>
              <a:t>input data</a:t>
            </a:r>
            <a:endParaRPr lang="en-IN" dirty="0"/>
          </a:p>
          <a:p>
            <a:r>
              <a:rPr lang="en-IN" b="1" dirty="0"/>
              <a:t>Examples:</a:t>
            </a:r>
            <a:endParaRPr lang="en-IN" dirty="0"/>
          </a:p>
          <a:p>
            <a:r>
              <a:rPr lang="en-IN" dirty="0"/>
              <a:t>Null or missing values </a:t>
            </a:r>
          </a:p>
          <a:p>
            <a:r>
              <a:rPr lang="en-IN" dirty="0"/>
              <a:t>Incorrect data types </a:t>
            </a:r>
          </a:p>
          <a:p>
            <a:r>
              <a:rPr lang="en-IN" dirty="0"/>
              <a:t>Duplicate records </a:t>
            </a:r>
          </a:p>
          <a:p>
            <a:r>
              <a:rPr lang="en-IN" dirty="0"/>
              <a:t>Unexpected schema changes </a:t>
            </a:r>
          </a:p>
          <a:p>
            <a:r>
              <a:rPr lang="en-IN" b="1" dirty="0"/>
              <a:t>Scenario:</a:t>
            </a:r>
            <a:endParaRPr lang="en-IN" dirty="0"/>
          </a:p>
          <a:p>
            <a:r>
              <a:rPr lang="en-IN" dirty="0"/>
              <a:t>Pipeline fails because a column is missing </a:t>
            </a:r>
          </a:p>
          <a:p>
            <a:r>
              <a:rPr lang="en-IN" b="1" dirty="0"/>
              <a:t>AI Insight:</a:t>
            </a:r>
            <a:endParaRPr lang="en-IN" dirty="0"/>
          </a:p>
          <a:p>
            <a:r>
              <a:rPr lang="en-IN" dirty="0"/>
              <a:t>“Column ‘region’ is missing in input dataset, causing failure in aggregation step.”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243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9AB7B-52D9-6811-AA5D-15C8EE45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57225"/>
            <a:ext cx="7290055" cy="5652135"/>
          </a:xfrm>
        </p:spPr>
        <p:txBody>
          <a:bodyPr>
            <a:normAutofit/>
          </a:bodyPr>
          <a:lstStyle/>
          <a:p>
            <a:r>
              <a:rPr lang="en-IN" b="1" dirty="0"/>
              <a:t>2. Logic Errors</a:t>
            </a:r>
          </a:p>
          <a:p>
            <a:r>
              <a:rPr lang="en-IN" dirty="0"/>
              <a:t>Issues in </a:t>
            </a:r>
            <a:r>
              <a:rPr lang="en-IN" b="1" dirty="0"/>
              <a:t>code or transformation logic</a:t>
            </a:r>
            <a:endParaRPr lang="en-IN" dirty="0"/>
          </a:p>
          <a:p>
            <a:r>
              <a:rPr lang="en-IN" b="1" dirty="0"/>
              <a:t>Examples:</a:t>
            </a:r>
            <a:endParaRPr lang="en-IN" dirty="0"/>
          </a:p>
          <a:p>
            <a:r>
              <a:rPr lang="en-IN" dirty="0"/>
              <a:t>Incorrect joins </a:t>
            </a:r>
          </a:p>
          <a:p>
            <a:r>
              <a:rPr lang="en-IN" dirty="0"/>
              <a:t>Wrong filters </a:t>
            </a:r>
          </a:p>
          <a:p>
            <a:r>
              <a:rPr lang="en-IN" dirty="0"/>
              <a:t>Misplaced conditions </a:t>
            </a:r>
          </a:p>
          <a:p>
            <a:r>
              <a:rPr lang="en-IN" dirty="0"/>
              <a:t>Division by zero </a:t>
            </a:r>
          </a:p>
          <a:p>
            <a:r>
              <a:rPr lang="en-IN" b="1" dirty="0"/>
              <a:t>Scenario:</a:t>
            </a:r>
            <a:endParaRPr lang="en-IN" dirty="0"/>
          </a:p>
          <a:p>
            <a:r>
              <a:rPr lang="en-IN" dirty="0"/>
              <a:t>Wrong aggregation leads to incorrect results </a:t>
            </a:r>
          </a:p>
          <a:p>
            <a:r>
              <a:rPr lang="en-IN" b="1" dirty="0"/>
              <a:t>AI Insight:</a:t>
            </a:r>
            <a:endParaRPr lang="en-IN" dirty="0"/>
          </a:p>
          <a:p>
            <a:r>
              <a:rPr lang="en-IN" dirty="0"/>
              <a:t>“Join condition is incorrect, causing duplicate records.”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243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923E9-3BC2-ADAA-3A98-211A932F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09600"/>
            <a:ext cx="7290055" cy="5699760"/>
          </a:xfrm>
        </p:spPr>
        <p:txBody>
          <a:bodyPr>
            <a:normAutofit/>
          </a:bodyPr>
          <a:lstStyle/>
          <a:p>
            <a:r>
              <a:rPr lang="en-US" b="1" dirty="0"/>
              <a:t>3. Dependency Failures</a:t>
            </a:r>
          </a:p>
          <a:p>
            <a:r>
              <a:rPr lang="en-US" dirty="0"/>
              <a:t>Failures in </a:t>
            </a:r>
            <a:r>
              <a:rPr lang="en-US" b="1" dirty="0"/>
              <a:t>external systems or services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API not responding </a:t>
            </a:r>
          </a:p>
          <a:p>
            <a:r>
              <a:rPr lang="en-US" dirty="0"/>
              <a:t>Database connection failure </a:t>
            </a:r>
          </a:p>
          <a:p>
            <a:r>
              <a:rPr lang="en-US" dirty="0"/>
              <a:t>File not available </a:t>
            </a:r>
          </a:p>
          <a:p>
            <a:r>
              <a:rPr lang="en-US" dirty="0"/>
              <a:t>Network issues </a:t>
            </a:r>
          </a:p>
          <a:p>
            <a:r>
              <a:rPr lang="en-US" b="1" dirty="0"/>
              <a:t>Scenario:</a:t>
            </a:r>
            <a:endParaRPr lang="en-US" dirty="0"/>
          </a:p>
          <a:p>
            <a:r>
              <a:rPr lang="en-US" dirty="0"/>
              <a:t>Pipeline fails because source API is down </a:t>
            </a:r>
          </a:p>
          <a:p>
            <a:r>
              <a:rPr lang="en-US" b="1" dirty="0"/>
              <a:t>AI Insight:</a:t>
            </a:r>
            <a:endParaRPr lang="en-US" dirty="0"/>
          </a:p>
          <a:p>
            <a:r>
              <a:rPr lang="en-US" dirty="0"/>
              <a:t>“Connection timeout while calling external API—suggest retry mechanism.”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1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8423-3FB6-B0F2-185C-559439B2E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38175"/>
            <a:ext cx="7290055" cy="567118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How AI Helps</a:t>
            </a:r>
          </a:p>
          <a:p>
            <a:r>
              <a:rPr lang="en-US" dirty="0"/>
              <a:t>Analyzes: </a:t>
            </a:r>
          </a:p>
          <a:p>
            <a:pPr lvl="1"/>
            <a:r>
              <a:rPr lang="en-US" dirty="0"/>
              <a:t>Code </a:t>
            </a:r>
          </a:p>
          <a:p>
            <a:pPr lvl="1"/>
            <a:r>
              <a:rPr lang="en-US" dirty="0"/>
              <a:t>Logs </a:t>
            </a:r>
          </a:p>
          <a:p>
            <a:pPr lvl="1"/>
            <a:r>
              <a:rPr lang="en-US" dirty="0"/>
              <a:t>Stack traces </a:t>
            </a:r>
          </a:p>
          <a:p>
            <a:r>
              <a:rPr lang="en-US" dirty="0"/>
              <a:t>Identifies: </a:t>
            </a:r>
          </a:p>
          <a:p>
            <a:pPr lvl="1"/>
            <a:r>
              <a:rPr lang="en-US" dirty="0"/>
              <a:t>Exact failure point </a:t>
            </a:r>
          </a:p>
          <a:p>
            <a:pPr lvl="1"/>
            <a:r>
              <a:rPr lang="en-US" dirty="0"/>
              <a:t>Underlying cause </a:t>
            </a:r>
          </a:p>
          <a:p>
            <a:pPr lvl="1"/>
            <a:r>
              <a:rPr lang="en-US" dirty="0"/>
              <a:t>Suggested fix</a:t>
            </a:r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Pipeline fails at 3 AM:</a:t>
            </a:r>
          </a:p>
          <a:p>
            <a:r>
              <a:rPr lang="en-US" dirty="0"/>
              <a:t>Traditional: </a:t>
            </a:r>
          </a:p>
          <a:p>
            <a:pPr lvl="1"/>
            <a:r>
              <a:rPr lang="en-US" dirty="0"/>
              <a:t>Check logs manually </a:t>
            </a:r>
          </a:p>
          <a:p>
            <a:pPr lvl="1"/>
            <a:r>
              <a:rPr lang="en-US" dirty="0"/>
              <a:t>Takes hours </a:t>
            </a:r>
          </a:p>
          <a:p>
            <a:r>
              <a:rPr lang="en-US" dirty="0"/>
              <a:t>With AI: </a:t>
            </a:r>
          </a:p>
          <a:p>
            <a:pPr lvl="1"/>
            <a:r>
              <a:rPr lang="en-US" dirty="0"/>
              <a:t>Provide logs </a:t>
            </a:r>
          </a:p>
          <a:p>
            <a:pPr lvl="1"/>
            <a:r>
              <a:rPr lang="en-US" dirty="0"/>
              <a:t>Get root cause instantly </a:t>
            </a:r>
          </a:p>
          <a:p>
            <a:pPr marL="128016" lvl="1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694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docstrings</a:t>
            </a:r>
          </a:p>
          <a:p>
            <a:r>
              <a:t>Type hints</a:t>
            </a:r>
          </a:p>
          <a:p>
            <a:r>
              <a:t>Inline comments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D3A68-F4A4-30F9-D0D4-82BA20FF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52475"/>
            <a:ext cx="7290055" cy="555688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1. Generate Docstrings</a:t>
            </a:r>
          </a:p>
          <a:p>
            <a:r>
              <a:rPr lang="en-IN" dirty="0"/>
              <a:t>Docstrings describe: </a:t>
            </a:r>
          </a:p>
          <a:p>
            <a:pPr lvl="1"/>
            <a:r>
              <a:rPr lang="en-IN" dirty="0"/>
              <a:t>What a function does </a:t>
            </a:r>
          </a:p>
          <a:p>
            <a:pPr lvl="1"/>
            <a:r>
              <a:rPr lang="en-IN" dirty="0"/>
              <a:t>Input parameters </a:t>
            </a:r>
          </a:p>
          <a:p>
            <a:pPr lvl="1"/>
            <a:r>
              <a:rPr lang="en-IN" dirty="0"/>
              <a:t>Output </a:t>
            </a:r>
          </a:p>
          <a:p>
            <a:r>
              <a:rPr lang="en-IN" b="1" dirty="0"/>
              <a:t>Before:</a:t>
            </a:r>
            <a:endParaRPr lang="en-IN" dirty="0"/>
          </a:p>
          <a:p>
            <a:r>
              <a:rPr lang="en-IN" dirty="0"/>
              <a:t>def process(</a:t>
            </a:r>
            <a:r>
              <a:rPr lang="en-IN" dirty="0" err="1"/>
              <a:t>df</a:t>
            </a: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    return </a:t>
            </a:r>
            <a:r>
              <a:rPr lang="en-IN" dirty="0" err="1"/>
              <a:t>df.dropDuplicates</a:t>
            </a:r>
            <a:r>
              <a:rPr lang="en-IN" dirty="0"/>
              <a:t>()</a:t>
            </a:r>
          </a:p>
          <a:p>
            <a:r>
              <a:rPr lang="en-IN" b="1" dirty="0"/>
              <a:t>After (AI Generated):</a:t>
            </a:r>
            <a:endParaRPr lang="en-IN" dirty="0"/>
          </a:p>
          <a:p>
            <a:r>
              <a:rPr lang="en-IN" dirty="0"/>
              <a:t>def process(</a:t>
            </a:r>
            <a:r>
              <a:rPr lang="en-IN" dirty="0" err="1"/>
              <a:t>df</a:t>
            </a:r>
            <a:r>
              <a:rPr lang="en-IN" dirty="0"/>
              <a:t>):</a:t>
            </a:r>
            <a:br>
              <a:rPr lang="en-IN" dirty="0"/>
            </a:br>
            <a:r>
              <a:rPr lang="en-IN" dirty="0"/>
              <a:t>    """</a:t>
            </a:r>
            <a:br>
              <a:rPr lang="en-IN" dirty="0"/>
            </a:br>
            <a:r>
              <a:rPr lang="en-IN" dirty="0"/>
              <a:t>    Removes duplicate records from the input </a:t>
            </a:r>
            <a:r>
              <a:rPr lang="en-IN" dirty="0" err="1"/>
              <a:t>DataFrame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Args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df</a:t>
            </a:r>
            <a:r>
              <a:rPr lang="en-IN" dirty="0"/>
              <a:t> (</a:t>
            </a:r>
            <a:r>
              <a:rPr lang="en-IN" dirty="0" err="1"/>
              <a:t>DataFrame</a:t>
            </a:r>
            <a:r>
              <a:rPr lang="en-IN" dirty="0"/>
              <a:t>): Input data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Returns: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DataFrame</a:t>
            </a:r>
            <a:r>
              <a:rPr lang="en-IN" dirty="0"/>
              <a:t>: Cleaned data without duplicates</a:t>
            </a:r>
            <a:br>
              <a:rPr lang="en-IN" dirty="0"/>
            </a:br>
            <a:r>
              <a:rPr lang="en-IN" dirty="0"/>
              <a:t>    """</a:t>
            </a:r>
          </a:p>
          <a:p>
            <a:r>
              <a:rPr lang="en-IN" b="1" dirty="0"/>
              <a:t>Benefit:</a:t>
            </a:r>
            <a:endParaRPr lang="en-IN" dirty="0"/>
          </a:p>
          <a:p>
            <a:r>
              <a:rPr lang="en-IN" dirty="0"/>
              <a:t>Easier understanding of code </a:t>
            </a:r>
          </a:p>
          <a:p>
            <a:r>
              <a:rPr lang="en-IN" dirty="0"/>
              <a:t>Helps new developers quickly learn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800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4E435-B4D8-8F37-CD1C-2068604AA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95325"/>
            <a:ext cx="7290055" cy="561403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2. Type Hints</a:t>
            </a:r>
          </a:p>
          <a:p>
            <a:r>
              <a:rPr lang="en-US" dirty="0"/>
              <a:t>Specify expected data types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def process(</a:t>
            </a:r>
            <a:r>
              <a:rPr lang="en-US" dirty="0" err="1"/>
              <a:t>df</a:t>
            </a:r>
            <a:r>
              <a:rPr lang="en-US" dirty="0"/>
              <a:t>: </a:t>
            </a:r>
            <a:r>
              <a:rPr lang="en-US" dirty="0" err="1"/>
              <a:t>DataFrame</a:t>
            </a:r>
            <a:r>
              <a:rPr lang="en-US" dirty="0"/>
              <a:t>) -&gt; </a:t>
            </a:r>
            <a:r>
              <a:rPr lang="en-US" dirty="0" err="1"/>
              <a:t>DataFrame</a:t>
            </a:r>
            <a:r>
              <a:rPr lang="en-US" dirty="0"/>
              <a:t>:</a:t>
            </a:r>
          </a:p>
          <a:p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Reduces errors </a:t>
            </a:r>
          </a:p>
          <a:p>
            <a:r>
              <a:rPr lang="en-US" dirty="0"/>
              <a:t>Improves code readability </a:t>
            </a:r>
          </a:p>
          <a:p>
            <a:r>
              <a:rPr lang="en-US" dirty="0"/>
              <a:t>Helps IDEs provide better suggestions </a:t>
            </a:r>
          </a:p>
          <a:p>
            <a:r>
              <a:rPr lang="en-IN" b="1" dirty="0"/>
              <a:t>3. Inline Comments</a:t>
            </a:r>
          </a:p>
          <a:p>
            <a:r>
              <a:rPr lang="en-IN" dirty="0"/>
              <a:t>Explain </a:t>
            </a:r>
            <a:r>
              <a:rPr lang="en-IN" b="1" dirty="0"/>
              <a:t>complex logic inside code</a:t>
            </a:r>
            <a:r>
              <a:rPr lang="en-IN" dirty="0"/>
              <a:t>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# Remove duplicate records based on ID</a:t>
            </a:r>
            <a:br>
              <a:rPr lang="en-IN" dirty="0"/>
            </a:br>
            <a:r>
              <a:rPr lang="en-IN" dirty="0" err="1"/>
              <a:t>df_clean</a:t>
            </a:r>
            <a:r>
              <a:rPr lang="en-IN" dirty="0"/>
              <a:t> = </a:t>
            </a:r>
            <a:r>
              <a:rPr lang="en-IN" dirty="0" err="1"/>
              <a:t>df.dropDuplicates</a:t>
            </a:r>
            <a:r>
              <a:rPr lang="en-IN" dirty="0"/>
              <a:t>(["id"])</a:t>
            </a:r>
          </a:p>
          <a:p>
            <a:r>
              <a:rPr lang="en-IN" b="1" dirty="0"/>
              <a:t>Benefit:</a:t>
            </a:r>
            <a:endParaRPr lang="en-IN" dirty="0"/>
          </a:p>
          <a:p>
            <a:r>
              <a:rPr lang="en-IN" dirty="0"/>
              <a:t>Makes code self-explanatory </a:t>
            </a:r>
          </a:p>
          <a:p>
            <a:r>
              <a:rPr lang="en-IN" dirty="0"/>
              <a:t>Helps during debugging and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011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CFF5-56DA-1D40-ABC3-B38F177A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Auto Documentation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0A56-9D36-6CDB-D2A5-CBD93C092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documentation:</a:t>
            </a:r>
          </a:p>
          <a:p>
            <a:r>
              <a:rPr lang="en-US" dirty="0"/>
              <a:t>Hard to understand code </a:t>
            </a:r>
          </a:p>
          <a:p>
            <a:r>
              <a:rPr lang="en-US" dirty="0"/>
              <a:t>Difficult to maintain </a:t>
            </a:r>
          </a:p>
          <a:p>
            <a:r>
              <a:rPr lang="en-US" dirty="0"/>
              <a:t>High onboarding time </a:t>
            </a:r>
          </a:p>
          <a:p>
            <a:r>
              <a:rPr lang="en-US" dirty="0"/>
              <a:t>With AI:</a:t>
            </a:r>
          </a:p>
          <a:p>
            <a:r>
              <a:rPr lang="en-US" dirty="0"/>
              <a:t>Documentation is </a:t>
            </a:r>
            <a:r>
              <a:rPr lang="en-US" b="1" dirty="0"/>
              <a:t>generated instantly</a:t>
            </a:r>
            <a:r>
              <a:rPr lang="en-US" dirty="0"/>
              <a:t> </a:t>
            </a:r>
          </a:p>
          <a:p>
            <a:r>
              <a:rPr lang="en-US" dirty="0"/>
              <a:t>Keeps codebase consistent </a:t>
            </a:r>
          </a:p>
          <a:p>
            <a:r>
              <a:rPr lang="en-US" dirty="0"/>
              <a:t>Saves developer effort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03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02CA-EB1E-7E19-6757-F96750AD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8BF6F-D01D-E5F0-8EDD-F5778125C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200-line pipeline:</a:t>
            </a:r>
          </a:p>
          <a:p>
            <a:r>
              <a:rPr lang="en-US" dirty="0"/>
              <a:t>Without docs → takes hours to understand </a:t>
            </a:r>
          </a:p>
          <a:p>
            <a:r>
              <a:rPr lang="en-US" dirty="0"/>
              <a:t>With AI docs → understood in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693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 &amp; Design 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</a:t>
            </a:r>
          </a:p>
          <a:p>
            <a:r>
              <a:t>Setup guide</a:t>
            </a:r>
          </a:p>
          <a:p>
            <a:r>
              <a:t>Architecture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ABC3-F187-6485-3FC9-BE1286C35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66750"/>
            <a:ext cx="7290055" cy="5642610"/>
          </a:xfrm>
        </p:spPr>
        <p:txBody>
          <a:bodyPr/>
          <a:lstStyle/>
          <a:p>
            <a:r>
              <a:rPr lang="en-US" b="1" dirty="0"/>
              <a:t>1. Project Overview</a:t>
            </a:r>
          </a:p>
          <a:p>
            <a:r>
              <a:rPr lang="en-US" dirty="0"/>
              <a:t>A high-level description of: </a:t>
            </a:r>
          </a:p>
          <a:p>
            <a:pPr lvl="1"/>
            <a:r>
              <a:rPr lang="en-US" dirty="0"/>
              <a:t>What the project does </a:t>
            </a:r>
          </a:p>
          <a:p>
            <a:pPr lvl="1"/>
            <a:r>
              <a:rPr lang="en-US" dirty="0"/>
              <a:t>Business purpose </a:t>
            </a:r>
          </a:p>
          <a:p>
            <a:pPr lvl="1"/>
            <a:r>
              <a:rPr lang="en-US" dirty="0"/>
              <a:t>Key features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“This pipeline processes sales data using a Bronze–Silver–Gold architecture to generate daily revenue insights.”</a:t>
            </a:r>
          </a:p>
          <a:p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Helps stakeholders and new developers quickly understand the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4918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A829-AB37-B29D-D284-995D8756E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52450"/>
            <a:ext cx="7290055" cy="5756910"/>
          </a:xfrm>
        </p:spPr>
        <p:txBody>
          <a:bodyPr/>
          <a:lstStyle/>
          <a:p>
            <a:r>
              <a:rPr lang="en-US" b="1" dirty="0"/>
              <a:t>2. Setup Guide</a:t>
            </a:r>
          </a:p>
          <a:p>
            <a:r>
              <a:rPr lang="en-US" dirty="0"/>
              <a:t>Step-by-step instructions to run the project 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r>
              <a:rPr lang="en-US" dirty="0"/>
              <a:t>Prerequisites (Python, Spark, etc.) </a:t>
            </a:r>
          </a:p>
          <a:p>
            <a:r>
              <a:rPr lang="en-US" dirty="0"/>
              <a:t>Installation steps </a:t>
            </a:r>
          </a:p>
          <a:p>
            <a:r>
              <a:rPr lang="en-US" dirty="0"/>
              <a:t>How to execute pipeline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pip install -r requirements.txt</a:t>
            </a:r>
            <a:br>
              <a:rPr lang="en-US" dirty="0"/>
            </a:br>
            <a:r>
              <a:rPr lang="en-US" dirty="0"/>
              <a:t>python main.py</a:t>
            </a:r>
          </a:p>
          <a:p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Ensures anyone can </a:t>
            </a:r>
            <a:r>
              <a:rPr lang="en-US" b="1" dirty="0"/>
              <a:t>run the project without confusion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583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7730-A70E-C095-E1DD-659C80E11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809625"/>
            <a:ext cx="7290055" cy="5499735"/>
          </a:xfrm>
        </p:spPr>
        <p:txBody>
          <a:bodyPr>
            <a:normAutofit/>
          </a:bodyPr>
          <a:lstStyle/>
          <a:p>
            <a:r>
              <a:rPr lang="en-IN" b="1" dirty="0"/>
              <a:t>3. Architecture</a:t>
            </a:r>
          </a:p>
          <a:p>
            <a:r>
              <a:rPr lang="en-IN" dirty="0"/>
              <a:t>Explains how the system is designed </a:t>
            </a:r>
          </a:p>
          <a:p>
            <a:r>
              <a:rPr lang="en-IN" b="1" dirty="0"/>
              <a:t>Includes:</a:t>
            </a:r>
            <a:endParaRPr lang="en-IN" dirty="0"/>
          </a:p>
          <a:p>
            <a:r>
              <a:rPr lang="en-IN" dirty="0"/>
              <a:t>Data flow (Source → Bronze → Silver → Gold) </a:t>
            </a:r>
          </a:p>
          <a:p>
            <a:r>
              <a:rPr lang="en-IN" dirty="0"/>
              <a:t>Technologies used </a:t>
            </a:r>
          </a:p>
          <a:p>
            <a:r>
              <a:rPr lang="en-IN" dirty="0"/>
              <a:t>Pipeline stages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Source → Ingestion → Transformation → Aggregation → Output </a:t>
            </a:r>
          </a:p>
          <a:p>
            <a:r>
              <a:rPr lang="en-IN" b="1" dirty="0"/>
              <a:t>Why it matters:</a:t>
            </a:r>
            <a:endParaRPr lang="en-IN" dirty="0"/>
          </a:p>
          <a:p>
            <a:r>
              <a:rPr lang="en-IN" dirty="0"/>
              <a:t>Helps in: </a:t>
            </a:r>
          </a:p>
          <a:p>
            <a:pPr lvl="1"/>
            <a:r>
              <a:rPr lang="en-IN" dirty="0"/>
              <a:t>Debugging </a:t>
            </a:r>
          </a:p>
          <a:p>
            <a:pPr lvl="1"/>
            <a:r>
              <a:rPr lang="en-IN" dirty="0"/>
              <a:t>Scaling </a:t>
            </a:r>
          </a:p>
          <a:p>
            <a:pPr lvl="1"/>
            <a:r>
              <a:rPr lang="en-IN" dirty="0"/>
              <a:t>Future enhancements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481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0A790-3470-77E8-1846-833A65756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42925"/>
            <a:ext cx="7290055" cy="5766435"/>
          </a:xfrm>
        </p:spPr>
        <p:txBody>
          <a:bodyPr>
            <a:normAutofit/>
          </a:bodyPr>
          <a:lstStyle/>
          <a:p>
            <a:r>
              <a:rPr lang="en-US" b="1" dirty="0"/>
              <a:t>How AI Helps</a:t>
            </a:r>
          </a:p>
          <a:p>
            <a:r>
              <a:rPr lang="en-US" dirty="0"/>
              <a:t>AI can automatically generate:</a:t>
            </a:r>
          </a:p>
          <a:p>
            <a:pPr lvl="1"/>
            <a:r>
              <a:rPr lang="en-US" dirty="0"/>
              <a:t>README.md file </a:t>
            </a:r>
          </a:p>
          <a:p>
            <a:pPr lvl="1"/>
            <a:r>
              <a:rPr lang="en-US" dirty="0"/>
              <a:t>Technical design document </a:t>
            </a:r>
          </a:p>
          <a:p>
            <a:pPr lvl="1"/>
            <a:r>
              <a:rPr lang="en-US" dirty="0"/>
              <a:t>Architecture explanation </a:t>
            </a:r>
          </a:p>
          <a:p>
            <a:r>
              <a:rPr lang="en-US" dirty="0"/>
              <a:t>From:</a:t>
            </a:r>
          </a:p>
          <a:p>
            <a:pPr lvl="1"/>
            <a:r>
              <a:rPr lang="en-US" dirty="0"/>
              <a:t>Code </a:t>
            </a:r>
          </a:p>
          <a:p>
            <a:pPr lvl="1"/>
            <a:r>
              <a:rPr lang="en-US" dirty="0"/>
              <a:t>Pipeline metadata</a:t>
            </a:r>
          </a:p>
          <a:p>
            <a:r>
              <a:rPr lang="en-US" b="1" dirty="0"/>
              <a:t>Real-Life Impact</a:t>
            </a:r>
          </a:p>
          <a:p>
            <a:r>
              <a:rPr lang="en-US" dirty="0"/>
              <a:t>Without documentation:</a:t>
            </a:r>
          </a:p>
          <a:p>
            <a:pPr lvl="1"/>
            <a:r>
              <a:rPr lang="en-US" dirty="0"/>
              <a:t>Hard to onboard new team members </a:t>
            </a:r>
          </a:p>
          <a:p>
            <a:pPr lvl="1"/>
            <a:r>
              <a:rPr lang="en-US" dirty="0"/>
              <a:t>Knowledge is lost </a:t>
            </a:r>
          </a:p>
          <a:p>
            <a:r>
              <a:rPr lang="en-US" dirty="0"/>
              <a:t>With AI-generated docs:</a:t>
            </a:r>
          </a:p>
          <a:p>
            <a:pPr lvl="1"/>
            <a:r>
              <a:rPr lang="en-US" dirty="0"/>
              <a:t>Faster onboarding </a:t>
            </a:r>
          </a:p>
          <a:p>
            <a:pPr lvl="1"/>
            <a:r>
              <a:rPr lang="en-US" dirty="0"/>
              <a:t>Better collaboration </a:t>
            </a:r>
          </a:p>
          <a:p>
            <a:pPr lvl="1"/>
            <a:r>
              <a:rPr lang="en-US" dirty="0"/>
              <a:t>Easier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9933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Runbooks &amp; Playbooks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Execution steps</a:t>
            </a:r>
          </a:p>
          <a:p>
            <a:r>
              <a:rPr dirty="0"/>
              <a:t>Failure handling</a:t>
            </a:r>
          </a:p>
          <a:p>
            <a:r>
              <a:rPr dirty="0"/>
              <a:t>Recovery steps</a:t>
            </a:r>
            <a:endParaRPr lang="en-US" dirty="0"/>
          </a:p>
          <a:p>
            <a:endParaRPr lang="en-IN" dirty="0"/>
          </a:p>
          <a:p>
            <a:r>
              <a:rPr lang="en-US" b="1" dirty="0"/>
              <a:t>What’s the Difference?</a:t>
            </a:r>
          </a:p>
          <a:p>
            <a:r>
              <a:rPr lang="en-US" b="1" dirty="0"/>
              <a:t>Runbook:</a:t>
            </a:r>
            <a:r>
              <a:rPr lang="en-US" dirty="0"/>
              <a:t> Day-to-day operations (how to run and monitor the pipeline) </a:t>
            </a:r>
          </a:p>
          <a:p>
            <a:r>
              <a:rPr lang="en-US" b="1" dirty="0"/>
              <a:t>Playbook:</a:t>
            </a:r>
            <a:r>
              <a:rPr lang="en-US" dirty="0"/>
              <a:t> What to do when something goes wrong (incident response)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CB35-3D5A-2C89-A76A-FFA3DC97A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14375"/>
            <a:ext cx="7290055" cy="5594985"/>
          </a:xfrm>
        </p:spPr>
        <p:txBody>
          <a:bodyPr>
            <a:normAutofit/>
          </a:bodyPr>
          <a:lstStyle/>
          <a:p>
            <a:r>
              <a:rPr lang="en-US" b="1" dirty="0"/>
              <a:t>1. Execution Steps (Runbook)</a:t>
            </a:r>
          </a:p>
          <a:p>
            <a:r>
              <a:rPr lang="en-US" dirty="0"/>
              <a:t>Step-by-step instructions to </a:t>
            </a:r>
            <a:r>
              <a:rPr lang="en-US" b="1" dirty="0"/>
              <a:t>run the pipeline</a:t>
            </a:r>
            <a:r>
              <a:rPr lang="en-US" dirty="0"/>
              <a:t> 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r>
              <a:rPr lang="en-US" dirty="0"/>
              <a:t>How to trigger the job (manual/automated) </a:t>
            </a:r>
          </a:p>
          <a:p>
            <a:r>
              <a:rPr lang="en-US" dirty="0"/>
              <a:t>Required inputs (files, parameters) </a:t>
            </a:r>
          </a:p>
          <a:p>
            <a:r>
              <a:rPr lang="en-US" dirty="0"/>
              <a:t>Expected outputs </a:t>
            </a:r>
          </a:p>
          <a:p>
            <a:r>
              <a:rPr lang="en-US" dirty="0"/>
              <a:t>Scheduling details (daily, hourly) 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python main.py --date 2024-01-01</a:t>
            </a:r>
          </a:p>
          <a:p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Anyone in the team can operate the pipeline reliably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814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0C901-5D0B-757F-75A6-BDF8DE85D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866775"/>
            <a:ext cx="7290055" cy="544258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2. Failure Handling (Playbook)</a:t>
            </a:r>
          </a:p>
          <a:p>
            <a:r>
              <a:rPr lang="en-IN" dirty="0"/>
              <a:t>Defines what to do when failures occur </a:t>
            </a:r>
          </a:p>
          <a:p>
            <a:r>
              <a:rPr lang="en-IN" b="1" dirty="0"/>
              <a:t>Common scenarios:</a:t>
            </a:r>
            <a:endParaRPr lang="en-IN" dirty="0"/>
          </a:p>
          <a:p>
            <a:r>
              <a:rPr lang="en-IN" dirty="0"/>
              <a:t>Job failure </a:t>
            </a:r>
          </a:p>
          <a:p>
            <a:r>
              <a:rPr lang="en-IN" dirty="0"/>
              <a:t>Data missing </a:t>
            </a:r>
          </a:p>
          <a:p>
            <a:r>
              <a:rPr lang="en-IN" dirty="0"/>
              <a:t>API timeout </a:t>
            </a:r>
          </a:p>
          <a:p>
            <a:r>
              <a:rPr lang="en-IN" dirty="0"/>
              <a:t>Schema mismatch </a:t>
            </a:r>
          </a:p>
          <a:p>
            <a:r>
              <a:rPr lang="en-IN" b="1" dirty="0"/>
              <a:t>Includes:</a:t>
            </a:r>
            <a:endParaRPr lang="en-IN" dirty="0"/>
          </a:p>
          <a:p>
            <a:r>
              <a:rPr lang="en-IN" dirty="0"/>
              <a:t>Error description </a:t>
            </a:r>
          </a:p>
          <a:p>
            <a:r>
              <a:rPr lang="en-IN" dirty="0"/>
              <a:t>Root cause possibilities </a:t>
            </a:r>
          </a:p>
          <a:p>
            <a:r>
              <a:rPr lang="en-IN" dirty="0"/>
              <a:t>Immediate actions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“If job fails due to missing file, check upstream ingestion job.”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794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8936-6B79-20D6-CCFD-0918007FB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00075"/>
            <a:ext cx="7290055" cy="5709285"/>
          </a:xfrm>
        </p:spPr>
        <p:txBody>
          <a:bodyPr/>
          <a:lstStyle/>
          <a:p>
            <a:r>
              <a:rPr lang="en-US" b="1" dirty="0"/>
              <a:t>3. Recovery Steps</a:t>
            </a:r>
          </a:p>
          <a:p>
            <a:r>
              <a:rPr lang="en-US" dirty="0"/>
              <a:t>Steps to </a:t>
            </a:r>
            <a:r>
              <a:rPr lang="en-US" b="1" dirty="0"/>
              <a:t>restore pipeline and data consistency</a:t>
            </a:r>
            <a:r>
              <a:rPr lang="en-US" dirty="0"/>
              <a:t> 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Retry job </a:t>
            </a:r>
          </a:p>
          <a:p>
            <a:r>
              <a:rPr lang="en-US" dirty="0"/>
              <a:t>Reprocess specific data </a:t>
            </a:r>
          </a:p>
          <a:p>
            <a:r>
              <a:rPr lang="en-US" dirty="0"/>
              <a:t>Rollback incorrect data </a:t>
            </a:r>
          </a:p>
          <a:p>
            <a:r>
              <a:rPr lang="en-US" b="1" dirty="0"/>
              <a:t>Example Command:</a:t>
            </a:r>
            <a:endParaRPr lang="en-US" dirty="0"/>
          </a:p>
          <a:p>
            <a:r>
              <a:rPr lang="en-US" dirty="0"/>
              <a:t>python main.py --rerun true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038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E7EF-9052-789E-92F3-B56DAFB46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47700"/>
            <a:ext cx="7290055" cy="566166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How AI Helps</a:t>
            </a:r>
          </a:p>
          <a:p>
            <a:r>
              <a:rPr lang="en-IN" dirty="0"/>
              <a:t>AI can generate:</a:t>
            </a:r>
          </a:p>
          <a:p>
            <a:r>
              <a:rPr lang="en-IN" dirty="0"/>
              <a:t>Full runbook documentation </a:t>
            </a:r>
          </a:p>
          <a:p>
            <a:r>
              <a:rPr lang="en-IN" dirty="0"/>
              <a:t>Incident playbooks </a:t>
            </a:r>
          </a:p>
          <a:p>
            <a:r>
              <a:rPr lang="en-IN" dirty="0"/>
              <a:t>Troubleshooting guides </a:t>
            </a:r>
          </a:p>
          <a:p>
            <a:r>
              <a:rPr lang="en-IN" dirty="0"/>
              <a:t>From:</a:t>
            </a:r>
          </a:p>
          <a:p>
            <a:r>
              <a:rPr lang="en-IN" dirty="0"/>
              <a:t>Pipeline code </a:t>
            </a:r>
          </a:p>
          <a:p>
            <a:r>
              <a:rPr lang="en-IN" dirty="0"/>
              <a:t>Logs </a:t>
            </a:r>
          </a:p>
          <a:p>
            <a:r>
              <a:rPr lang="en-IN" dirty="0"/>
              <a:t>Historical failures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Real-Life Example</a:t>
            </a:r>
          </a:p>
          <a:p>
            <a:r>
              <a:rPr lang="en-IN" dirty="0"/>
              <a:t>Pipeline fails at 2 AM:</a:t>
            </a:r>
          </a:p>
          <a:p>
            <a:r>
              <a:rPr lang="en-IN" dirty="0"/>
              <a:t>Without runbook: </a:t>
            </a:r>
          </a:p>
          <a:p>
            <a:pPr lvl="1"/>
            <a:r>
              <a:rPr lang="en-IN" dirty="0"/>
              <a:t>Engineer investigates from scratch </a:t>
            </a:r>
          </a:p>
          <a:p>
            <a:r>
              <a:rPr lang="en-IN" dirty="0"/>
              <a:t>With runbook: </a:t>
            </a:r>
          </a:p>
          <a:p>
            <a:pPr lvl="1"/>
            <a:r>
              <a:rPr lang="en-IN" dirty="0"/>
              <a:t>Follow predefined steps → quick resolution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2051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 notes to actions</a:t>
            </a:r>
          </a:p>
          <a:p>
            <a:r>
              <a:t>Email summaries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409E-211C-F568-3165-76448C890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704850"/>
            <a:ext cx="7290055" cy="560451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1. Meeting Notes → Action Items</a:t>
            </a:r>
          </a:p>
          <a:p>
            <a:r>
              <a:rPr lang="en-US" dirty="0"/>
              <a:t>In meetings, a lot of information is discussed but often </a:t>
            </a:r>
            <a:r>
              <a:rPr lang="en-US" b="1" dirty="0"/>
              <a:t>not clearly captured</a:t>
            </a:r>
            <a:r>
              <a:rPr lang="en-US" dirty="0"/>
              <a:t> 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Important points get missed </a:t>
            </a:r>
          </a:p>
          <a:p>
            <a:r>
              <a:rPr lang="en-US" dirty="0"/>
              <a:t>No clear ownership </a:t>
            </a:r>
          </a:p>
          <a:p>
            <a:r>
              <a:rPr lang="en-US" dirty="0"/>
              <a:t>Follow-ups are delayed</a:t>
            </a:r>
          </a:p>
          <a:p>
            <a:r>
              <a:rPr lang="en-US" b="1" dirty="0"/>
              <a:t>AI Solution</a:t>
            </a:r>
          </a:p>
          <a:p>
            <a:r>
              <a:rPr lang="en-US" dirty="0"/>
              <a:t>AI listens to or processes meeting notes and generates: </a:t>
            </a:r>
          </a:p>
          <a:p>
            <a:pPr lvl="1"/>
            <a:r>
              <a:rPr lang="en-US" dirty="0"/>
              <a:t>Key discussion points </a:t>
            </a:r>
          </a:p>
          <a:p>
            <a:pPr lvl="1"/>
            <a:r>
              <a:rPr lang="en-US" dirty="0"/>
              <a:t>Action items </a:t>
            </a:r>
          </a:p>
          <a:p>
            <a:pPr lvl="1"/>
            <a:r>
              <a:rPr lang="en-US" dirty="0"/>
              <a:t>Assigned owners </a:t>
            </a:r>
          </a:p>
          <a:p>
            <a:pPr lvl="1"/>
            <a:r>
              <a:rPr lang="en-US" dirty="0"/>
              <a:t>Deadlines </a:t>
            </a:r>
          </a:p>
          <a:p>
            <a:r>
              <a:rPr lang="en-US" b="1" dirty="0"/>
              <a:t>Example Output:</a:t>
            </a:r>
            <a:endParaRPr lang="en-US" dirty="0"/>
          </a:p>
          <a:p>
            <a:r>
              <a:rPr lang="en-US" dirty="0"/>
              <a:t>“Update pipeline schema – Assigned to Vikash – Due Friday” </a:t>
            </a:r>
          </a:p>
          <a:p>
            <a:r>
              <a:rPr lang="en-US" dirty="0"/>
              <a:t>“Fix ingestion failure – Assigned to Data Team” </a:t>
            </a:r>
          </a:p>
          <a:p>
            <a:r>
              <a:rPr lang="en-US" b="1" dirty="0"/>
              <a:t>Key Benefit:</a:t>
            </a:r>
            <a:br>
              <a:rPr lang="en-US" dirty="0"/>
            </a:br>
            <a:r>
              <a:rPr lang="en-US" dirty="0"/>
              <a:t>→ Clear accountability and faster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502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F2481-CB4F-0EF7-C046-80CBDAEFF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952500"/>
            <a:ext cx="7290055" cy="535686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2. Email Summaries</a:t>
            </a:r>
          </a:p>
          <a:p>
            <a:r>
              <a:rPr lang="en-US" dirty="0"/>
              <a:t>Long email threads are: </a:t>
            </a:r>
          </a:p>
          <a:p>
            <a:pPr lvl="1"/>
            <a:r>
              <a:rPr lang="en-US" dirty="0"/>
              <a:t>Time-consuming </a:t>
            </a:r>
          </a:p>
          <a:p>
            <a:pPr lvl="1"/>
            <a:r>
              <a:rPr lang="en-US" dirty="0"/>
              <a:t>Hard to track </a:t>
            </a:r>
          </a:p>
          <a:p>
            <a:r>
              <a:rPr lang="en-US" b="1" dirty="0"/>
              <a:t>AI Solution</a:t>
            </a:r>
          </a:p>
          <a:p>
            <a:r>
              <a:rPr lang="en-US" dirty="0"/>
              <a:t>AI summarizes: </a:t>
            </a:r>
          </a:p>
          <a:p>
            <a:pPr lvl="1"/>
            <a:r>
              <a:rPr lang="en-US" dirty="0"/>
              <a:t>Key points </a:t>
            </a:r>
          </a:p>
          <a:p>
            <a:pPr lvl="1"/>
            <a:r>
              <a:rPr lang="en-US" dirty="0"/>
              <a:t>Decisions </a:t>
            </a:r>
          </a:p>
          <a:p>
            <a:pPr lvl="1"/>
            <a:r>
              <a:rPr lang="en-US" dirty="0"/>
              <a:t>Required actions 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Instead of reading 20 emails, you get:</a:t>
            </a:r>
          </a:p>
          <a:p>
            <a:r>
              <a:rPr lang="en-US" dirty="0"/>
              <a:t>“Pipeline deployment delayed due to schema issue. Action: Fix schema and redeploy.”</a:t>
            </a:r>
          </a:p>
          <a:p>
            <a:r>
              <a:rPr lang="en-US" b="1" dirty="0"/>
              <a:t>Why It Matters</a:t>
            </a:r>
          </a:p>
          <a:p>
            <a:r>
              <a:rPr lang="en-US" dirty="0"/>
              <a:t>Saves time </a:t>
            </a:r>
          </a:p>
          <a:p>
            <a:r>
              <a:rPr lang="en-US" dirty="0"/>
              <a:t>Improves communication </a:t>
            </a:r>
          </a:p>
          <a:p>
            <a:r>
              <a:rPr lang="en-US" dirty="0"/>
              <a:t>Reduces misunderstandings </a:t>
            </a:r>
          </a:p>
          <a:p>
            <a:r>
              <a:rPr lang="en-US" dirty="0"/>
              <a:t>Keeps teams aligned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8777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93A1-9DAB-E3C7-B047-152CEB2D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70D8A-FB55-77D1-0906-66B4B442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 production issue:</a:t>
            </a:r>
          </a:p>
          <a:p>
            <a:r>
              <a:rPr lang="en-US" dirty="0"/>
              <a:t>Meeting held with multiple teams </a:t>
            </a:r>
          </a:p>
          <a:p>
            <a:r>
              <a:rPr lang="en-US" dirty="0"/>
              <a:t>Without AI:</a:t>
            </a:r>
          </a:p>
          <a:p>
            <a:r>
              <a:rPr lang="en-US" dirty="0"/>
              <a:t>Confusion on next steps </a:t>
            </a:r>
          </a:p>
          <a:p>
            <a:r>
              <a:rPr lang="en-US" dirty="0"/>
              <a:t>With AI:</a:t>
            </a:r>
          </a:p>
          <a:p>
            <a:r>
              <a:rPr lang="en-US" dirty="0"/>
              <a:t>Clear action list generated instantly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186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Confluence / Notion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Auto-generate documentation pages</a:t>
            </a:r>
          </a:p>
          <a:p>
            <a:r>
              <a:t>Pipeline summaries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FAC5-216B-6083-47CA-3485AF886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647700"/>
            <a:ext cx="7290055" cy="566166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1. Auto-Generate Documentation Pages</a:t>
            </a:r>
          </a:p>
          <a:p>
            <a:r>
              <a:rPr lang="en-IN" dirty="0"/>
              <a:t>Instead of writing documentation manually, AI can generate: </a:t>
            </a:r>
          </a:p>
          <a:p>
            <a:pPr lvl="1"/>
            <a:r>
              <a:rPr lang="en-IN" dirty="0"/>
              <a:t>Project pages </a:t>
            </a:r>
          </a:p>
          <a:p>
            <a:pPr lvl="1"/>
            <a:r>
              <a:rPr lang="en-IN" dirty="0"/>
              <a:t>Technical documentation </a:t>
            </a:r>
          </a:p>
          <a:p>
            <a:pPr lvl="1"/>
            <a:r>
              <a:rPr lang="en-IN" dirty="0"/>
              <a:t>Runbooks and design docs </a:t>
            </a:r>
          </a:p>
          <a:p>
            <a:r>
              <a:rPr lang="en-IN" b="1" dirty="0"/>
              <a:t>Input to AI:</a:t>
            </a:r>
            <a:endParaRPr lang="en-IN" dirty="0"/>
          </a:p>
          <a:p>
            <a:r>
              <a:rPr lang="en-IN" dirty="0"/>
              <a:t>Code </a:t>
            </a:r>
          </a:p>
          <a:p>
            <a:r>
              <a:rPr lang="en-IN" dirty="0"/>
              <a:t>Pipeline metadata </a:t>
            </a:r>
          </a:p>
          <a:p>
            <a:r>
              <a:rPr lang="en-IN" dirty="0"/>
              <a:t>Logs </a:t>
            </a:r>
          </a:p>
          <a:p>
            <a:r>
              <a:rPr lang="en-IN" b="1" dirty="0"/>
              <a:t>Output:</a:t>
            </a:r>
            <a:endParaRPr lang="en-IN" dirty="0"/>
          </a:p>
          <a:p>
            <a:r>
              <a:rPr lang="en-IN" dirty="0"/>
              <a:t>Fully structured page ready to publish </a:t>
            </a:r>
          </a:p>
          <a:p>
            <a:r>
              <a:rPr lang="en-IN" b="1" dirty="0"/>
              <a:t>Example Sections Created:</a:t>
            </a:r>
            <a:endParaRPr lang="en-IN" dirty="0"/>
          </a:p>
          <a:p>
            <a:r>
              <a:rPr lang="en-IN" dirty="0"/>
              <a:t>Overview </a:t>
            </a:r>
          </a:p>
          <a:p>
            <a:r>
              <a:rPr lang="en-IN" dirty="0"/>
              <a:t>Architecture </a:t>
            </a:r>
          </a:p>
          <a:p>
            <a:r>
              <a:rPr lang="en-IN" dirty="0"/>
              <a:t>Setup instructions </a:t>
            </a:r>
          </a:p>
          <a:p>
            <a:r>
              <a:rPr lang="en-IN" dirty="0"/>
              <a:t>Data 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850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C8A7-9786-FC85-FFB7-65A3F0E72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533400"/>
            <a:ext cx="7290055" cy="577596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2. Pipeline Summaries</a:t>
            </a:r>
          </a:p>
          <a:p>
            <a:r>
              <a:rPr lang="en-IN" dirty="0"/>
              <a:t>AI creates concise summaries of pipelines </a:t>
            </a:r>
          </a:p>
          <a:p>
            <a:r>
              <a:rPr lang="en-IN" b="1" dirty="0"/>
              <a:t>Includes:</a:t>
            </a:r>
            <a:endParaRPr lang="en-IN" dirty="0"/>
          </a:p>
          <a:p>
            <a:r>
              <a:rPr lang="en-IN" dirty="0"/>
              <a:t>What the pipeline does </a:t>
            </a:r>
          </a:p>
          <a:p>
            <a:r>
              <a:rPr lang="en-IN" dirty="0"/>
              <a:t>Data sources </a:t>
            </a:r>
          </a:p>
          <a:p>
            <a:r>
              <a:rPr lang="en-IN" dirty="0"/>
              <a:t>Transformations applied </a:t>
            </a:r>
          </a:p>
          <a:p>
            <a:r>
              <a:rPr lang="en-IN" dirty="0"/>
              <a:t>Output tables 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“This pipeline ingests sales data, cleans duplicates, applies schema validation, and generates regional sales aggregates.”</a:t>
            </a:r>
          </a:p>
          <a:p>
            <a:r>
              <a:rPr lang="en-US" b="1" dirty="0"/>
              <a:t>Why This is Powerful</a:t>
            </a:r>
          </a:p>
          <a:p>
            <a:r>
              <a:rPr lang="en-US" dirty="0"/>
              <a:t>Saves time (no manual documentation) </a:t>
            </a:r>
          </a:p>
          <a:p>
            <a:r>
              <a:rPr lang="en-US" dirty="0"/>
              <a:t>Keeps docs always up to date </a:t>
            </a:r>
          </a:p>
          <a:p>
            <a:r>
              <a:rPr lang="en-US" dirty="0"/>
              <a:t>Improves knowledge sharing across teams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633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6B51-D6A0-2E7C-7A8C-C60DE820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A8237-3966-26EE-E89B-D520262D1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new team member joins:</a:t>
            </a:r>
          </a:p>
          <a:p>
            <a:r>
              <a:rPr lang="en-US" dirty="0"/>
              <a:t>Without documentation → takes days to understand pipeline </a:t>
            </a:r>
          </a:p>
          <a:p>
            <a:r>
              <a:rPr lang="en-US" dirty="0"/>
              <a:t>With AI-generated Confluence page → understands in minutes </a:t>
            </a:r>
          </a:p>
          <a:p>
            <a:r>
              <a:rPr lang="en-US" b="1" dirty="0"/>
              <a:t>How It Fits in Workflow</a:t>
            </a:r>
          </a:p>
          <a:p>
            <a:r>
              <a:rPr lang="en-US" dirty="0"/>
              <a:t>Build pipeline </a:t>
            </a:r>
          </a:p>
          <a:p>
            <a:r>
              <a:rPr lang="en-US" dirty="0"/>
              <a:t>Use AI to analyze code </a:t>
            </a:r>
          </a:p>
          <a:p>
            <a:r>
              <a:rPr lang="en-US" dirty="0"/>
              <a:t>Generate documentation page </a:t>
            </a:r>
          </a:p>
          <a:p>
            <a:r>
              <a:rPr lang="en-US" dirty="0"/>
              <a:t>Publish to Confluence/Notion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6889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Claude.ai</a:t>
            </a:r>
          </a:p>
          <a:p>
            <a:r>
              <a:t>Copilot Chat</a:t>
            </a:r>
          </a:p>
          <a:p>
            <a:r>
              <a:t>Mintlify</a:t>
            </a:r>
          </a:p>
          <a:p>
            <a:r>
              <a:t>Notion AI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200-line script</a:t>
            </a:r>
          </a:p>
          <a:p>
            <a:r>
              <a:t>Find bugs</a:t>
            </a:r>
          </a:p>
          <a:p>
            <a:r>
              <a:t>Add docs</a:t>
            </a:r>
          </a:p>
          <a:p>
            <a:r>
              <a:t>Generate runbook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logic issues</a:t>
            </a:r>
          </a:p>
          <a:p>
            <a:r>
              <a:t>Missing validations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docstrings</a:t>
            </a:r>
          </a:p>
          <a:p>
            <a:r>
              <a:t>Add comments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Runbook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steps</a:t>
            </a:r>
          </a:p>
          <a:p>
            <a:r>
              <a:t>Error handling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Data flow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Undocumented vs documented</a:t>
            </a:r>
          </a:p>
          <a:p>
            <a:r>
              <a:t>Buggy vs optimized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debugging</a:t>
            </a:r>
          </a:p>
          <a:p>
            <a:r>
              <a:t>Better quality</a:t>
            </a:r>
          </a:p>
          <a:p>
            <a:r>
              <a:t>Automation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hallucination</a:t>
            </a:r>
          </a:p>
          <a:p>
            <a:r>
              <a:t>Needs validation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AI output</a:t>
            </a:r>
          </a:p>
          <a:p>
            <a:r>
              <a:t>Use version control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pipelines</a:t>
            </a:r>
          </a:p>
          <a:p>
            <a:r>
              <a:t>DevOps</a:t>
            </a:r>
          </a:p>
          <a:p>
            <a:r>
              <a:t>Enterprise apps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509</TotalTime>
  <Words>2166</Words>
  <Application>Microsoft Office PowerPoint</Application>
  <PresentationFormat>On-screen Show (4:3)</PresentationFormat>
  <Paragraphs>529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Tw Cen MT</vt:lpstr>
      <vt:lpstr>Tw Cen MT Condensed</vt:lpstr>
      <vt:lpstr>Wingdings 3</vt:lpstr>
      <vt:lpstr>Integral</vt:lpstr>
      <vt:lpstr>Code Review, Debugging &amp; Documentation Automation</vt:lpstr>
      <vt:lpstr>Agenda</vt:lpstr>
      <vt:lpstr>Why This Matters</vt:lpstr>
      <vt:lpstr>PowerPoint Presentation</vt:lpstr>
      <vt:lpstr>PowerPoint Presentation</vt:lpstr>
      <vt:lpstr>PowerPoint Presentation</vt:lpstr>
      <vt:lpstr>AI Code Review</vt:lpstr>
      <vt:lpstr>PowerPoint Presentation</vt:lpstr>
      <vt:lpstr>PowerPoint Presentation</vt:lpstr>
      <vt:lpstr>Real-Life Impact</vt:lpstr>
      <vt:lpstr>Security &amp; Performance</vt:lpstr>
      <vt:lpstr>PowerPoint Presentation</vt:lpstr>
      <vt:lpstr>PowerPoint Presentation</vt:lpstr>
      <vt:lpstr>PowerPoint Presentation</vt:lpstr>
      <vt:lpstr>Real-Life Impact</vt:lpstr>
      <vt:lpstr>Bug Diagnosis</vt:lpstr>
      <vt:lpstr>PowerPoint Presentation</vt:lpstr>
      <vt:lpstr>PowerPoint Presentation</vt:lpstr>
      <vt:lpstr>PowerPoint Presentation</vt:lpstr>
      <vt:lpstr>Root Cause Analysis</vt:lpstr>
      <vt:lpstr>Why Root Cause Analysis</vt:lpstr>
      <vt:lpstr>PowerPoint Presentation</vt:lpstr>
      <vt:lpstr>PowerPoint Presentation</vt:lpstr>
      <vt:lpstr>PowerPoint Presentation</vt:lpstr>
      <vt:lpstr>PowerPoint Presentation</vt:lpstr>
      <vt:lpstr>Auto Documentation</vt:lpstr>
      <vt:lpstr>PowerPoint Presentation</vt:lpstr>
      <vt:lpstr>PowerPoint Presentation</vt:lpstr>
      <vt:lpstr>Why Auto Documentation is Important</vt:lpstr>
      <vt:lpstr>Real-Life Example</vt:lpstr>
      <vt:lpstr>README &amp; Design Docs</vt:lpstr>
      <vt:lpstr>PowerPoint Presentation</vt:lpstr>
      <vt:lpstr>PowerPoint Presentation</vt:lpstr>
      <vt:lpstr>PowerPoint Presentation</vt:lpstr>
      <vt:lpstr>PowerPoint Presentation</vt:lpstr>
      <vt:lpstr>Runbooks &amp; Playbooks</vt:lpstr>
      <vt:lpstr>PowerPoint Presentation</vt:lpstr>
      <vt:lpstr>PowerPoint Presentation</vt:lpstr>
      <vt:lpstr>PowerPoint Presentation</vt:lpstr>
      <vt:lpstr>PowerPoint Presentation</vt:lpstr>
      <vt:lpstr>AI Collaboration</vt:lpstr>
      <vt:lpstr>PowerPoint Presentation</vt:lpstr>
      <vt:lpstr>PowerPoint Presentation</vt:lpstr>
      <vt:lpstr>Real-Life Example</vt:lpstr>
      <vt:lpstr>Confluence / Notion</vt:lpstr>
      <vt:lpstr>PowerPoint Presentation</vt:lpstr>
      <vt:lpstr>PowerPoint Presentation</vt:lpstr>
      <vt:lpstr>Real-Life Example</vt:lpstr>
      <vt:lpstr>Tools Ecosystem</vt:lpstr>
      <vt:lpstr>Hands-on Use Case</vt:lpstr>
      <vt:lpstr>Bug Detection</vt:lpstr>
      <vt:lpstr>Documentation Generation</vt:lpstr>
      <vt:lpstr>Runbook Generation</vt:lpstr>
      <vt:lpstr>Design Summary</vt:lpstr>
      <vt:lpstr>Before vs After</vt:lpstr>
      <vt:lpstr>Benefits</vt:lpstr>
      <vt:lpstr>Challenges</vt:lpstr>
      <vt:lpstr>Best Practices</vt:lpstr>
      <vt:lpstr>Real-World 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100</cp:revision>
  <dcterms:created xsi:type="dcterms:W3CDTF">2013-01-27T09:14:16Z</dcterms:created>
  <dcterms:modified xsi:type="dcterms:W3CDTF">2026-05-06T01:50:07Z</dcterms:modified>
  <cp:category/>
</cp:coreProperties>
</file>